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will present my diploma thesis on real-time inference for Vision-Language-Action models, based on the VLASH method. The presentation takes about 10 minutes: the problem, the method, my own simulation study, and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VLA models are accurate but slow: about 100 ms per inference even on a strong GPU. Synchronous execution freezes the robot at every query. Naive asynchronous execution keeps the robot moving but plans from a stale state, creating the misalignment epsilon. That misalignment is the core problem of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VLASH removes the misalignment at its source. Because actions are delta joint positions, the state at execution time equals the current state plus the pending deltas — an exact vector sum, computed for free. Training uses temporal-offset augmentation so the model actually reads the state, and a shared-observation pass makes that training 3.26 times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practical contribution is an original simulation testbed. It keeps only what the misalignment argument needs: delta actions, open-loop chunks, and an injected delay. The three controllers share the same planner, so any difference comes from the inference scheme alone. Everything is seeded and reproducible. The trajectory plot already shows the story: the naive controller overshoots after every target jump.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result: the mechanism itself. Measured misalignment grows with delay for the naive controller and is exactly zero for VLASH at every delay — the central claim, confirmed quantitatively. This is the cleanest evidence that rollforward removes the error at its source rather than compensating for it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follows the mechanism. At the largest delay the naive baseline collapses to 35 percent while VLASH holds 69.5 — about double — and stays within four points of the synchronous ceiling. Jerk measurements show VLASH is also as smooth as synchronous control. The remaining gap to sync comes from the stale visual observation, which rollforward does not fix; I return to that in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result: robustness. Sweeping how far the target jumps makes the environment more dynamic. The naive controller falls from 71 to 40 percent success, while VLASH tracks the synchronous ceiling; the lead widens from about 5 to about 30 points. This mirrors, at small scale, the paper's Kinetix result — the method matters most exactly where reactivity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Rollforward makes two assumptions the paper does not test: actions execute exactly, and the delay is known. I designed two experiments to stress both. Left: with Gaussian actuation noise the VLASH margin survives up to about a tenth of the actuator step, and disappears only when noise dominates every controller including synchronous. Right: misestimating the delay by one step costs about one point of success; even two steps still beats naive by a wide margin. Neither assumption is fragile — the method is genuinely plug-and-play.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small-scale findings agree with the published full-scale results on every qualitative point: near-synchronous accuracy with real speed-ups, the largest gains on the most dynamic benchmark, and large reaction-latency cuts. I state the limitations plainly: rollforward does not fix the stale image, my testbed is a kinematic abstraction, and the exactness of rollforward is a property of delta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thesis showed that the obstacle to real-time VLA control is not raw model speed but the misalignment asynchrony creates, and that a zero-cost vector sum removes it. My testbed quantified this reproducibly, and my two new stress-tests show the method's assumptions are not fragile. Future work: predicting the visual scene, testing transfer to other architectures, and a real QLoRA fine-tune on my own GPU.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310128"/>
            <a:ext cx="9144000" cy="22860"/>
          </a:xfrm>
          <a:prstGeom prst="rect">
            <a:avLst/>
          </a:prstGeom>
          <a:solidFill>
            <a:srgbClr val="CADCFC"/>
          </a:solidFill>
          <a:ln/>
        </p:spPr>
      </p:sp>
      <p:sp>
        <p:nvSpPr>
          <p:cNvPr id="3" name="Text 1"/>
          <p:cNvSpPr/>
          <p:nvPr/>
        </p:nvSpPr>
        <p:spPr>
          <a:xfrm>
            <a:off x="640080" y="685800"/>
            <a:ext cx="7863840" cy="292608"/>
          </a:xfrm>
          <a:prstGeom prst="rect">
            <a:avLst/>
          </a:prstGeom>
          <a:noFill/>
          <a:ln/>
        </p:spPr>
        <p:txBody>
          <a:bodyPr wrap="square" rtlCol="0" anchor="ctr"/>
          <a:lstStyle/>
          <a:p>
            <a:pPr algn="ctr" indent="0" marL="0">
              <a:buNone/>
            </a:pPr>
            <a:r>
              <a:rPr lang="en-US" sz="1300" b="1" spc="400" kern="0" dirty="0">
                <a:solidFill>
                  <a:srgbClr val="CADCFC"/>
                </a:solidFill>
                <a:latin typeface="Calibri" pitchFamily="34" charset="0"/>
                <a:ea typeface="Calibri" pitchFamily="34" charset="-122"/>
                <a:cs typeface="Calibri" pitchFamily="34" charset="-120"/>
              </a:rPr>
              <a:t>DIPLOMA THESIS AT FIRST-CYCLE STUDIES</a:t>
            </a:r>
            <a:endParaRPr lang="en-US" sz="1300" dirty="0"/>
          </a:p>
        </p:txBody>
      </p:sp>
      <p:sp>
        <p:nvSpPr>
          <p:cNvPr id="4" name="Text 2"/>
          <p:cNvSpPr/>
          <p:nvPr/>
        </p:nvSpPr>
        <p:spPr>
          <a:xfrm>
            <a:off x="457200" y="1280160"/>
            <a:ext cx="8229600" cy="1280160"/>
          </a:xfrm>
          <a:prstGeom prst="rect">
            <a:avLst/>
          </a:prstGeom>
          <a:noFill/>
          <a:ln/>
        </p:spPr>
        <p:txBody>
          <a:bodyPr wrap="square" rtlCol="0" anchor="ctr"/>
          <a:lstStyle/>
          <a:p>
            <a:pPr algn="ctr" indent="0" marL="0">
              <a:buNone/>
            </a:pPr>
            <a:r>
              <a:rPr lang="en-US" sz="2700" b="1" dirty="0">
                <a:solidFill>
                  <a:srgbClr val="FFFFFF"/>
                </a:solidFill>
                <a:latin typeface="Georgia" pitchFamily="34" charset="0"/>
                <a:ea typeface="Georgia" pitchFamily="34" charset="-122"/>
                <a:cs typeface="Georgia" pitchFamily="34" charset="-120"/>
              </a:rPr>
              <a:t>Real-Time Vision-Language-Action (VLA)</a:t>
            </a:r>
            <a:endParaRPr lang="en-US" sz="2700" dirty="0"/>
          </a:p>
          <a:p>
            <a:pPr algn="ctr" indent="0" marL="0">
              <a:buNone/>
            </a:pPr>
            <a:r>
              <a:rPr lang="en-US" sz="2700" b="1" dirty="0">
                <a:solidFill>
                  <a:srgbClr val="FFFFFF"/>
                </a:solidFill>
                <a:latin typeface="Georgia" pitchFamily="34" charset="0"/>
                <a:ea typeface="Georgia" pitchFamily="34" charset="-122"/>
                <a:cs typeface="Georgia" pitchFamily="34" charset="-120"/>
              </a:rPr>
              <a:t>Inference for Reactive Robotics</a:t>
            </a:r>
            <a:endParaRPr lang="en-US" sz="2700" dirty="0"/>
          </a:p>
        </p:txBody>
      </p:sp>
      <p:sp>
        <p:nvSpPr>
          <p:cNvPr id="5" name="Text 3"/>
          <p:cNvSpPr/>
          <p:nvPr/>
        </p:nvSpPr>
        <p:spPr>
          <a:xfrm>
            <a:off x="640080" y="2697480"/>
            <a:ext cx="7863840" cy="365760"/>
          </a:xfrm>
          <a:prstGeom prst="rect">
            <a:avLst/>
          </a:prstGeom>
          <a:noFill/>
          <a:ln/>
        </p:spPr>
        <p:txBody>
          <a:bodyPr wrap="square"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A study of VLASH: future-state-aware asynchronous inference</a:t>
            </a:r>
            <a:endParaRPr lang="en-US" sz="1600" dirty="0"/>
          </a:p>
        </p:txBody>
      </p:sp>
      <p:sp>
        <p:nvSpPr>
          <p:cNvPr id="6" name="Text 4"/>
          <p:cNvSpPr/>
          <p:nvPr/>
        </p:nvSpPr>
        <p:spPr>
          <a:xfrm>
            <a:off x="640080" y="3520440"/>
            <a:ext cx="786384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Duy Khanh Mac</a:t>
            </a:r>
            <a:endParaRPr lang="en-US" sz="1400" dirty="0"/>
          </a:p>
          <a:p>
            <a:pPr algn="ctr" indent="0" marL="0">
              <a:buNone/>
            </a:pPr>
            <a:r>
              <a:rPr lang="en-US" sz="1400" dirty="0">
                <a:solidFill>
                  <a:srgbClr val="CADCFC"/>
                </a:solidFill>
                <a:latin typeface="Calibri" pitchFamily="34" charset="0"/>
                <a:ea typeface="Calibri" pitchFamily="34" charset="-122"/>
                <a:cs typeface="Calibri" pitchFamily="34" charset="-120"/>
              </a:rPr>
              <a:t>Record book no. 72850</a:t>
            </a:r>
            <a:endParaRPr lang="en-US" sz="1400" dirty="0"/>
          </a:p>
          <a:p>
            <a:pPr algn="ctr" indent="0" marL="0">
              <a:buNone/>
            </a:pPr>
            <a:r>
              <a:rPr lang="en-US" sz="1400" dirty="0">
                <a:solidFill>
                  <a:srgbClr val="CADCFC"/>
                </a:solidFill>
                <a:latin typeface="Calibri" pitchFamily="34" charset="0"/>
                <a:ea typeface="Calibri" pitchFamily="34" charset="-122"/>
                <a:cs typeface="Calibri" pitchFamily="34" charset="-120"/>
              </a:rPr>
              <a:t>Supervisor: prof. WSIIZ dr inż. Atsuo Murata</a:t>
            </a:r>
            <a:endParaRPr lang="en-US" sz="1400" dirty="0"/>
          </a:p>
        </p:txBody>
      </p:sp>
      <p:sp>
        <p:nvSpPr>
          <p:cNvPr id="7" name="Text 5"/>
          <p:cNvSpPr/>
          <p:nvPr/>
        </p:nvSpPr>
        <p:spPr>
          <a:xfrm>
            <a:off x="640080" y="4617720"/>
            <a:ext cx="7863840" cy="27432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University of Information Technology and Management in Rzeszow · 2026</a:t>
            </a:r>
            <a:endParaRPr lang="en-US" sz="1100" dirty="0"/>
          </a:p>
        </p:txBody>
      </p:sp>
    </p:spTree>
  </p:cSld>
  <p:clrMapOvr>
    <a:masterClrMapping/>
  </p:clrMapOvr>
  <p:transition spd="med" dur="400">
    <p:fade/>
  </p:transition>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500"/>
                      </p:stCondLst>
                      <p:childTnLst>
                        <p:par>
                          <p:cTn id="9" fill="hold">
                            <p:stCondLst>
                              <p:cond delay="0"/>
                            </p:stCondLst>
                            <p:childTnLst>
                              <p:par>
                                <p:cTn id="10" presetID="10" presetClass="entr" presetSubtype="0" fill="hold" grpId="1" nodeType="afterEffect">
                                  <p:stCondLst>
                                    <p:cond delay="0"/>
                                  </p:stCondLst>
                                  <p:childTnLst>
                                    <p:set>
                                      <p:cBhvr>
                                        <p:cTn id="11" dur="1" fill="hold"/>
                                        <p:tgtEl>
                                          <p:spTgt spid="3"/>
                                        </p:tgtEl>
                                        <p:attrNameLst>
                                          <p:attrName>style.visibility</p:attrName>
                                        </p:attrNameLst>
                                      </p:cBhvr>
                                      <p:to>
                                        <p:strVal val="visible"/>
                                      </p:to>
                                    </p:set>
                                    <p:animEffect transition="in" filter="fade">
                                      <p:cBhvr>
                                        <p:cTn id="12" dur="400"/>
                                        <p:tgtEl>
                                          <p:spTgt spid="3"/>
                                        </p:tgtEl>
                                      </p:cBhvr>
                                    </p:animEffect>
                                  </p:childTnLst>
                                </p:cTn>
                              </p:par>
                            </p:childTnLst>
                          </p:cTn>
                        </p:par>
                      </p:childTnLst>
                    </p:cTn>
                  </p:par>
                  <p:par>
                    <p:cTn id="13" fill="hold">
                      <p:stCondLst>
                        <p:cond delay="500"/>
                      </p:stCondLst>
                      <p:childTnLst>
                        <p:par>
                          <p:cTn id="14" fill="hold">
                            <p:stCondLst>
                              <p:cond delay="0"/>
                            </p:stCondLst>
                            <p:childTnLst>
                              <p:par>
                                <p:cTn id="15" presetID="10" presetClass="entr" presetSubtype="0" fill="hold" grpId="2" nodeType="afterEffect">
                                  <p:stCondLst>
                                    <p:cond delay="0"/>
                                  </p:stCondLst>
                                  <p:childTnLst>
                                    <p:set>
                                      <p:cBhvr>
                                        <p:cTn id="16" dur="1" fill="hold"/>
                                        <p:tgtEl>
                                          <p:spTgt spid="4"/>
                                        </p:tgtEl>
                                        <p:attrNameLst>
                                          <p:attrName>style.visibility</p:attrName>
                                        </p:attrNameLst>
                                      </p:cBhvr>
                                      <p:to>
                                        <p:strVal val="visible"/>
                                      </p:to>
                                    </p:set>
                                    <p:animEffect transition="in" filter="fade">
                                      <p:cBhvr>
                                        <p:cTn id="17" dur="400"/>
                                        <p:tgtEl>
                                          <p:spTgt spid="4"/>
                                        </p:tgtEl>
                                      </p:cBhvr>
                                    </p:animEffect>
                                  </p:childTnLst>
                                </p:cTn>
                              </p:par>
                            </p:childTnLst>
                          </p:cTn>
                        </p:par>
                      </p:childTnLst>
                    </p:cTn>
                  </p:par>
                  <p:par>
                    <p:cTn id="18" fill="hold">
                      <p:stCondLst>
                        <p:cond delay="500"/>
                      </p:stCondLst>
                      <p:childTnLst>
                        <p:par>
                          <p:cTn id="19" fill="hold">
                            <p:stCondLst>
                              <p:cond delay="0"/>
                            </p:stCondLst>
                            <p:childTnLst>
                              <p:par>
                                <p:cTn id="20" presetID="10" presetClass="entr" presetSubtype="0" fill="hold" grpId="3" nodeType="afterEffect">
                                  <p:stCondLst>
                                    <p:cond delay="0"/>
                                  </p:stCondLst>
                                  <p:childTnLst>
                                    <p:set>
                                      <p:cBhvr>
                                        <p:cTn id="21" dur="1" fill="hold"/>
                                        <p:tgtEl>
                                          <p:spTgt spid="5"/>
                                        </p:tgtEl>
                                        <p:attrNameLst>
                                          <p:attrName>style.visibility</p:attrName>
                                        </p:attrNameLst>
                                      </p:cBhvr>
                                      <p:to>
                                        <p:strVal val="visible"/>
                                      </p:to>
                                    </p:set>
                                    <p:animEffect transition="in" filter="fade">
                                      <p:cBhvr>
                                        <p:cTn id="22" dur="400"/>
                                        <p:tgtEl>
                                          <p:spTgt spid="5"/>
                                        </p:tgtEl>
                                      </p:cBhvr>
                                    </p:animEffect>
                                  </p:childTnLst>
                                </p:cTn>
                              </p:par>
                            </p:childTnLst>
                          </p:cTn>
                        </p:par>
                      </p:childTnLst>
                    </p:cTn>
                  </p:par>
                  <p:par>
                    <p:cTn id="23" fill="hold">
                      <p:stCondLst>
                        <p:cond delay="500"/>
                      </p:stCondLst>
                      <p:childTnLst>
                        <p:par>
                          <p:cTn id="24" fill="hold">
                            <p:stCondLst>
                              <p:cond delay="0"/>
                            </p:stCondLst>
                            <p:childTnLst>
                              <p:par>
                                <p:cTn id="25" presetID="10" presetClass="entr" presetSubtype="0" fill="hold" grpId="4" nodeType="afterEffect">
                                  <p:stCondLst>
                                    <p:cond delay="0"/>
                                  </p:stCondLst>
                                  <p:childTnLst>
                                    <p:set>
                                      <p:cBhvr>
                                        <p:cTn id="26" dur="1" fill="hold"/>
                                        <p:tgtEl>
                                          <p:spTgt spid="6"/>
                                        </p:tgtEl>
                                        <p:attrNameLst>
                                          <p:attrName>style.visibility</p:attrName>
                                        </p:attrNameLst>
                                      </p:cBhvr>
                                      <p:to>
                                        <p:strVal val="visible"/>
                                      </p:to>
                                    </p:set>
                                    <p:animEffect transition="in" filter="fade">
                                      <p:cBhvr>
                                        <p:cTn id="27" dur="400"/>
                                        <p:tgtEl>
                                          <p:spTgt spid="6"/>
                                        </p:tgtEl>
                                      </p:cBhvr>
                                    </p:animEffect>
                                  </p:childTnLst>
                                </p:cTn>
                              </p:par>
                            </p:childTnLst>
                          </p:cTn>
                        </p:par>
                      </p:childTnLst>
                    </p:cTn>
                  </p:par>
                  <p:par>
                    <p:cTn id="28" fill="hold">
                      <p:stCondLst>
                        <p:cond delay="500"/>
                      </p:stCondLst>
                      <p:childTnLst>
                        <p:par>
                          <p:cTn id="29" fill="hold">
                            <p:stCondLst>
                              <p:cond delay="0"/>
                            </p:stCondLst>
                            <p:childTnLst>
                              <p:par>
                                <p:cTn id="30" presetID="10" presetClass="entr" presetSubtype="0" fill="hold" grpId="5" nodeType="afterEffect">
                                  <p:stCondLst>
                                    <p:cond delay="0"/>
                                  </p:stCondLst>
                                  <p:childTnLst>
                                    <p:set>
                                      <p:cBhvr>
                                        <p:cTn id="31" dur="1" fill="hold"/>
                                        <p:tgtEl>
                                          <p:spTgt spid="7"/>
                                        </p:tgtEl>
                                        <p:attrNameLst>
                                          <p:attrName>style.visibility</p:attrName>
                                        </p:attrNameLst>
                                      </p:cBhvr>
                                      <p:to>
                                        <p:strVal val="visible"/>
                                      </p:to>
                                    </p:set>
                                    <p:animEffect transition="in" filter="fade">
                                      <p:cBhvr>
                                        <p:cTn id="32" dur="400"/>
                                        <p:tgtEl>
                                          <p:spTgt spid="7"/>
                                        </p:tgtEl>
                                      </p:cBhvr>
                                    </p:animEffect>
                                  </p:childTnLst>
                                </p:cTn>
                              </p:par>
                            </p:childTnLst>
                          </p:cTn>
                        </p:par>
                      </p:childTnLst>
                    </p:cTn>
                  </p:par>
                </p:childTnLst>
              </p:cTn>
              <p:prevCondLst>
                <p:cond evt="onPrevClick" delay="0">
                  <p:tn/>
                </p:cond>
              </p:prevCondLst>
            </p:seq>
          </p:childTnLst>
        </p:cTn>
      </p:par>
    </p:tnLst>
    <p:bldLst>
      <p:bldP spid="2" grpId="0" build="p"/>
      <p:bldP spid="3" grpId="1" build="p"/>
      <p:bldP spid="4" grpId="2" build="p"/>
      <p:bldP spid="5" grpId="3" build="p"/>
      <p:bldP spid="6" grpId="4" build="p"/>
      <p:bldP spid="7" grpId="5" build="p"/>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2761"/>
          </a:solidFill>
          <a:ln/>
        </p:spPr>
      </p:sp>
      <p:sp>
        <p:nvSpPr>
          <p:cNvPr id="3" name="Text 1"/>
          <p:cNvSpPr/>
          <p:nvPr/>
        </p:nvSpPr>
        <p:spPr>
          <a:xfrm>
            <a:off x="411480" y="201168"/>
            <a:ext cx="8046720" cy="274320"/>
          </a:xfrm>
          <a:prstGeom prst="rect">
            <a:avLst/>
          </a:prstGeom>
          <a:noFill/>
          <a:ln/>
        </p:spPr>
        <p:txBody>
          <a:bodyPr wrap="square" rtlCol="0" anchor="ctr"/>
          <a:lstStyle/>
          <a:p>
            <a:pPr indent="0" marL="0">
              <a:buNone/>
            </a:pPr>
            <a:r>
              <a:rPr lang="en-US" sz="1100" b="1" spc="300" kern="0" dirty="0">
                <a:solidFill>
                  <a:srgbClr val="5A6478"/>
                </a:solidFill>
                <a:latin typeface="Calibri" pitchFamily="34" charset="0"/>
                <a:ea typeface="Calibri" pitchFamily="34" charset="-122"/>
                <a:cs typeface="Calibri" pitchFamily="34" charset="-120"/>
              </a:rPr>
              <a:t>MOTIVATION</a:t>
            </a:r>
            <a:endParaRPr lang="en-US" sz="1100" dirty="0"/>
          </a:p>
        </p:txBody>
      </p:sp>
      <p:sp>
        <p:nvSpPr>
          <p:cNvPr id="4" name="Text 2"/>
          <p:cNvSpPr/>
          <p:nvPr/>
        </p:nvSpPr>
        <p:spPr>
          <a:xfrm>
            <a:off x="384048" y="420624"/>
            <a:ext cx="8321040" cy="566928"/>
          </a:xfrm>
          <a:prstGeom prst="rect">
            <a:avLst/>
          </a:prstGeom>
          <a:noFill/>
          <a:ln/>
        </p:spPr>
        <p:txBody>
          <a:bodyPr wrap="square" rtlCol="0" anchor="ctr"/>
          <a:lstStyle/>
          <a:p>
            <a:pPr indent="0" marL="0">
              <a:buNone/>
            </a:pPr>
            <a:r>
              <a:rPr lang="en-US" sz="2700" b="1" dirty="0">
                <a:solidFill>
                  <a:srgbClr val="1E2761"/>
                </a:solidFill>
                <a:latin typeface="Georgia" pitchFamily="34" charset="0"/>
                <a:ea typeface="Georgia" pitchFamily="34" charset="-122"/>
                <a:cs typeface="Georgia" pitchFamily="34" charset="-120"/>
              </a:rPr>
              <a:t>The problem: robots that stop to think</a:t>
            </a:r>
            <a:endParaRPr lang="en-US" sz="2700" dirty="0"/>
          </a:p>
        </p:txBody>
      </p:sp>
      <p:sp>
        <p:nvSpPr>
          <p:cNvPr id="5" name="Text 3"/>
          <p:cNvSpPr/>
          <p:nvPr/>
        </p:nvSpPr>
        <p:spPr>
          <a:xfrm>
            <a:off x="8549640" y="4773168"/>
            <a:ext cx="457200" cy="274320"/>
          </a:xfrm>
          <a:prstGeom prst="rect">
            <a:avLst/>
          </a:prstGeom>
          <a:noFill/>
          <a:ln/>
        </p:spPr>
        <p:txBody>
          <a:bodyPr wrap="square"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02</a:t>
            </a:r>
            <a:endParaRPr lang="en-US" sz="1000" dirty="0"/>
          </a:p>
        </p:txBody>
      </p:sp>
      <p:sp>
        <p:nvSpPr>
          <p:cNvPr id="6" name="Text 4"/>
          <p:cNvSpPr/>
          <p:nvPr/>
        </p:nvSpPr>
        <p:spPr>
          <a:xfrm>
            <a:off x="411480" y="4773168"/>
            <a:ext cx="5943600" cy="274320"/>
          </a:xfrm>
          <a:prstGeom prst="rect">
            <a:avLst/>
          </a:prstGeom>
          <a:noFill/>
          <a:ln/>
        </p:spPr>
        <p:txBody>
          <a:bodyPr wrap="square" rtlCol="0" anchor="ctr"/>
          <a:lstStyle/>
          <a:p>
            <a:pPr indent="0" marL="0">
              <a:buNone/>
            </a:pPr>
            <a:r>
              <a:rPr lang="en-US" sz="900" dirty="0">
                <a:solidFill>
                  <a:srgbClr val="5A6478"/>
                </a:solidFill>
                <a:latin typeface="Calibri" pitchFamily="34" charset="0"/>
                <a:ea typeface="Calibri" pitchFamily="34" charset="-122"/>
                <a:cs typeface="Calibri" pitchFamily="34" charset="-120"/>
              </a:rPr>
              <a:t>VLASH — Diploma thesis defense · UITM Rzeszow 2026</a:t>
            </a:r>
            <a:endParaRPr lang="en-US" sz="900" dirty="0"/>
          </a:p>
        </p:txBody>
      </p:sp>
      <p:sp>
        <p:nvSpPr>
          <p:cNvPr id="7" name="Text 5"/>
          <p:cNvSpPr/>
          <p:nvPr/>
        </p:nvSpPr>
        <p:spPr>
          <a:xfrm>
            <a:off x="411480" y="1097280"/>
            <a:ext cx="3977640" cy="777240"/>
          </a:xfrm>
          <a:prstGeom prst="rect">
            <a:avLst/>
          </a:prstGeom>
          <a:noFill/>
          <a:ln/>
        </p:spPr>
        <p:txBody>
          <a:bodyPr wrap="square" rtlCol="0" anchor="ctr"/>
          <a:lstStyle/>
          <a:p>
            <a:pPr indent="0" marL="0">
              <a:buNone/>
            </a:pPr>
            <a:r>
              <a:rPr lang="en-US" sz="1400" dirty="0">
                <a:solidFill>
                  <a:srgbClr val="1A1A2E"/>
                </a:solidFill>
                <a:latin typeface="Calibri" pitchFamily="34" charset="0"/>
                <a:ea typeface="Calibri" pitchFamily="34" charset="-122"/>
                <a:cs typeface="Calibri" pitchFamily="34" charset="-120"/>
              </a:rPr>
              <a:t>VLA models turn camera images + a language command into robot actions, emitted as short </a:t>
            </a:r>
            <a:pPr indent="0" marL="0">
              <a:buNone/>
            </a:pPr>
            <a:r>
              <a:rPr lang="en-US" sz="1400" b="1" dirty="0">
                <a:solidFill>
                  <a:srgbClr val="1A1A2E"/>
                </a:solidFill>
                <a:latin typeface="Calibri" pitchFamily="34" charset="0"/>
                <a:ea typeface="Calibri" pitchFamily="34" charset="-122"/>
                <a:cs typeface="Calibri" pitchFamily="34" charset="-120"/>
              </a:rPr>
              <a:t>action chunks</a:t>
            </a:r>
            <a:pPr indent="0" marL="0">
              <a:buNone/>
            </a:pPr>
            <a:r>
              <a:rPr lang="en-US" sz="1400" dirty="0">
                <a:solidFill>
                  <a:srgbClr val="1A1A2E"/>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411480" y="1920240"/>
            <a:ext cx="1920240" cy="1143000"/>
          </a:xfrm>
          <a:prstGeom prst="roundRect">
            <a:avLst>
              <a:gd name="adj" fmla="val 4800"/>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9" name="Text 7"/>
          <p:cNvSpPr/>
          <p:nvPr/>
        </p:nvSpPr>
        <p:spPr>
          <a:xfrm>
            <a:off x="411480" y="2029968"/>
            <a:ext cx="1920240" cy="457200"/>
          </a:xfrm>
          <a:prstGeom prst="rect">
            <a:avLst/>
          </a:prstGeom>
          <a:noFill/>
          <a:ln/>
        </p:spPr>
        <p:txBody>
          <a:bodyPr wrap="square" rtlCol="0" anchor="ctr"/>
          <a:lstStyle/>
          <a:p>
            <a:pPr algn="ctr" indent="0" marL="0">
              <a:buNone/>
            </a:pPr>
            <a:r>
              <a:rPr lang="en-US" sz="3000" b="1" dirty="0">
                <a:solidFill>
                  <a:srgbClr val="1E2761"/>
                </a:solidFill>
                <a:latin typeface="Georgia" pitchFamily="34" charset="0"/>
                <a:ea typeface="Georgia" pitchFamily="34" charset="-122"/>
                <a:cs typeface="Georgia" pitchFamily="34" charset="-120"/>
              </a:rPr>
              <a:t>103 ms</a:t>
            </a:r>
            <a:endParaRPr lang="en-US" sz="3000" dirty="0"/>
          </a:p>
        </p:txBody>
      </p:sp>
      <p:sp>
        <p:nvSpPr>
          <p:cNvPr id="10" name="Text 8"/>
          <p:cNvSpPr/>
          <p:nvPr/>
        </p:nvSpPr>
        <p:spPr>
          <a:xfrm>
            <a:off x="411480" y="2542032"/>
            <a:ext cx="1920240" cy="457200"/>
          </a:xfrm>
          <a:prstGeom prst="rect">
            <a:avLst/>
          </a:prstGeom>
          <a:noFill/>
          <a:ln/>
        </p:spPr>
        <p:txBody>
          <a:bodyPr wrap="square"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per π0.5 inference</a:t>
            </a:r>
            <a:endParaRPr lang="en-US" sz="1050" dirty="0"/>
          </a:p>
          <a:p>
            <a:pPr algn="ctr" indent="0" marL="0">
              <a:buNone/>
            </a:pPr>
            <a:r>
              <a:rPr lang="en-US" sz="1050" dirty="0">
                <a:solidFill>
                  <a:srgbClr val="5A6478"/>
                </a:solidFill>
                <a:latin typeface="Calibri" pitchFamily="34" charset="0"/>
                <a:ea typeface="Calibri" pitchFamily="34" charset="-122"/>
                <a:cs typeface="Calibri" pitchFamily="34" charset="-120"/>
              </a:rPr>
              <a:t>(RTX 4090)</a:t>
            </a:r>
            <a:endParaRPr lang="en-US" sz="1050" dirty="0"/>
          </a:p>
        </p:txBody>
      </p:sp>
      <p:sp>
        <p:nvSpPr>
          <p:cNvPr id="11" name="Shape 9"/>
          <p:cNvSpPr/>
          <p:nvPr/>
        </p:nvSpPr>
        <p:spPr>
          <a:xfrm>
            <a:off x="2468880" y="1920240"/>
            <a:ext cx="1920240" cy="1143000"/>
          </a:xfrm>
          <a:prstGeom prst="roundRect">
            <a:avLst>
              <a:gd name="adj" fmla="val 4800"/>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2" name="Text 10"/>
          <p:cNvSpPr/>
          <p:nvPr/>
        </p:nvSpPr>
        <p:spPr>
          <a:xfrm>
            <a:off x="2468880" y="2029968"/>
            <a:ext cx="1920240" cy="457200"/>
          </a:xfrm>
          <a:prstGeom prst="rect">
            <a:avLst/>
          </a:prstGeom>
          <a:noFill/>
          <a:ln/>
        </p:spPr>
        <p:txBody>
          <a:bodyPr wrap="square" rtlCol="0" anchor="ctr"/>
          <a:lstStyle/>
          <a:p>
            <a:pPr algn="ctr" indent="0" marL="0">
              <a:buNone/>
            </a:pPr>
            <a:r>
              <a:rPr lang="en-US" sz="3000" b="1" dirty="0">
                <a:solidFill>
                  <a:srgbClr val="1E2761"/>
                </a:solidFill>
                <a:latin typeface="Georgia" pitchFamily="34" charset="0"/>
                <a:ea typeface="Georgia" pitchFamily="34" charset="-122"/>
                <a:cs typeface="Georgia" pitchFamily="34" charset="-120"/>
              </a:rPr>
              <a:t>1–4</a:t>
            </a:r>
            <a:endParaRPr lang="en-US" sz="3000" dirty="0"/>
          </a:p>
        </p:txBody>
      </p:sp>
      <p:sp>
        <p:nvSpPr>
          <p:cNvPr id="13" name="Text 11"/>
          <p:cNvSpPr/>
          <p:nvPr/>
        </p:nvSpPr>
        <p:spPr>
          <a:xfrm>
            <a:off x="2468880" y="2542032"/>
            <a:ext cx="1920240" cy="457200"/>
          </a:xfrm>
          <a:prstGeom prst="rect">
            <a:avLst/>
          </a:prstGeom>
          <a:noFill/>
          <a:ln/>
        </p:spPr>
        <p:txBody>
          <a:bodyPr wrap="square"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control steps pass</a:t>
            </a:r>
            <a:endParaRPr lang="en-US" sz="1050" dirty="0"/>
          </a:p>
          <a:p>
            <a:pPr algn="ctr" indent="0" marL="0">
              <a:buNone/>
            </a:pPr>
            <a:r>
              <a:rPr lang="en-US" sz="1050" dirty="0">
                <a:solidFill>
                  <a:srgbClr val="5A6478"/>
                </a:solidFill>
                <a:latin typeface="Calibri" pitchFamily="34" charset="0"/>
                <a:ea typeface="Calibri" pitchFamily="34" charset="-122"/>
                <a:cs typeface="Calibri" pitchFamily="34" charset="-120"/>
              </a:rPr>
              <a:t>while the model thinks</a:t>
            </a:r>
            <a:endParaRPr lang="en-US" sz="1050" dirty="0"/>
          </a:p>
        </p:txBody>
      </p:sp>
      <p:sp>
        <p:nvSpPr>
          <p:cNvPr id="14" name="Text 12"/>
          <p:cNvSpPr/>
          <p:nvPr/>
        </p:nvSpPr>
        <p:spPr>
          <a:xfrm>
            <a:off x="411480" y="3246120"/>
            <a:ext cx="3977640" cy="1417320"/>
          </a:xfrm>
          <a:prstGeom prst="rect">
            <a:avLst/>
          </a:prstGeom>
          <a:noFill/>
          <a:ln/>
        </p:spPr>
        <p:txBody>
          <a:bodyPr wrap="square" rtlCol="0" anchor="ctr"/>
          <a:lstStyle/>
          <a:p>
            <a:pPr indent="0" marL="0">
              <a:spcAft>
                <a:spcPts val="800"/>
              </a:spcAft>
              <a:buNone/>
            </a:pPr>
            <a:r>
              <a:rPr lang="en-US" sz="1300" b="1" dirty="0">
                <a:solidFill>
                  <a:srgbClr val="2C7FB8"/>
                </a:solidFill>
                <a:latin typeface="Calibri" pitchFamily="34" charset="0"/>
                <a:ea typeface="Calibri" pitchFamily="34" charset="-122"/>
                <a:cs typeface="Calibri" pitchFamily="34" charset="-120"/>
              </a:rPr>
              <a:t>Synchronous: </a:t>
            </a:r>
            <a:pPr indent="0" marL="0">
              <a:spcAft>
                <a:spcPts val="800"/>
              </a:spcAft>
              <a:buNone/>
            </a:pPr>
            <a:r>
              <a:rPr lang="en-US" sz="1300" dirty="0">
                <a:solidFill>
                  <a:srgbClr val="1A1A2E"/>
                </a:solidFill>
                <a:latin typeface="Calibri" pitchFamily="34" charset="0"/>
                <a:ea typeface="Calibri" pitchFamily="34" charset="-122"/>
                <a:cs typeface="Calibri" pitchFamily="34" charset="-120"/>
              </a:rPr>
              <a:t>robot freezes every query → jerky “stop–run–stop” motion.</a:t>
            </a:r>
            <a:endParaRPr lang="en-US" sz="1300" dirty="0"/>
          </a:p>
          <a:p>
            <a:pPr indent="0" marL="0">
              <a:spcAft>
                <a:spcPts val="800"/>
              </a:spcAft>
              <a:buNone/>
            </a:pPr>
            <a:r>
              <a:rPr lang="en-US" sz="1300" b="1" dirty="0">
                <a:solidFill>
                  <a:srgbClr val="D95F0E"/>
                </a:solidFill>
                <a:latin typeface="Calibri" pitchFamily="34" charset="0"/>
                <a:ea typeface="Calibri" pitchFamily="34" charset="-122"/>
                <a:cs typeface="Calibri" pitchFamily="34" charset="-120"/>
              </a:rPr>
              <a:t>Naive asynchronous: </a:t>
            </a:r>
            <a:pPr indent="0" marL="0">
              <a:spcAft>
                <a:spcPts val="800"/>
              </a:spcAft>
              <a:buNone/>
            </a:pPr>
            <a:r>
              <a:rPr lang="en-US" sz="1300" dirty="0">
                <a:solidFill>
                  <a:srgbClr val="1A1A2E"/>
                </a:solidFill>
                <a:latin typeface="Calibri" pitchFamily="34" charset="0"/>
                <a:ea typeface="Calibri" pitchFamily="34" charset="-122"/>
                <a:cs typeface="Calibri" pitchFamily="34" charset="-120"/>
              </a:rPr>
              <a:t>robot keeps moving, but the plan is made for a state the robot has already left → </a:t>
            </a:r>
            <a:pPr indent="0" marL="0">
              <a:spcAft>
                <a:spcPts val="800"/>
              </a:spcAft>
              <a:buNone/>
            </a:pPr>
            <a:r>
              <a:rPr lang="en-US" sz="1300" b="1" dirty="0">
                <a:solidFill>
                  <a:srgbClr val="1A1A2E"/>
                </a:solidFill>
                <a:latin typeface="Calibri" pitchFamily="34" charset="0"/>
                <a:ea typeface="Calibri" pitchFamily="34" charset="-122"/>
                <a:cs typeface="Calibri" pitchFamily="34" charset="-120"/>
              </a:rPr>
              <a:t>prediction–execution misalignment ε.</a:t>
            </a:r>
            <a:endParaRPr lang="en-US" sz="1300" dirty="0"/>
          </a:p>
        </p:txBody>
      </p:sp>
      <p:pic>
        <p:nvPicPr>
          <p:cNvPr id="15" name="Image 0" descr="/sessions/youthful-sweet-hopper/mnt/vlash/figures/fig_concept_timeline.png">    </p:cNvPr>
          <p:cNvPicPr>
            <a:picLocks noChangeAspect="1"/>
          </p:cNvPicPr>
          <p:nvPr/>
        </p:nvPicPr>
        <p:blipFill>
          <a:blip r:embed="rId1"/>
          <a:stretch>
            <a:fillRect/>
          </a:stretch>
        </p:blipFill>
        <p:spPr>
          <a:xfrm>
            <a:off x="4617720" y="1234440"/>
            <a:ext cx="4206240" cy="2075688"/>
          </a:xfrm>
          <a:prstGeom prst="rect">
            <a:avLst/>
          </a:prstGeom>
        </p:spPr>
      </p:pic>
      <p:sp>
        <p:nvSpPr>
          <p:cNvPr id="16" name="Text 13"/>
          <p:cNvSpPr/>
          <p:nvPr/>
        </p:nvSpPr>
        <p:spPr>
          <a:xfrm>
            <a:off x="4617720" y="3364992"/>
            <a:ext cx="4206240" cy="274320"/>
          </a:xfrm>
          <a:prstGeom prst="rect">
            <a:avLst/>
          </a:prstGeom>
          <a:noFill/>
          <a:ln/>
        </p:spPr>
        <p:txBody>
          <a:bodyPr wrap="square" rtlCol="0" anchor="ctr"/>
          <a:lstStyle/>
          <a:p>
            <a:pPr algn="ctr" indent="0" marL="0">
              <a:buNone/>
            </a:pPr>
            <a:r>
              <a:rPr lang="en-US" sz="1000" i="1" dirty="0">
                <a:solidFill>
                  <a:srgbClr val="5A6478"/>
                </a:solidFill>
                <a:latin typeface="Calibri" pitchFamily="34" charset="0"/>
                <a:ea typeface="Calibri" pitchFamily="34" charset="-122"/>
                <a:cs typeface="Calibri" pitchFamily="34" charset="-120"/>
              </a:rPr>
              <a:t>Three inference paradigms (thesis Fig. 2, own work)</a:t>
            </a:r>
            <a:endParaRPr lang="en-US" sz="1000" dirty="0"/>
          </a:p>
        </p:txBody>
      </p:sp>
    </p:spTree>
  </p:cSld>
  <p:clrMapOvr>
    <a:masterClrMapping/>
  </p:clrMapOvr>
  <p:transition spd="med" dur="400">
    <p:fade/>
  </p:transition>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500"/>
                      </p:stCondLst>
                      <p:childTnLst>
                        <p:par>
                          <p:cTn id="9" fill="hold">
                            <p:stCondLst>
                              <p:cond delay="0"/>
                            </p:stCondLst>
                            <p:childTnLst>
                              <p:par>
                                <p:cTn id="10" presetID="10" presetClass="entr" presetSubtype="0" fill="hold" grpId="1" nodeType="afterEffect">
                                  <p:stCondLst>
                                    <p:cond delay="0"/>
                                  </p:stCondLst>
                                  <p:childTnLst>
                                    <p:set>
                                      <p:cBhvr>
                                        <p:cTn id="11" dur="1" fill="hold"/>
                                        <p:tgtEl>
                                          <p:spTgt spid="3"/>
                                        </p:tgtEl>
                                        <p:attrNameLst>
                                          <p:attrName>style.visibility</p:attrName>
                                        </p:attrNameLst>
                                      </p:cBhvr>
                                      <p:to>
                                        <p:strVal val="visible"/>
                                      </p:to>
                                    </p:set>
                                    <p:animEffect transition="in" filter="fade">
                                      <p:cBhvr>
                                        <p:cTn id="12" dur="400"/>
                                        <p:tgtEl>
                                          <p:spTgt spid="3"/>
                                        </p:tgtEl>
                                      </p:cBhvr>
                                    </p:animEffect>
                                  </p:childTnLst>
                                </p:cTn>
                              </p:par>
                            </p:childTnLst>
                          </p:cTn>
                        </p:par>
                      </p:childTnLst>
                    </p:cTn>
                  </p:par>
                  <p:par>
                    <p:cTn id="13" fill="hold">
                      <p:stCondLst>
                        <p:cond delay="500"/>
                      </p:stCondLst>
                      <p:childTnLst>
                        <p:par>
                          <p:cTn id="14" fill="hold">
                            <p:stCondLst>
                              <p:cond delay="0"/>
                            </p:stCondLst>
                            <p:childTnLst>
                              <p:par>
                                <p:cTn id="15" presetID="10" presetClass="entr" presetSubtype="0" fill="hold" grpId="2" nodeType="afterEffect">
                                  <p:stCondLst>
                                    <p:cond delay="0"/>
                                  </p:stCondLst>
                                  <p:childTnLst>
                                    <p:set>
                                      <p:cBhvr>
                                        <p:cTn id="16" dur="1" fill="hold"/>
                                        <p:tgtEl>
                                          <p:spTgt spid="4"/>
                                        </p:tgtEl>
                                        <p:attrNameLst>
                                          <p:attrName>style.visibility</p:attrName>
                                        </p:attrNameLst>
                                      </p:cBhvr>
                                      <p:to>
                                        <p:strVal val="visible"/>
                                      </p:to>
                                    </p:set>
                                    <p:animEffect transition="in" filter="fade">
                                      <p:cBhvr>
                                        <p:cTn id="17" dur="400"/>
                                        <p:tgtEl>
                                          <p:spTgt spid="4"/>
                                        </p:tgtEl>
                                      </p:cBhvr>
                                    </p:animEffect>
                                  </p:childTnLst>
                                </p:cTn>
                              </p:par>
                            </p:childTnLst>
                          </p:cTn>
                        </p:par>
                      </p:childTnLst>
                    </p:cTn>
                  </p:par>
                  <p:par>
                    <p:cTn id="18" fill="hold">
                      <p:stCondLst>
                        <p:cond delay="500"/>
                      </p:stCondLst>
                      <p:childTnLst>
                        <p:par>
                          <p:cTn id="19" fill="hold">
                            <p:stCondLst>
                              <p:cond delay="0"/>
                            </p:stCondLst>
                            <p:childTnLst>
                              <p:par>
                                <p:cTn id="20" presetID="10" presetClass="entr" presetSubtype="0" fill="hold" grpId="3" nodeType="afterEffect">
                                  <p:stCondLst>
                                    <p:cond delay="0"/>
                                  </p:stCondLst>
                                  <p:childTnLst>
                                    <p:set>
                                      <p:cBhvr>
                                        <p:cTn id="21" dur="1" fill="hold"/>
                                        <p:tgtEl>
                                          <p:spTgt spid="5"/>
                                        </p:tgtEl>
                                        <p:attrNameLst>
                                          <p:attrName>style.visibility</p:attrName>
                                        </p:attrNameLst>
                                      </p:cBhvr>
                                      <p:to>
                                        <p:strVal val="visible"/>
                                      </p:to>
                                    </p:set>
                                    <p:animEffect transition="in" filter="fade">
                                      <p:cBhvr>
                                        <p:cTn id="22" dur="400"/>
                                        <p:tgtEl>
                                          <p:spTgt spid="5"/>
                                        </p:tgtEl>
                                      </p:cBhvr>
                                    </p:animEffect>
                                  </p:childTnLst>
                                </p:cTn>
                              </p:par>
                            </p:childTnLst>
                          </p:cTn>
                        </p:par>
                      </p:childTnLst>
                    </p:cTn>
                  </p:par>
                  <p:par>
                    <p:cTn id="23" fill="hold">
                      <p:stCondLst>
                        <p:cond delay="500"/>
                      </p:stCondLst>
                      <p:childTnLst>
                        <p:par>
                          <p:cTn id="24" fill="hold">
                            <p:stCondLst>
                              <p:cond delay="0"/>
                            </p:stCondLst>
                            <p:childTnLst>
                              <p:par>
                                <p:cTn id="25" presetID="10" presetClass="entr" presetSubtype="0" fill="hold" grpId="4" nodeType="afterEffect">
                                  <p:stCondLst>
                                    <p:cond delay="0"/>
                                  </p:stCondLst>
                                  <p:childTnLst>
                                    <p:set>
                                      <p:cBhvr>
                                        <p:cTn id="26" dur="1" fill="hold"/>
                                        <p:tgtEl>
                                          <p:spTgt spid="6"/>
                                        </p:tgtEl>
                                        <p:attrNameLst>
                                          <p:attrName>style.visibility</p:attrName>
                                        </p:attrNameLst>
                                      </p:cBhvr>
                                      <p:to>
                                        <p:strVal val="visible"/>
                                      </p:to>
                                    </p:set>
                                    <p:animEffect transition="in" filter="fade">
                                      <p:cBhvr>
                                        <p:cTn id="27" dur="400"/>
                                        <p:tgtEl>
                                          <p:spTgt spid="6"/>
                                        </p:tgtEl>
                                      </p:cBhvr>
                                    </p:animEffect>
                                  </p:childTnLst>
                                </p:cTn>
                              </p:par>
                            </p:childTnLst>
                          </p:cTn>
                        </p:par>
                      </p:childTnLst>
                    </p:cTn>
                  </p:par>
                  <p:par>
                    <p:cTn id="28" fill="hold">
                      <p:stCondLst>
                        <p:cond delay="500"/>
                      </p:stCondLst>
                      <p:childTnLst>
                        <p:par>
                          <p:cTn id="29" fill="hold">
                            <p:stCondLst>
                              <p:cond delay="0"/>
                            </p:stCondLst>
                            <p:childTnLst>
                              <p:par>
                                <p:cTn id="30" presetID="10" presetClass="entr" presetSubtype="0" fill="hold" grpId="5" nodeType="afterEffect">
                                  <p:stCondLst>
                                    <p:cond delay="0"/>
                                  </p:stCondLst>
                                  <p:childTnLst>
                                    <p:set>
                                      <p:cBhvr>
                                        <p:cTn id="31" dur="1" fill="hold"/>
                                        <p:tgtEl>
                                          <p:spTgt spid="7"/>
                                        </p:tgtEl>
                                        <p:attrNameLst>
                                          <p:attrName>style.visibility</p:attrName>
                                        </p:attrNameLst>
                                      </p:cBhvr>
                                      <p:to>
                                        <p:strVal val="visible"/>
                                      </p:to>
                                    </p:set>
                                    <p:animEffect transition="in" filter="fade">
                                      <p:cBhvr>
                                        <p:cTn id="32" dur="400"/>
                                        <p:tgtEl>
                                          <p:spTgt spid="7"/>
                                        </p:tgtEl>
                                      </p:cBhvr>
                                    </p:animEffect>
                                  </p:childTnLst>
                                </p:cTn>
                              </p:par>
                            </p:childTnLst>
                          </p:cTn>
                        </p:par>
                      </p:childTnLst>
                    </p:cTn>
                  </p:par>
                  <p:par>
                    <p:cTn id="33" fill="hold">
                      <p:stCondLst>
                        <p:cond delay="500"/>
                      </p:stCondLst>
                      <p:childTnLst>
                        <p:par>
                          <p:cTn id="34" fill="hold">
                            <p:stCondLst>
                              <p:cond delay="0"/>
                            </p:stCondLst>
                            <p:childTnLst>
                              <p:par>
                                <p:cTn id="35" presetID="10" presetClass="entr" presetSubtype="0" fill="hold" grpId="6" nodeType="afterEffect">
                                  <p:stCondLst>
                                    <p:cond delay="0"/>
                                  </p:stCondLst>
                                  <p:childTnLst>
                                    <p:set>
                                      <p:cBhvr>
                                        <p:cTn id="36" dur="1" fill="hold"/>
                                        <p:tgtEl>
                                          <p:spTgt spid="8"/>
                                        </p:tgtEl>
                                        <p:attrNameLst>
                                          <p:attrName>style.visibility</p:attrName>
                                        </p:attrNameLst>
                                      </p:cBhvr>
                                      <p:to>
                                        <p:strVal val="visible"/>
                                      </p:to>
                                    </p:set>
                                    <p:animEffect transition="in" filter="fade">
                                      <p:cBhvr>
                                        <p:cTn id="37" dur="400"/>
                                        <p:tgtEl>
                                          <p:spTgt spid="8"/>
                                        </p:tgtEl>
                                      </p:cBhvr>
                                    </p:animEffect>
                                  </p:childTnLst>
                                </p:cTn>
                              </p:par>
                            </p:childTnLst>
                          </p:cTn>
                        </p:par>
                      </p:childTnLst>
                    </p:cTn>
                  </p:par>
                  <p:par>
                    <p:cTn id="38" fill="hold">
                      <p:stCondLst>
                        <p:cond delay="500"/>
                      </p:stCondLst>
                      <p:childTnLst>
                        <p:par>
                          <p:cTn id="39" fill="hold">
                            <p:stCondLst>
                              <p:cond delay="0"/>
                            </p:stCondLst>
                            <p:childTnLst>
                              <p:par>
                                <p:cTn id="40" presetID="10" presetClass="entr" presetSubtype="0" fill="hold" grpId="7" nodeType="afterEffect">
                                  <p:stCondLst>
                                    <p:cond delay="0"/>
                                  </p:stCondLst>
                                  <p:childTnLst>
                                    <p:set>
                                      <p:cBhvr>
                                        <p:cTn id="41" dur="1" fill="hold"/>
                                        <p:tgtEl>
                                          <p:spTgt spid="9"/>
                                        </p:tgtEl>
                                        <p:attrNameLst>
                                          <p:attrName>style.visibility</p:attrName>
                                        </p:attrNameLst>
                                      </p:cBhvr>
                                      <p:to>
                                        <p:strVal val="visible"/>
                                      </p:to>
                                    </p:set>
                                    <p:animEffect transition="in" filter="fade">
                                      <p:cBhvr>
                                        <p:cTn id="42" dur="400"/>
                                        <p:tgtEl>
                                          <p:spTgt spid="9"/>
                                        </p:tgtEl>
                                      </p:cBhvr>
                                    </p:animEffect>
                                  </p:childTnLst>
                                </p:cTn>
                              </p:par>
                            </p:childTnLst>
                          </p:cTn>
                        </p:par>
                      </p:childTnLst>
                    </p:cTn>
                  </p:par>
                  <p:par>
                    <p:cTn id="43" fill="hold">
                      <p:stCondLst>
                        <p:cond delay="500"/>
                      </p:stCondLst>
                      <p:childTnLst>
                        <p:par>
                          <p:cTn id="44" fill="hold">
                            <p:stCondLst>
                              <p:cond delay="0"/>
                            </p:stCondLst>
                            <p:childTnLst>
                              <p:par>
                                <p:cTn id="45" presetID="10" presetClass="entr" presetSubtype="0" fill="hold" grpId="8" nodeType="afterEffect">
                                  <p:stCondLst>
                                    <p:cond delay="0"/>
                                  </p:stCondLst>
                                  <p:childTnLst>
                                    <p:set>
                                      <p:cBhvr>
                                        <p:cTn id="46" dur="1" fill="hold"/>
                                        <p:tgtEl>
                                          <p:spTgt spid="10"/>
                                        </p:tgtEl>
                                        <p:attrNameLst>
                                          <p:attrName>style.visibility</p:attrName>
                                        </p:attrNameLst>
                                      </p:cBhvr>
                                      <p:to>
                                        <p:strVal val="visible"/>
                                      </p:to>
                                    </p:set>
                                    <p:animEffect transition="in" filter="fade">
                                      <p:cBhvr>
                                        <p:cTn id="47" dur="400"/>
                                        <p:tgtEl>
                                          <p:spTgt spid="10"/>
                                        </p:tgtEl>
                                      </p:cBhvr>
                                    </p:animEffect>
                                  </p:childTnLst>
                                </p:cTn>
                              </p:par>
                            </p:childTnLst>
                          </p:cTn>
                        </p:par>
                      </p:childTnLst>
                    </p:cTn>
                  </p:par>
                  <p:par>
                    <p:cTn id="48" fill="hold">
                      <p:stCondLst>
                        <p:cond delay="500"/>
                      </p:stCondLst>
                      <p:childTnLst>
                        <p:par>
                          <p:cTn id="49" fill="hold">
                            <p:stCondLst>
                              <p:cond delay="0"/>
                            </p:stCondLst>
                            <p:childTnLst>
                              <p:par>
                                <p:cTn id="50" presetID="10" presetClass="entr" presetSubtype="0" fill="hold" grpId="9" nodeType="afterEffect">
                                  <p:stCondLst>
                                    <p:cond delay="0"/>
                                  </p:stCondLst>
                                  <p:childTnLst>
                                    <p:set>
                                      <p:cBhvr>
                                        <p:cTn id="51" dur="1" fill="hold"/>
                                        <p:tgtEl>
                                          <p:spTgt spid="11"/>
                                        </p:tgtEl>
                                        <p:attrNameLst>
                                          <p:attrName>style.visibility</p:attrName>
                                        </p:attrNameLst>
                                      </p:cBhvr>
                                      <p:to>
                                        <p:strVal val="visible"/>
                                      </p:to>
                                    </p:set>
                                    <p:animEffect transition="in" filter="fade">
                                      <p:cBhvr>
                                        <p:cTn id="52" dur="400"/>
                                        <p:tgtEl>
                                          <p:spTgt spid="11"/>
                                        </p:tgtEl>
                                      </p:cBhvr>
                                    </p:animEffect>
                                  </p:childTnLst>
                                </p:cTn>
                              </p:par>
                            </p:childTnLst>
                          </p:cTn>
                        </p:par>
                      </p:childTnLst>
                    </p:cTn>
                  </p:par>
                  <p:par>
                    <p:cTn id="53" fill="hold">
                      <p:stCondLst>
                        <p:cond delay="500"/>
                      </p:stCondLst>
                      <p:childTnLst>
                        <p:par>
                          <p:cTn id="54" fill="hold">
                            <p:stCondLst>
                              <p:cond delay="0"/>
                            </p:stCondLst>
                            <p:childTnLst>
                              <p:par>
                                <p:cTn id="55" presetID="10" presetClass="entr" presetSubtype="0" fill="hold" grpId="10" nodeType="afterEffect">
                                  <p:stCondLst>
                                    <p:cond delay="0"/>
                                  </p:stCondLst>
                                  <p:childTnLst>
                                    <p:set>
                                      <p:cBhvr>
                                        <p:cTn id="56" dur="1" fill="hold"/>
                                        <p:tgtEl>
                                          <p:spTgt spid="12"/>
                                        </p:tgtEl>
                                        <p:attrNameLst>
                                          <p:attrName>style.visibility</p:attrName>
                                        </p:attrNameLst>
                                      </p:cBhvr>
                                      <p:to>
                                        <p:strVal val="visible"/>
                                      </p:to>
                                    </p:set>
                                    <p:animEffect transition="in" filter="fade">
                                      <p:cBhvr>
                                        <p:cTn id="57" dur="400"/>
                                        <p:tgtEl>
                                          <p:spTgt spid="12"/>
                                        </p:tgtEl>
                                      </p:cBhvr>
                                    </p:animEffect>
                                  </p:childTnLst>
                                </p:cTn>
                              </p:par>
                            </p:childTnLst>
                          </p:cTn>
                        </p:par>
                      </p:childTnLst>
                    </p:cTn>
                  </p:par>
                  <p:par>
                    <p:cTn id="58" fill="hold">
                      <p:stCondLst>
                        <p:cond delay="500"/>
                      </p:stCondLst>
                      <p:childTnLst>
                        <p:par>
                          <p:cTn id="59" fill="hold">
                            <p:stCondLst>
                              <p:cond delay="0"/>
                            </p:stCondLst>
                            <p:childTnLst>
                              <p:par>
                                <p:cTn id="60" presetID="10" presetClass="entr" presetSubtype="0" fill="hold" grpId="11" nodeType="afterEffect">
                                  <p:stCondLst>
                                    <p:cond delay="0"/>
                                  </p:stCondLst>
                                  <p:childTnLst>
                                    <p:set>
                                      <p:cBhvr>
                                        <p:cTn id="61" dur="1" fill="hold"/>
                                        <p:tgtEl>
                                          <p:spTgt spid="13"/>
                                        </p:tgtEl>
                                        <p:attrNameLst>
                                          <p:attrName>style.visibility</p:attrName>
                                        </p:attrNameLst>
                                      </p:cBhvr>
                                      <p:to>
                                        <p:strVal val="visible"/>
                                      </p:to>
                                    </p:set>
                                    <p:animEffect transition="in" filter="fade">
                                      <p:cBhvr>
                                        <p:cTn id="62" dur="400"/>
                                        <p:tgtEl>
                                          <p:spTgt spid="13"/>
                                        </p:tgtEl>
                                      </p:cBhvr>
                                    </p:animEffect>
                                  </p:childTnLst>
                                </p:cTn>
                              </p:par>
                            </p:childTnLst>
                          </p:cTn>
                        </p:par>
                      </p:childTnLst>
                    </p:cTn>
                  </p:par>
                  <p:par>
                    <p:cTn id="63" fill="hold">
                      <p:stCondLst>
                        <p:cond delay="500"/>
                      </p:stCondLst>
                      <p:childTnLst>
                        <p:par>
                          <p:cTn id="64" fill="hold">
                            <p:stCondLst>
                              <p:cond delay="0"/>
                            </p:stCondLst>
                            <p:childTnLst>
                              <p:par>
                                <p:cTn id="65" presetID="10" presetClass="entr" presetSubtype="0" fill="hold" grpId="12" nodeType="afterEffect">
                                  <p:stCondLst>
                                    <p:cond delay="0"/>
                                  </p:stCondLst>
                                  <p:childTnLst>
                                    <p:set>
                                      <p:cBhvr>
                                        <p:cTn id="66" dur="1" fill="hold"/>
                                        <p:tgtEl>
                                          <p:spTgt spid="14"/>
                                        </p:tgtEl>
                                        <p:attrNameLst>
                                          <p:attrName>style.visibility</p:attrName>
                                        </p:attrNameLst>
                                      </p:cBhvr>
                                      <p:to>
                                        <p:strVal val="visible"/>
                                      </p:to>
                                    </p:set>
                                    <p:animEffect transition="in" filter="fade">
                                      <p:cBhvr>
                                        <p:cTn id="67" dur="400"/>
                                        <p:tgtEl>
                                          <p:spTgt spid="14"/>
                                        </p:tgtEl>
                                      </p:cBhvr>
                                    </p:animEffect>
                                  </p:childTnLst>
                                </p:cTn>
                              </p:par>
                            </p:childTnLst>
                          </p:cTn>
                        </p:par>
                      </p:childTnLst>
                    </p:cTn>
                  </p:par>
                  <p:par>
                    <p:cTn id="68" fill="hold">
                      <p:stCondLst>
                        <p:cond delay="500"/>
                      </p:stCondLst>
                      <p:childTnLst>
                        <p:par>
                          <p:cTn id="69" fill="hold">
                            <p:stCondLst>
                              <p:cond delay="0"/>
                            </p:stCondLst>
                            <p:childTnLst>
                              <p:par>
                                <p:cTn id="70" presetID="10" presetClass="entr" presetSubtype="0" fill="hold" grpId="13" nodeType="afterEffect">
                                  <p:stCondLst>
                                    <p:cond delay="0"/>
                                  </p:stCondLst>
                                  <p:childTnLst>
                                    <p:set>
                                      <p:cBhvr>
                                        <p:cTn id="71" dur="1" fill="hold"/>
                                        <p:tgtEl>
                                          <p:spTgt spid="15"/>
                                        </p:tgtEl>
                                        <p:attrNameLst>
                                          <p:attrName>style.visibility</p:attrName>
                                        </p:attrNameLst>
                                      </p:cBhvr>
                                      <p:to>
                                        <p:strVal val="visible"/>
                                      </p:to>
                                    </p:set>
                                    <p:animEffect transition="in" filter="fade">
                                      <p:cBhvr>
                                        <p:cTn id="72" dur="400"/>
                                        <p:tgtEl>
                                          <p:spTgt spid="15"/>
                                        </p:tgtEl>
                                      </p:cBhvr>
                                    </p:animEffect>
                                  </p:childTnLst>
                                </p:cTn>
                              </p:par>
                            </p:childTnLst>
                          </p:cTn>
                        </p:par>
                      </p:childTnLst>
                    </p:cTn>
                  </p:par>
                  <p:par>
                    <p:cTn id="73" fill="hold">
                      <p:stCondLst>
                        <p:cond delay="500"/>
                      </p:stCondLst>
                      <p:childTnLst>
                        <p:par>
                          <p:cTn id="74" fill="hold">
                            <p:stCondLst>
                              <p:cond delay="0"/>
                            </p:stCondLst>
                            <p:childTnLst>
                              <p:par>
                                <p:cTn id="75" presetID="10" presetClass="entr" presetSubtype="0" fill="hold" grpId="14" nodeType="afterEffect">
                                  <p:stCondLst>
                                    <p:cond delay="0"/>
                                  </p:stCondLst>
                                  <p:childTnLst>
                                    <p:set>
                                      <p:cBhvr>
                                        <p:cTn id="76" dur="1" fill="hold"/>
                                        <p:tgtEl>
                                          <p:spTgt spid="16"/>
                                        </p:tgtEl>
                                        <p:attrNameLst>
                                          <p:attrName>style.visibility</p:attrName>
                                        </p:attrNameLst>
                                      </p:cBhvr>
                                      <p:to>
                                        <p:strVal val="visible"/>
                                      </p:to>
                                    </p:set>
                                    <p:animEffect transition="in" filter="fade">
                                      <p:cBhvr>
                                        <p:cTn id="77" dur="400"/>
                                        <p:tgtEl>
                                          <p:spTgt spid="16"/>
                                        </p:tgtEl>
                                      </p:cBhvr>
                                    </p:animEffect>
                                  </p:childTnLst>
                                </p:cTn>
                              </p:par>
                            </p:childTnLst>
                          </p:cTn>
                        </p:par>
                      </p:childTnLst>
                    </p:cTn>
                  </p:par>
                </p:childTnLst>
              </p:cTn>
              <p:prevCondLst>
                <p:cond evt="onPrevClick" delay="0">
                  <p:tn/>
                </p:cond>
              </p:prevCondLst>
            </p:seq>
          </p:childTnLst>
        </p:cTn>
      </p:par>
    </p:tnLst>
    <p:bldLst>
      <p:bldP spid="2" grpId="0" build="p"/>
      <p:bldP spid="3" grpId="1" build="p"/>
      <p:bldP spid="4" grpId="2" build="p"/>
      <p:bldP spid="5" grpId="3" build="p"/>
      <p:bldP spid="6" grpId="4" build="p"/>
      <p:bldP spid="7" grpId="5" build="p"/>
      <p:bldP spid="8" grpId="6" build="p"/>
      <p:bldP spid="9" grpId="7" build="p"/>
      <p:bldP spid="10" grpId="8" build="p"/>
      <p:bldP spid="11" grpId="9" build="p"/>
      <p:bldP spid="12" grpId="10" build="p"/>
      <p:bldP spid="13" grpId="11" build="p"/>
      <p:bldP spid="14" grpId="12" build="p"/>
      <p:bldP spid="15" grpId="13" build="p"/>
      <p:bldP spid="16" grpId="14"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2761"/>
          </a:solidFill>
          <a:ln/>
        </p:spPr>
      </p:sp>
      <p:sp>
        <p:nvSpPr>
          <p:cNvPr id="3" name="Text 1"/>
          <p:cNvSpPr/>
          <p:nvPr/>
        </p:nvSpPr>
        <p:spPr>
          <a:xfrm>
            <a:off x="411480" y="201168"/>
            <a:ext cx="8046720" cy="274320"/>
          </a:xfrm>
          <a:prstGeom prst="rect">
            <a:avLst/>
          </a:prstGeom>
          <a:noFill/>
          <a:ln/>
        </p:spPr>
        <p:txBody>
          <a:bodyPr wrap="square" rtlCol="0" anchor="ctr"/>
          <a:lstStyle/>
          <a:p>
            <a:pPr indent="0" marL="0">
              <a:buNone/>
            </a:pPr>
            <a:r>
              <a:rPr lang="en-US" sz="1100" b="1" spc="300" kern="0" dirty="0">
                <a:solidFill>
                  <a:srgbClr val="5A6478"/>
                </a:solidFill>
                <a:latin typeface="Calibri" pitchFamily="34" charset="0"/>
                <a:ea typeface="Calibri" pitchFamily="34" charset="-122"/>
                <a:cs typeface="Calibri" pitchFamily="34" charset="-120"/>
              </a:rPr>
              <a:t>METHOD UNDER STUDY</a:t>
            </a:r>
            <a:endParaRPr lang="en-US" sz="1100" dirty="0"/>
          </a:p>
        </p:txBody>
      </p:sp>
      <p:sp>
        <p:nvSpPr>
          <p:cNvPr id="4" name="Text 2"/>
          <p:cNvSpPr/>
          <p:nvPr/>
        </p:nvSpPr>
        <p:spPr>
          <a:xfrm>
            <a:off x="384048" y="420624"/>
            <a:ext cx="8321040" cy="566928"/>
          </a:xfrm>
          <a:prstGeom prst="rect">
            <a:avLst/>
          </a:prstGeom>
          <a:noFill/>
          <a:ln/>
        </p:spPr>
        <p:txBody>
          <a:bodyPr wrap="square" rtlCol="0" anchor="ctr"/>
          <a:lstStyle/>
          <a:p>
            <a:pPr indent="0" marL="0">
              <a:buNone/>
            </a:pPr>
            <a:r>
              <a:rPr lang="en-US" sz="2700" b="1" dirty="0">
                <a:solidFill>
                  <a:srgbClr val="1E2761"/>
                </a:solidFill>
                <a:latin typeface="Georgia" pitchFamily="34" charset="0"/>
                <a:ea typeface="Georgia" pitchFamily="34" charset="-122"/>
                <a:cs typeface="Georgia" pitchFamily="34" charset="-120"/>
              </a:rPr>
              <a:t>VLASH: condition on the future state</a:t>
            </a:r>
            <a:endParaRPr lang="en-US" sz="2700" dirty="0"/>
          </a:p>
        </p:txBody>
      </p:sp>
      <p:sp>
        <p:nvSpPr>
          <p:cNvPr id="5" name="Text 3"/>
          <p:cNvSpPr/>
          <p:nvPr/>
        </p:nvSpPr>
        <p:spPr>
          <a:xfrm>
            <a:off x="8549640" y="4773168"/>
            <a:ext cx="457200" cy="274320"/>
          </a:xfrm>
          <a:prstGeom prst="rect">
            <a:avLst/>
          </a:prstGeom>
          <a:noFill/>
          <a:ln/>
        </p:spPr>
        <p:txBody>
          <a:bodyPr wrap="square"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03</a:t>
            </a:r>
            <a:endParaRPr lang="en-US" sz="1000" dirty="0"/>
          </a:p>
        </p:txBody>
      </p:sp>
      <p:sp>
        <p:nvSpPr>
          <p:cNvPr id="6" name="Text 4"/>
          <p:cNvSpPr/>
          <p:nvPr/>
        </p:nvSpPr>
        <p:spPr>
          <a:xfrm>
            <a:off x="411480" y="4773168"/>
            <a:ext cx="5943600" cy="274320"/>
          </a:xfrm>
          <a:prstGeom prst="rect">
            <a:avLst/>
          </a:prstGeom>
          <a:noFill/>
          <a:ln/>
        </p:spPr>
        <p:txBody>
          <a:bodyPr wrap="square" rtlCol="0" anchor="ctr"/>
          <a:lstStyle/>
          <a:p>
            <a:pPr indent="0" marL="0">
              <a:buNone/>
            </a:pPr>
            <a:r>
              <a:rPr lang="en-US" sz="900" dirty="0">
                <a:solidFill>
                  <a:srgbClr val="5A6478"/>
                </a:solidFill>
                <a:latin typeface="Calibri" pitchFamily="34" charset="0"/>
                <a:ea typeface="Calibri" pitchFamily="34" charset="-122"/>
                <a:cs typeface="Calibri" pitchFamily="34" charset="-120"/>
              </a:rPr>
              <a:t>VLASH — Diploma thesis defense · UITM Rzeszow 2026</a:t>
            </a:r>
            <a:endParaRPr lang="en-US" sz="900" dirty="0"/>
          </a:p>
        </p:txBody>
      </p:sp>
      <p:pic>
        <p:nvPicPr>
          <p:cNvPr id="7" name="Image 0" descr="/sessions/youthful-sweet-hopper/mnt/vlash/figures/fig_concept_rollforward.png">    </p:cNvPr>
          <p:cNvPicPr>
            <a:picLocks noChangeAspect="1"/>
          </p:cNvPicPr>
          <p:nvPr/>
        </p:nvPicPr>
        <p:blipFill>
          <a:blip r:embed="rId1"/>
          <a:stretch>
            <a:fillRect/>
          </a:stretch>
        </p:blipFill>
        <p:spPr>
          <a:xfrm>
            <a:off x="411480" y="1051560"/>
            <a:ext cx="4846320" cy="2048256"/>
          </a:xfrm>
          <a:prstGeom prst="rect">
            <a:avLst/>
          </a:prstGeom>
        </p:spPr>
      </p:pic>
      <p:sp>
        <p:nvSpPr>
          <p:cNvPr id="8" name="Text 5"/>
          <p:cNvSpPr/>
          <p:nvPr/>
        </p:nvSpPr>
        <p:spPr>
          <a:xfrm>
            <a:off x="411480" y="3127248"/>
            <a:ext cx="4846320" cy="256032"/>
          </a:xfrm>
          <a:prstGeom prst="rect">
            <a:avLst/>
          </a:prstGeom>
          <a:noFill/>
          <a:ln/>
        </p:spPr>
        <p:txBody>
          <a:bodyPr wrap="square" rtlCol="0" anchor="ctr"/>
          <a:lstStyle/>
          <a:p>
            <a:pPr algn="ctr" indent="0" marL="0">
              <a:buNone/>
            </a:pPr>
            <a:r>
              <a:rPr lang="en-US" sz="1000" i="1" dirty="0">
                <a:solidFill>
                  <a:srgbClr val="5A6478"/>
                </a:solidFill>
                <a:latin typeface="Calibri" pitchFamily="34" charset="0"/>
                <a:ea typeface="Calibri" pitchFamily="34" charset="-122"/>
                <a:cs typeface="Calibri" pitchFamily="34" charset="-120"/>
              </a:rPr>
              <a:t>State rollforward (thesis Fig. 3, own work)</a:t>
            </a:r>
            <a:endParaRPr lang="en-US" sz="1000" dirty="0"/>
          </a:p>
        </p:txBody>
      </p:sp>
      <p:sp>
        <p:nvSpPr>
          <p:cNvPr id="9" name="Shape 6"/>
          <p:cNvSpPr/>
          <p:nvPr/>
        </p:nvSpPr>
        <p:spPr>
          <a:xfrm>
            <a:off x="411480" y="3520440"/>
            <a:ext cx="4846320" cy="777240"/>
          </a:xfrm>
          <a:prstGeom prst="roundRect">
            <a:avLst>
              <a:gd name="adj" fmla="val 7059"/>
            </a:avLst>
          </a:prstGeom>
          <a:solidFill>
            <a:srgbClr val="1E2761"/>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0" name="Text 7"/>
          <p:cNvSpPr/>
          <p:nvPr/>
        </p:nvSpPr>
        <p:spPr>
          <a:xfrm>
            <a:off x="411480" y="3520440"/>
            <a:ext cx="4846320" cy="777240"/>
          </a:xfrm>
          <a:prstGeom prst="rect">
            <a:avLst/>
          </a:prstGeom>
          <a:noFill/>
          <a:ln/>
        </p:spPr>
        <p:txBody>
          <a:bodyPr wrap="square" rtlCol="0" anchor="ctr"/>
          <a:lstStyle/>
          <a:p>
            <a:pPr algn="ctr" indent="0" marL="0">
              <a:buNone/>
            </a:pPr>
            <a:r>
              <a:rPr lang="en-US" sz="1600" i="1" dirty="0">
                <a:solidFill>
                  <a:srgbClr val="FFFFFF"/>
                </a:solidFill>
                <a:latin typeface="Georgia" pitchFamily="34" charset="0"/>
                <a:ea typeface="Georgia" pitchFamily="34" charset="-122"/>
                <a:cs typeface="Georgia" pitchFamily="34" charset="-120"/>
              </a:rPr>
              <a:t>s(t+Δ)  =  s(t) + a(t) + a(t+1) + … + a(t+Δ−1)</a:t>
            </a:r>
            <a:endParaRPr lang="en-US" sz="1600" dirty="0"/>
          </a:p>
        </p:txBody>
      </p:sp>
      <p:sp>
        <p:nvSpPr>
          <p:cNvPr id="11" name="Text 8"/>
          <p:cNvSpPr/>
          <p:nvPr/>
        </p:nvSpPr>
        <p:spPr>
          <a:xfrm>
            <a:off x="5486400" y="1051560"/>
            <a:ext cx="3337560" cy="822960"/>
          </a:xfrm>
          <a:prstGeom prst="rect">
            <a:avLst/>
          </a:prstGeom>
          <a:noFill/>
          <a:ln/>
        </p:spPr>
        <p:txBody>
          <a:bodyPr wrap="square" rtlCol="0" anchor="ctr"/>
          <a:lstStyle/>
          <a:p>
            <a:pPr indent="0" marL="0">
              <a:buNone/>
            </a:pPr>
            <a:r>
              <a:rPr lang="en-US" sz="1350" dirty="0">
                <a:solidFill>
                  <a:srgbClr val="1A1A2E"/>
                </a:solidFill>
                <a:latin typeface="Calibri" pitchFamily="34" charset="0"/>
                <a:ea typeface="Calibri" pitchFamily="34" charset="-122"/>
                <a:cs typeface="Calibri" pitchFamily="34" charset="-120"/>
              </a:rPr>
              <a:t>Pending actions are already known —</a:t>
            </a:r>
            <a:endParaRPr lang="en-US" sz="1350" dirty="0"/>
          </a:p>
          <a:p>
            <a:pPr indent="0" marL="0">
              <a:buNone/>
            </a:pPr>
            <a:r>
              <a:rPr lang="en-US" sz="1350" b="1" dirty="0">
                <a:solidFill>
                  <a:srgbClr val="1A1A2E"/>
                </a:solidFill>
                <a:latin typeface="Calibri" pitchFamily="34" charset="0"/>
                <a:ea typeface="Calibri" pitchFamily="34" charset="-122"/>
                <a:cs typeface="Calibri" pitchFamily="34" charset="-120"/>
              </a:rPr>
              <a:t>the future state is one exact vector sum. Zero overhead.</a:t>
            </a:r>
            <a:endParaRPr lang="en-US" sz="1350" dirty="0"/>
          </a:p>
        </p:txBody>
      </p:sp>
      <p:sp>
        <p:nvSpPr>
          <p:cNvPr id="12" name="Shape 9"/>
          <p:cNvSpPr/>
          <p:nvPr/>
        </p:nvSpPr>
        <p:spPr>
          <a:xfrm>
            <a:off x="5486400" y="2011680"/>
            <a:ext cx="384048" cy="384048"/>
          </a:xfrm>
          <a:prstGeom prst="ellipse">
            <a:avLst/>
          </a:prstGeom>
          <a:solidFill>
            <a:srgbClr val="1E2761"/>
          </a:solidFill>
          <a:ln/>
        </p:spPr>
      </p:sp>
      <p:sp>
        <p:nvSpPr>
          <p:cNvPr id="13" name="Text 10"/>
          <p:cNvSpPr/>
          <p:nvPr/>
        </p:nvSpPr>
        <p:spPr>
          <a:xfrm>
            <a:off x="5486400" y="201168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5989320" y="1901952"/>
            <a:ext cx="2880360" cy="86868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State rollforward</a:t>
            </a:r>
            <a:endParaRPr lang="en-US" sz="1200" dirty="0"/>
          </a:p>
          <a:p>
            <a:pPr indent="0" marL="0">
              <a:buNone/>
            </a:pPr>
            <a:r>
              <a:rPr lang="en-US" sz="1200" dirty="0">
                <a:solidFill>
                  <a:srgbClr val="5A6478"/>
                </a:solidFill>
                <a:latin typeface="Calibri" pitchFamily="34" charset="0"/>
                <a:ea typeface="Calibri" pitchFamily="34" charset="-122"/>
                <a:cs typeface="Calibri" pitchFamily="34" charset="-120"/>
              </a:rPr>
              <a:t>at inference: condition the policy on s(t+Δ)</a:t>
            </a:r>
            <a:endParaRPr lang="en-US" sz="1200" dirty="0"/>
          </a:p>
        </p:txBody>
      </p:sp>
      <p:sp>
        <p:nvSpPr>
          <p:cNvPr id="15" name="Shape 12"/>
          <p:cNvSpPr/>
          <p:nvPr/>
        </p:nvSpPr>
        <p:spPr>
          <a:xfrm>
            <a:off x="5486400" y="2880360"/>
            <a:ext cx="384048" cy="384048"/>
          </a:xfrm>
          <a:prstGeom prst="ellipse">
            <a:avLst/>
          </a:prstGeom>
          <a:solidFill>
            <a:srgbClr val="1E2761"/>
          </a:solidFill>
          <a:ln/>
        </p:spPr>
      </p:sp>
      <p:sp>
        <p:nvSpPr>
          <p:cNvPr id="16" name="Text 13"/>
          <p:cNvSpPr/>
          <p:nvPr/>
        </p:nvSpPr>
        <p:spPr>
          <a:xfrm>
            <a:off x="5486400" y="288036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5989320" y="2770632"/>
            <a:ext cx="2880360" cy="86868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Temporal-offset augmentation</a:t>
            </a:r>
            <a:endParaRPr lang="en-US" sz="1200" dirty="0"/>
          </a:p>
          <a:p>
            <a:pPr indent="0" marL="0">
              <a:buNone/>
            </a:pPr>
            <a:r>
              <a:rPr lang="en-US" sz="1200" dirty="0">
                <a:solidFill>
                  <a:srgbClr val="5A6478"/>
                </a:solidFill>
                <a:latin typeface="Calibri" pitchFamily="34" charset="0"/>
                <a:ea typeface="Calibri" pitchFamily="34" charset="-122"/>
                <a:cs typeface="Calibri" pitchFamily="34" charset="-120"/>
              </a:rPr>
              <a:t>at training: random shifts δ teach the model to use the state</a:t>
            </a:r>
            <a:endParaRPr lang="en-US" sz="1200" dirty="0"/>
          </a:p>
        </p:txBody>
      </p:sp>
      <p:sp>
        <p:nvSpPr>
          <p:cNvPr id="18" name="Shape 15"/>
          <p:cNvSpPr/>
          <p:nvPr/>
        </p:nvSpPr>
        <p:spPr>
          <a:xfrm>
            <a:off x="5486400" y="3749040"/>
            <a:ext cx="384048" cy="384048"/>
          </a:xfrm>
          <a:prstGeom prst="ellipse">
            <a:avLst/>
          </a:prstGeom>
          <a:solidFill>
            <a:srgbClr val="1E2761"/>
          </a:solidFill>
          <a:ln/>
        </p:spPr>
      </p:sp>
      <p:sp>
        <p:nvSpPr>
          <p:cNvPr id="19" name="Text 16"/>
          <p:cNvSpPr/>
          <p:nvPr/>
        </p:nvSpPr>
        <p:spPr>
          <a:xfrm>
            <a:off x="5486400" y="374904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p:nvPr/>
        </p:nvSpPr>
        <p:spPr>
          <a:xfrm>
            <a:off x="5989320" y="3639312"/>
            <a:ext cx="2880360" cy="86868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Shared-observation pass</a:t>
            </a:r>
            <a:endParaRPr lang="en-US" sz="1200" dirty="0"/>
          </a:p>
          <a:p>
            <a:pPr indent="0" marL="0">
              <a:buNone/>
            </a:pPr>
            <a:r>
              <a:rPr lang="en-US" sz="1200" dirty="0">
                <a:solidFill>
                  <a:srgbClr val="5A6478"/>
                </a:solidFill>
                <a:latin typeface="Calibri" pitchFamily="34" charset="0"/>
                <a:ea typeface="Calibri" pitchFamily="34" charset="-122"/>
                <a:cs typeface="Calibri" pitchFamily="34" charset="-120"/>
              </a:rPr>
              <a:t>encode the observation once for all offsets → 3.26× faster training</a:t>
            </a:r>
            <a:endParaRPr lang="en-US" sz="1200" dirty="0"/>
          </a:p>
        </p:txBody>
      </p:sp>
    </p:spTree>
  </p:cSld>
  <p:clrMapOvr>
    <a:masterClrMapping/>
  </p:clrMapOvr>
  <p:transition spd="med" dur="400">
    <p:fade/>
  </p:transition>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500"/>
                      </p:stCondLst>
                      <p:childTnLst>
                        <p:par>
                          <p:cTn id="9" fill="hold">
                            <p:stCondLst>
                              <p:cond delay="0"/>
                            </p:stCondLst>
                            <p:childTnLst>
                              <p:par>
                                <p:cTn id="10" presetID="10" presetClass="entr" presetSubtype="0" fill="hold" grpId="1" nodeType="afterEffect">
                                  <p:stCondLst>
                                    <p:cond delay="0"/>
                                  </p:stCondLst>
                                  <p:childTnLst>
                                    <p:set>
                                      <p:cBhvr>
                                        <p:cTn id="11" dur="1" fill="hold"/>
                                        <p:tgtEl>
                                          <p:spTgt spid="3"/>
                                        </p:tgtEl>
                                        <p:attrNameLst>
                                          <p:attrName>style.visibility</p:attrName>
                                        </p:attrNameLst>
                                      </p:cBhvr>
                                      <p:to>
                                        <p:strVal val="visible"/>
                                      </p:to>
                                    </p:set>
                                    <p:animEffect transition="in" filter="fade">
                                      <p:cBhvr>
                                        <p:cTn id="12" dur="400"/>
                                        <p:tgtEl>
                                          <p:spTgt spid="3"/>
                                        </p:tgtEl>
                                      </p:cBhvr>
                                    </p:animEffect>
                                  </p:childTnLst>
                                </p:cTn>
                              </p:par>
                            </p:childTnLst>
                          </p:cTn>
                        </p:par>
                      </p:childTnLst>
                    </p:cTn>
                  </p:par>
                  <p:par>
                    <p:cTn id="13" fill="hold">
                      <p:stCondLst>
                        <p:cond delay="500"/>
                      </p:stCondLst>
                      <p:childTnLst>
                        <p:par>
                          <p:cTn id="14" fill="hold">
                            <p:stCondLst>
                              <p:cond delay="0"/>
                            </p:stCondLst>
                            <p:childTnLst>
                              <p:par>
                                <p:cTn id="15" presetID="10" presetClass="entr" presetSubtype="0" fill="hold" grpId="2" nodeType="afterEffect">
                                  <p:stCondLst>
                                    <p:cond delay="0"/>
                                  </p:stCondLst>
                                  <p:childTnLst>
                                    <p:set>
                                      <p:cBhvr>
                                        <p:cTn id="16" dur="1" fill="hold"/>
                                        <p:tgtEl>
                                          <p:spTgt spid="4"/>
                                        </p:tgtEl>
                                        <p:attrNameLst>
                                          <p:attrName>style.visibility</p:attrName>
                                        </p:attrNameLst>
                                      </p:cBhvr>
                                      <p:to>
                                        <p:strVal val="visible"/>
                                      </p:to>
                                    </p:set>
                                    <p:animEffect transition="in" filter="fade">
                                      <p:cBhvr>
                                        <p:cTn id="17" dur="400"/>
                                        <p:tgtEl>
                                          <p:spTgt spid="4"/>
                                        </p:tgtEl>
                                      </p:cBhvr>
                                    </p:animEffect>
                                  </p:childTnLst>
                                </p:cTn>
                              </p:par>
                            </p:childTnLst>
                          </p:cTn>
                        </p:par>
                      </p:childTnLst>
                    </p:cTn>
                  </p:par>
                  <p:par>
                    <p:cTn id="18" fill="hold">
                      <p:stCondLst>
                        <p:cond delay="500"/>
                      </p:stCondLst>
                      <p:childTnLst>
                        <p:par>
                          <p:cTn id="19" fill="hold">
                            <p:stCondLst>
                              <p:cond delay="0"/>
                            </p:stCondLst>
                            <p:childTnLst>
                              <p:par>
                                <p:cTn id="20" presetID="10" presetClass="entr" presetSubtype="0" fill="hold" grpId="3" nodeType="afterEffect">
                                  <p:stCondLst>
                                    <p:cond delay="0"/>
                                  </p:stCondLst>
                                  <p:childTnLst>
                                    <p:set>
                                      <p:cBhvr>
                                        <p:cTn id="21" dur="1" fill="hold"/>
                                        <p:tgtEl>
                                          <p:spTgt spid="5"/>
                                        </p:tgtEl>
                                        <p:attrNameLst>
                                          <p:attrName>style.visibility</p:attrName>
                                        </p:attrNameLst>
                                      </p:cBhvr>
                                      <p:to>
                                        <p:strVal val="visible"/>
                                      </p:to>
                                    </p:set>
                                    <p:animEffect transition="in" filter="fade">
                                      <p:cBhvr>
                                        <p:cTn id="22" dur="400"/>
                                        <p:tgtEl>
                                          <p:spTgt spid="5"/>
                                        </p:tgtEl>
                                      </p:cBhvr>
                                    </p:animEffect>
                                  </p:childTnLst>
                                </p:cTn>
                              </p:par>
                            </p:childTnLst>
                          </p:cTn>
                        </p:par>
                      </p:childTnLst>
                    </p:cTn>
                  </p:par>
                  <p:par>
                    <p:cTn id="23" fill="hold">
                      <p:stCondLst>
                        <p:cond delay="500"/>
                      </p:stCondLst>
                      <p:childTnLst>
                        <p:par>
                          <p:cTn id="24" fill="hold">
                            <p:stCondLst>
                              <p:cond delay="0"/>
                            </p:stCondLst>
                            <p:childTnLst>
                              <p:par>
                                <p:cTn id="25" presetID="10" presetClass="entr" presetSubtype="0" fill="hold" grpId="4" nodeType="afterEffect">
                                  <p:stCondLst>
                                    <p:cond delay="0"/>
                                  </p:stCondLst>
                                  <p:childTnLst>
                                    <p:set>
                                      <p:cBhvr>
                                        <p:cTn id="26" dur="1" fill="hold"/>
                                        <p:tgtEl>
                                          <p:spTgt spid="6"/>
                                        </p:tgtEl>
                                        <p:attrNameLst>
                                          <p:attrName>style.visibility</p:attrName>
                                        </p:attrNameLst>
                                      </p:cBhvr>
                                      <p:to>
                                        <p:strVal val="visible"/>
                                      </p:to>
                                    </p:set>
                                    <p:animEffect transition="in" filter="fade">
                                      <p:cBhvr>
                                        <p:cTn id="27" dur="400"/>
                                        <p:tgtEl>
                                          <p:spTgt spid="6"/>
                                        </p:tgtEl>
                                      </p:cBhvr>
                                    </p:animEffect>
                                  </p:childTnLst>
                                </p:cTn>
                              </p:par>
                            </p:childTnLst>
                          </p:cTn>
                        </p:par>
                      </p:childTnLst>
                    </p:cTn>
                  </p:par>
                  <p:par>
                    <p:cTn id="28" fill="hold">
                      <p:stCondLst>
                        <p:cond delay="500"/>
                      </p:stCondLst>
                      <p:childTnLst>
                        <p:par>
                          <p:cTn id="29" fill="hold">
                            <p:stCondLst>
                              <p:cond delay="0"/>
                            </p:stCondLst>
                            <p:childTnLst>
                              <p:par>
                                <p:cTn id="30" presetID="10" presetClass="entr" presetSubtype="0" fill="hold" grpId="5" nodeType="afterEffect">
                                  <p:stCondLst>
                                    <p:cond delay="0"/>
                                  </p:stCondLst>
                                  <p:childTnLst>
                                    <p:set>
                                      <p:cBhvr>
                                        <p:cTn id="31" dur="1" fill="hold"/>
                                        <p:tgtEl>
                                          <p:spTgt spid="7"/>
                                        </p:tgtEl>
                                        <p:attrNameLst>
                                          <p:attrName>style.visibility</p:attrName>
                                        </p:attrNameLst>
                                      </p:cBhvr>
                                      <p:to>
                                        <p:strVal val="visible"/>
                                      </p:to>
                                    </p:set>
                                    <p:animEffect transition="in" filter="fade">
                                      <p:cBhvr>
                                        <p:cTn id="32" dur="400"/>
                                        <p:tgtEl>
                                          <p:spTgt spid="7"/>
                                        </p:tgtEl>
                                      </p:cBhvr>
                                    </p:animEffect>
                                  </p:childTnLst>
                                </p:cTn>
                              </p:par>
                            </p:childTnLst>
                          </p:cTn>
                        </p:par>
                      </p:childTnLst>
                    </p:cTn>
                  </p:par>
                  <p:par>
                    <p:cTn id="33" fill="hold">
                      <p:stCondLst>
                        <p:cond delay="500"/>
                      </p:stCondLst>
                      <p:childTnLst>
                        <p:par>
                          <p:cTn id="34" fill="hold">
                            <p:stCondLst>
                              <p:cond delay="0"/>
                            </p:stCondLst>
                            <p:childTnLst>
                              <p:par>
                                <p:cTn id="35" presetID="10" presetClass="entr" presetSubtype="0" fill="hold" grpId="6" nodeType="afterEffect">
                                  <p:stCondLst>
                                    <p:cond delay="0"/>
                                  </p:stCondLst>
                                  <p:childTnLst>
                                    <p:set>
                                      <p:cBhvr>
                                        <p:cTn id="36" dur="1" fill="hold"/>
                                        <p:tgtEl>
                                          <p:spTgt spid="8"/>
                                        </p:tgtEl>
                                        <p:attrNameLst>
                                          <p:attrName>style.visibility</p:attrName>
                                        </p:attrNameLst>
                                      </p:cBhvr>
                                      <p:to>
                                        <p:strVal val="visible"/>
                                      </p:to>
                                    </p:set>
                                    <p:animEffect transition="in" filter="fade">
                                      <p:cBhvr>
                                        <p:cTn id="37" dur="400"/>
                                        <p:tgtEl>
                                          <p:spTgt spid="8"/>
                                        </p:tgtEl>
                                      </p:cBhvr>
                                    </p:animEffect>
                                  </p:childTnLst>
                                </p:cTn>
                              </p:par>
                            </p:childTnLst>
                          </p:cTn>
                        </p:par>
                      </p:childTnLst>
                    </p:cTn>
                  </p:par>
                  <p:par>
                    <p:cTn id="38" fill="hold">
                      <p:stCondLst>
                        <p:cond delay="500"/>
                      </p:stCondLst>
                      <p:childTnLst>
                        <p:par>
                          <p:cTn id="39" fill="hold">
                            <p:stCondLst>
                              <p:cond delay="0"/>
                            </p:stCondLst>
                            <p:childTnLst>
                              <p:par>
                                <p:cTn id="40" presetID="10" presetClass="entr" presetSubtype="0" fill="hold" grpId="7" nodeType="afterEffect">
                                  <p:stCondLst>
                                    <p:cond delay="0"/>
                                  </p:stCondLst>
                                  <p:childTnLst>
                                    <p:set>
                                      <p:cBhvr>
                                        <p:cTn id="41" dur="1" fill="hold"/>
                                        <p:tgtEl>
                                          <p:spTgt spid="9"/>
                                        </p:tgtEl>
                                        <p:attrNameLst>
                                          <p:attrName>style.visibility</p:attrName>
                                        </p:attrNameLst>
                                      </p:cBhvr>
                                      <p:to>
                                        <p:strVal val="visible"/>
                                      </p:to>
                                    </p:set>
                                    <p:animEffect transition="in" filter="fade">
                                      <p:cBhvr>
                                        <p:cTn id="42" dur="400"/>
                                        <p:tgtEl>
                                          <p:spTgt spid="9"/>
                                        </p:tgtEl>
                                      </p:cBhvr>
                                    </p:animEffect>
                                  </p:childTnLst>
                                </p:cTn>
                              </p:par>
                            </p:childTnLst>
                          </p:cTn>
                        </p:par>
                      </p:childTnLst>
                    </p:cTn>
                  </p:par>
                  <p:par>
                    <p:cTn id="43" fill="hold">
                      <p:stCondLst>
                        <p:cond delay="500"/>
                      </p:stCondLst>
                      <p:childTnLst>
                        <p:par>
                          <p:cTn id="44" fill="hold">
                            <p:stCondLst>
                              <p:cond delay="0"/>
                            </p:stCondLst>
                            <p:childTnLst>
                              <p:par>
                                <p:cTn id="45" presetID="10" presetClass="entr" presetSubtype="0" fill="hold" grpId="8" nodeType="afterEffect">
                                  <p:stCondLst>
                                    <p:cond delay="0"/>
                                  </p:stCondLst>
                                  <p:childTnLst>
                                    <p:set>
                                      <p:cBhvr>
                                        <p:cTn id="46" dur="1" fill="hold"/>
                                        <p:tgtEl>
                                          <p:spTgt spid="10"/>
                                        </p:tgtEl>
                                        <p:attrNameLst>
                                          <p:attrName>style.visibility</p:attrName>
                                        </p:attrNameLst>
                                      </p:cBhvr>
                                      <p:to>
                                        <p:strVal val="visible"/>
                                      </p:to>
                                    </p:set>
                                    <p:animEffect transition="in" filter="fade">
                                      <p:cBhvr>
                                        <p:cTn id="47" dur="400"/>
                                        <p:tgtEl>
                                          <p:spTgt spid="10"/>
                                        </p:tgtEl>
                                      </p:cBhvr>
                                    </p:animEffect>
                                  </p:childTnLst>
                                </p:cTn>
                              </p:par>
                            </p:childTnLst>
                          </p:cTn>
                        </p:par>
                      </p:childTnLst>
                    </p:cTn>
                  </p:par>
                  <p:par>
                    <p:cTn id="48" fill="hold">
                      <p:stCondLst>
                        <p:cond delay="500"/>
                      </p:stCondLst>
                      <p:childTnLst>
                        <p:par>
                          <p:cTn id="49" fill="hold">
                            <p:stCondLst>
                              <p:cond delay="0"/>
                            </p:stCondLst>
                            <p:childTnLst>
                              <p:par>
                                <p:cTn id="50" presetID="10" presetClass="entr" presetSubtype="0" fill="hold" grpId="9" nodeType="afterEffect">
                                  <p:stCondLst>
                                    <p:cond delay="0"/>
                                  </p:stCondLst>
                                  <p:childTnLst>
                                    <p:set>
                                      <p:cBhvr>
                                        <p:cTn id="51" dur="1" fill="hold"/>
                                        <p:tgtEl>
                                          <p:spTgt spid="11"/>
                                        </p:tgtEl>
                                        <p:attrNameLst>
                                          <p:attrName>style.visibility</p:attrName>
                                        </p:attrNameLst>
                                      </p:cBhvr>
                                      <p:to>
                                        <p:strVal val="visible"/>
                                      </p:to>
                                    </p:set>
                                    <p:animEffect transition="in" filter="fade">
                                      <p:cBhvr>
                                        <p:cTn id="52" dur="400"/>
                                        <p:tgtEl>
                                          <p:spTgt spid="11"/>
                                        </p:tgtEl>
                                      </p:cBhvr>
                                    </p:animEffect>
                                  </p:childTnLst>
                                </p:cTn>
                              </p:par>
                            </p:childTnLst>
                          </p:cTn>
                        </p:par>
                      </p:childTnLst>
                    </p:cTn>
                  </p:par>
                  <p:par>
                    <p:cTn id="53" fill="hold">
                      <p:stCondLst>
                        <p:cond delay="500"/>
                      </p:stCondLst>
                      <p:childTnLst>
                        <p:par>
                          <p:cTn id="54" fill="hold">
                            <p:stCondLst>
                              <p:cond delay="0"/>
                            </p:stCondLst>
                            <p:childTnLst>
                              <p:par>
                                <p:cTn id="55" presetID="10" presetClass="entr" presetSubtype="0" fill="hold" grpId="10" nodeType="afterEffect">
                                  <p:stCondLst>
                                    <p:cond delay="0"/>
                                  </p:stCondLst>
                                  <p:childTnLst>
                                    <p:set>
                                      <p:cBhvr>
                                        <p:cTn id="56" dur="1" fill="hold"/>
                                        <p:tgtEl>
                                          <p:spTgt spid="12"/>
                                        </p:tgtEl>
                                        <p:attrNameLst>
                                          <p:attrName>style.visibility</p:attrName>
                                        </p:attrNameLst>
                                      </p:cBhvr>
                                      <p:to>
                                        <p:strVal val="visible"/>
                                      </p:to>
                                    </p:set>
                                    <p:animEffect transition="in" filter="fade">
                                      <p:cBhvr>
                                        <p:cTn id="57" dur="400"/>
                                        <p:tgtEl>
                                          <p:spTgt spid="12"/>
                                        </p:tgtEl>
                                      </p:cBhvr>
                                    </p:animEffect>
                                  </p:childTnLst>
                                </p:cTn>
                              </p:par>
                            </p:childTnLst>
                          </p:cTn>
                        </p:par>
                      </p:childTnLst>
                    </p:cTn>
                  </p:par>
                  <p:par>
                    <p:cTn id="58" fill="hold">
                      <p:stCondLst>
                        <p:cond delay="500"/>
                      </p:stCondLst>
                      <p:childTnLst>
                        <p:par>
                          <p:cTn id="59" fill="hold">
                            <p:stCondLst>
                              <p:cond delay="0"/>
                            </p:stCondLst>
                            <p:childTnLst>
                              <p:par>
                                <p:cTn id="60" presetID="10" presetClass="entr" presetSubtype="0" fill="hold" grpId="11" nodeType="afterEffect">
                                  <p:stCondLst>
                                    <p:cond delay="0"/>
                                  </p:stCondLst>
                                  <p:childTnLst>
                                    <p:set>
                                      <p:cBhvr>
                                        <p:cTn id="61" dur="1" fill="hold"/>
                                        <p:tgtEl>
                                          <p:spTgt spid="13"/>
                                        </p:tgtEl>
                                        <p:attrNameLst>
                                          <p:attrName>style.visibility</p:attrName>
                                        </p:attrNameLst>
                                      </p:cBhvr>
                                      <p:to>
                                        <p:strVal val="visible"/>
                                      </p:to>
                                    </p:set>
                                    <p:animEffect transition="in" filter="fade">
                                      <p:cBhvr>
                                        <p:cTn id="62" dur="400"/>
                                        <p:tgtEl>
                                          <p:spTgt spid="13"/>
                                        </p:tgtEl>
                                      </p:cBhvr>
                                    </p:animEffect>
                                  </p:childTnLst>
                                </p:cTn>
                              </p:par>
                            </p:childTnLst>
                          </p:cTn>
                        </p:par>
                      </p:childTnLst>
                    </p:cTn>
                  </p:par>
                  <p:par>
                    <p:cTn id="63" fill="hold">
                      <p:stCondLst>
                        <p:cond delay="500"/>
                      </p:stCondLst>
                      <p:childTnLst>
                        <p:par>
                          <p:cTn id="64" fill="hold">
                            <p:stCondLst>
                              <p:cond delay="0"/>
                            </p:stCondLst>
                            <p:childTnLst>
                              <p:par>
                                <p:cTn id="65" presetID="10" presetClass="entr" presetSubtype="0" fill="hold" grpId="12" nodeType="afterEffect">
                                  <p:stCondLst>
                                    <p:cond delay="0"/>
                                  </p:stCondLst>
                                  <p:childTnLst>
                                    <p:set>
                                      <p:cBhvr>
                                        <p:cTn id="66" dur="1" fill="hold"/>
                                        <p:tgtEl>
                                          <p:spTgt spid="14"/>
                                        </p:tgtEl>
                                        <p:attrNameLst>
                                          <p:attrName>style.visibility</p:attrName>
                                        </p:attrNameLst>
                                      </p:cBhvr>
                                      <p:to>
                                        <p:strVal val="visible"/>
                                      </p:to>
                                    </p:set>
                                    <p:animEffect transition="in" filter="fade">
                                      <p:cBhvr>
                                        <p:cTn id="67" dur="400"/>
                                        <p:tgtEl>
                                          <p:spTgt spid="14"/>
                                        </p:tgtEl>
                                      </p:cBhvr>
                                    </p:animEffect>
                                  </p:childTnLst>
                                </p:cTn>
                              </p:par>
                            </p:childTnLst>
                          </p:cTn>
                        </p:par>
                      </p:childTnLst>
                    </p:cTn>
                  </p:par>
                  <p:par>
                    <p:cTn id="68" fill="hold">
                      <p:stCondLst>
                        <p:cond delay="500"/>
                      </p:stCondLst>
                      <p:childTnLst>
                        <p:par>
                          <p:cTn id="69" fill="hold">
                            <p:stCondLst>
                              <p:cond delay="0"/>
                            </p:stCondLst>
                            <p:childTnLst>
                              <p:par>
                                <p:cTn id="70" presetID="10" presetClass="entr" presetSubtype="0" fill="hold" grpId="13" nodeType="afterEffect">
                                  <p:stCondLst>
                                    <p:cond delay="0"/>
                                  </p:stCondLst>
                                  <p:childTnLst>
                                    <p:set>
                                      <p:cBhvr>
                                        <p:cTn id="71" dur="1" fill="hold"/>
                                        <p:tgtEl>
                                          <p:spTgt spid="15"/>
                                        </p:tgtEl>
                                        <p:attrNameLst>
                                          <p:attrName>style.visibility</p:attrName>
                                        </p:attrNameLst>
                                      </p:cBhvr>
                                      <p:to>
                                        <p:strVal val="visible"/>
                                      </p:to>
                                    </p:set>
                                    <p:animEffect transition="in" filter="fade">
                                      <p:cBhvr>
                                        <p:cTn id="72" dur="400"/>
                                        <p:tgtEl>
                                          <p:spTgt spid="15"/>
                                        </p:tgtEl>
                                      </p:cBhvr>
                                    </p:animEffect>
                                  </p:childTnLst>
                                </p:cTn>
                              </p:par>
                            </p:childTnLst>
                          </p:cTn>
                        </p:par>
                      </p:childTnLst>
                    </p:cTn>
                  </p:par>
                  <p:par>
                    <p:cTn id="73" fill="hold">
                      <p:stCondLst>
                        <p:cond delay="500"/>
                      </p:stCondLst>
                      <p:childTnLst>
                        <p:par>
                          <p:cTn id="74" fill="hold">
                            <p:stCondLst>
                              <p:cond delay="0"/>
                            </p:stCondLst>
                            <p:childTnLst>
                              <p:par>
                                <p:cTn id="75" presetID="10" presetClass="entr" presetSubtype="0" fill="hold" grpId="14" nodeType="afterEffect">
                                  <p:stCondLst>
                                    <p:cond delay="0"/>
                                  </p:stCondLst>
                                  <p:childTnLst>
                                    <p:set>
                                      <p:cBhvr>
                                        <p:cTn id="76" dur="1" fill="hold"/>
                                        <p:tgtEl>
                                          <p:spTgt spid="16"/>
                                        </p:tgtEl>
                                        <p:attrNameLst>
                                          <p:attrName>style.visibility</p:attrName>
                                        </p:attrNameLst>
                                      </p:cBhvr>
                                      <p:to>
                                        <p:strVal val="visible"/>
                                      </p:to>
                                    </p:set>
                                    <p:animEffect transition="in" filter="fade">
                                      <p:cBhvr>
                                        <p:cTn id="77" dur="400"/>
                                        <p:tgtEl>
                                          <p:spTgt spid="16"/>
                                        </p:tgtEl>
                                      </p:cBhvr>
                                    </p:animEffect>
                                  </p:childTnLst>
                                </p:cTn>
                              </p:par>
                            </p:childTnLst>
                          </p:cTn>
                        </p:par>
                      </p:childTnLst>
                    </p:cTn>
                  </p:par>
                  <p:par>
                    <p:cTn id="78" fill="hold">
                      <p:stCondLst>
                        <p:cond delay="500"/>
                      </p:stCondLst>
                      <p:childTnLst>
                        <p:par>
                          <p:cTn id="79" fill="hold">
                            <p:stCondLst>
                              <p:cond delay="0"/>
                            </p:stCondLst>
                            <p:childTnLst>
                              <p:par>
                                <p:cTn id="80" presetID="10" presetClass="entr" presetSubtype="0" fill="hold" grpId="15" nodeType="afterEffect">
                                  <p:stCondLst>
                                    <p:cond delay="0"/>
                                  </p:stCondLst>
                                  <p:childTnLst>
                                    <p:set>
                                      <p:cBhvr>
                                        <p:cTn id="81" dur="1" fill="hold"/>
                                        <p:tgtEl>
                                          <p:spTgt spid="17"/>
                                        </p:tgtEl>
                                        <p:attrNameLst>
                                          <p:attrName>style.visibility</p:attrName>
                                        </p:attrNameLst>
                                      </p:cBhvr>
                                      <p:to>
                                        <p:strVal val="visible"/>
                                      </p:to>
                                    </p:set>
                                    <p:animEffect transition="in" filter="fade">
                                      <p:cBhvr>
                                        <p:cTn id="82" dur="400"/>
                                        <p:tgtEl>
                                          <p:spTgt spid="17"/>
                                        </p:tgtEl>
                                      </p:cBhvr>
                                    </p:animEffect>
                                  </p:childTnLst>
                                </p:cTn>
                              </p:par>
                            </p:childTnLst>
                          </p:cTn>
                        </p:par>
                      </p:childTnLst>
                    </p:cTn>
                  </p:par>
                  <p:par>
                    <p:cTn id="83" fill="hold">
                      <p:stCondLst>
                        <p:cond delay="500"/>
                      </p:stCondLst>
                      <p:childTnLst>
                        <p:par>
                          <p:cTn id="84" fill="hold">
                            <p:stCondLst>
                              <p:cond delay="0"/>
                            </p:stCondLst>
                            <p:childTnLst>
                              <p:par>
                                <p:cTn id="85" presetID="10" presetClass="entr" presetSubtype="0" fill="hold" grpId="16" nodeType="afterEffect">
                                  <p:stCondLst>
                                    <p:cond delay="0"/>
                                  </p:stCondLst>
                                  <p:childTnLst>
                                    <p:set>
                                      <p:cBhvr>
                                        <p:cTn id="86" dur="1" fill="hold"/>
                                        <p:tgtEl>
                                          <p:spTgt spid="18"/>
                                        </p:tgtEl>
                                        <p:attrNameLst>
                                          <p:attrName>style.visibility</p:attrName>
                                        </p:attrNameLst>
                                      </p:cBhvr>
                                      <p:to>
                                        <p:strVal val="visible"/>
                                      </p:to>
                                    </p:set>
                                    <p:animEffect transition="in" filter="fade">
                                      <p:cBhvr>
                                        <p:cTn id="87" dur="400"/>
                                        <p:tgtEl>
                                          <p:spTgt spid="18"/>
                                        </p:tgtEl>
                                      </p:cBhvr>
                                    </p:animEffect>
                                  </p:childTnLst>
                                </p:cTn>
                              </p:par>
                            </p:childTnLst>
                          </p:cTn>
                        </p:par>
                      </p:childTnLst>
                    </p:cTn>
                  </p:par>
                  <p:par>
                    <p:cTn id="88" fill="hold">
                      <p:stCondLst>
                        <p:cond delay="500"/>
                      </p:stCondLst>
                      <p:childTnLst>
                        <p:par>
                          <p:cTn id="89" fill="hold">
                            <p:stCondLst>
                              <p:cond delay="0"/>
                            </p:stCondLst>
                            <p:childTnLst>
                              <p:par>
                                <p:cTn id="90" presetID="10" presetClass="entr" presetSubtype="0" fill="hold" grpId="17" nodeType="afterEffect">
                                  <p:stCondLst>
                                    <p:cond delay="0"/>
                                  </p:stCondLst>
                                  <p:childTnLst>
                                    <p:set>
                                      <p:cBhvr>
                                        <p:cTn id="91" dur="1" fill="hold"/>
                                        <p:tgtEl>
                                          <p:spTgt spid="19"/>
                                        </p:tgtEl>
                                        <p:attrNameLst>
                                          <p:attrName>style.visibility</p:attrName>
                                        </p:attrNameLst>
                                      </p:cBhvr>
                                      <p:to>
                                        <p:strVal val="visible"/>
                                      </p:to>
                                    </p:set>
                                    <p:animEffect transition="in" filter="fade">
                                      <p:cBhvr>
                                        <p:cTn id="92" dur="400"/>
                                        <p:tgtEl>
                                          <p:spTgt spid="19"/>
                                        </p:tgtEl>
                                      </p:cBhvr>
                                    </p:animEffect>
                                  </p:childTnLst>
                                </p:cTn>
                              </p:par>
                            </p:childTnLst>
                          </p:cTn>
                        </p:par>
                      </p:childTnLst>
                    </p:cTn>
                  </p:par>
                  <p:par>
                    <p:cTn id="93" fill="hold">
                      <p:stCondLst>
                        <p:cond delay="500"/>
                      </p:stCondLst>
                      <p:childTnLst>
                        <p:par>
                          <p:cTn id="94" fill="hold">
                            <p:stCondLst>
                              <p:cond delay="0"/>
                            </p:stCondLst>
                            <p:childTnLst>
                              <p:par>
                                <p:cTn id="95" presetID="10" presetClass="entr" presetSubtype="0" fill="hold" grpId="18" nodeType="afterEffect">
                                  <p:stCondLst>
                                    <p:cond delay="0"/>
                                  </p:stCondLst>
                                  <p:childTnLst>
                                    <p:set>
                                      <p:cBhvr>
                                        <p:cTn id="96" dur="1" fill="hold"/>
                                        <p:tgtEl>
                                          <p:spTgt spid="20"/>
                                        </p:tgtEl>
                                        <p:attrNameLst>
                                          <p:attrName>style.visibility</p:attrName>
                                        </p:attrNameLst>
                                      </p:cBhvr>
                                      <p:to>
                                        <p:strVal val="visible"/>
                                      </p:to>
                                    </p:set>
                                    <p:animEffect transition="in" filter="fade">
                                      <p:cBhvr>
                                        <p:cTn id="97" dur="400"/>
                                        <p:tgtEl>
                                          <p:spTgt spid="20"/>
                                        </p:tgtEl>
                                      </p:cBhvr>
                                    </p:animEffect>
                                  </p:childTnLst>
                                </p:cTn>
                              </p:par>
                            </p:childTnLst>
                          </p:cTn>
                        </p:par>
                      </p:childTnLst>
                    </p:cTn>
                  </p:par>
                </p:childTnLst>
              </p:cTn>
              <p:prevCondLst>
                <p:cond evt="onPrevClick" delay="0">
                  <p:tn/>
                </p:cond>
              </p:prevCondLst>
            </p:seq>
          </p:childTnLst>
        </p:cTn>
      </p:par>
    </p:tnLst>
    <p:bldLst>
      <p:bldP spid="2" grpId="0" build="p"/>
      <p:bldP spid="3" grpId="1" build="p"/>
      <p:bldP spid="4" grpId="2" build="p"/>
      <p:bldP spid="5" grpId="3" build="p"/>
      <p:bldP spid="6" grpId="4" build="p"/>
      <p:bldP spid="7" grpId="5" build="p"/>
      <p:bldP spid="8" grpId="6" build="p"/>
      <p:bldP spid="9" grpId="7" build="p"/>
      <p:bldP spid="10" grpId="8" build="p"/>
      <p:bldP spid="11" grpId="9" build="p"/>
      <p:bldP spid="12" grpId="10" build="p"/>
      <p:bldP spid="13" grpId="11" build="p"/>
      <p:bldP spid="14" grpId="12" build="p"/>
      <p:bldP spid="15" grpId="13" build="p"/>
      <p:bldP spid="16" grpId="14" build="p"/>
      <p:bldP spid="17" grpId="15" build="p"/>
      <p:bldP spid="18" grpId="16" build="p"/>
      <p:bldP spid="19" grpId="17" build="p"/>
      <p:bldP spid="20" grpId="18"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2761"/>
          </a:solidFill>
          <a:ln/>
        </p:spPr>
      </p:sp>
      <p:sp>
        <p:nvSpPr>
          <p:cNvPr id="3" name="Text 1"/>
          <p:cNvSpPr/>
          <p:nvPr/>
        </p:nvSpPr>
        <p:spPr>
          <a:xfrm>
            <a:off x="411480" y="201168"/>
            <a:ext cx="8046720" cy="274320"/>
          </a:xfrm>
          <a:prstGeom prst="rect">
            <a:avLst/>
          </a:prstGeom>
          <a:noFill/>
          <a:ln/>
        </p:spPr>
        <p:txBody>
          <a:bodyPr wrap="square" rtlCol="0" anchor="ctr"/>
          <a:lstStyle/>
          <a:p>
            <a:pPr indent="0" marL="0">
              <a:buNone/>
            </a:pPr>
            <a:r>
              <a:rPr lang="en-US" sz="1100" b="1" spc="300" kern="0" dirty="0">
                <a:solidFill>
                  <a:srgbClr val="5A6478"/>
                </a:solidFill>
                <a:latin typeface="Calibri" pitchFamily="34" charset="0"/>
                <a:ea typeface="Calibri" pitchFamily="34" charset="-122"/>
                <a:cs typeface="Calibri" pitchFamily="34" charset="-120"/>
              </a:rPr>
              <a:t>PRACTICAL PART · OWN WORK</a:t>
            </a:r>
            <a:endParaRPr lang="en-US" sz="1100" dirty="0"/>
          </a:p>
        </p:txBody>
      </p:sp>
      <p:sp>
        <p:nvSpPr>
          <p:cNvPr id="4" name="Text 2"/>
          <p:cNvSpPr/>
          <p:nvPr/>
        </p:nvSpPr>
        <p:spPr>
          <a:xfrm>
            <a:off x="384048" y="420624"/>
            <a:ext cx="8321040" cy="566928"/>
          </a:xfrm>
          <a:prstGeom prst="rect">
            <a:avLst/>
          </a:prstGeom>
          <a:noFill/>
          <a:ln/>
        </p:spPr>
        <p:txBody>
          <a:bodyPr wrap="square" rtlCol="0" anchor="ctr"/>
          <a:lstStyle/>
          <a:p>
            <a:pPr indent="0" marL="0">
              <a:buNone/>
            </a:pPr>
            <a:r>
              <a:rPr lang="en-US" sz="2700" b="1" dirty="0">
                <a:solidFill>
                  <a:srgbClr val="1E2761"/>
                </a:solidFill>
                <a:latin typeface="Georgia" pitchFamily="34" charset="0"/>
                <a:ea typeface="Georgia" pitchFamily="34" charset="-122"/>
                <a:cs typeface="Georgia" pitchFamily="34" charset="-120"/>
              </a:rPr>
              <a:t>My contribution: a controlled testbed</a:t>
            </a:r>
            <a:endParaRPr lang="en-US" sz="2700" dirty="0"/>
          </a:p>
        </p:txBody>
      </p:sp>
      <p:sp>
        <p:nvSpPr>
          <p:cNvPr id="5" name="Text 3"/>
          <p:cNvSpPr/>
          <p:nvPr/>
        </p:nvSpPr>
        <p:spPr>
          <a:xfrm>
            <a:off x="8549640" y="4773168"/>
            <a:ext cx="457200" cy="274320"/>
          </a:xfrm>
          <a:prstGeom prst="rect">
            <a:avLst/>
          </a:prstGeom>
          <a:noFill/>
          <a:ln/>
        </p:spPr>
        <p:txBody>
          <a:bodyPr wrap="square"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04</a:t>
            </a:r>
            <a:endParaRPr lang="en-US" sz="1000" dirty="0"/>
          </a:p>
        </p:txBody>
      </p:sp>
      <p:sp>
        <p:nvSpPr>
          <p:cNvPr id="6" name="Text 4"/>
          <p:cNvSpPr/>
          <p:nvPr/>
        </p:nvSpPr>
        <p:spPr>
          <a:xfrm>
            <a:off x="411480" y="4773168"/>
            <a:ext cx="5943600" cy="274320"/>
          </a:xfrm>
          <a:prstGeom prst="rect">
            <a:avLst/>
          </a:prstGeom>
          <a:noFill/>
          <a:ln/>
        </p:spPr>
        <p:txBody>
          <a:bodyPr wrap="square" rtlCol="0" anchor="ctr"/>
          <a:lstStyle/>
          <a:p>
            <a:pPr indent="0" marL="0">
              <a:buNone/>
            </a:pPr>
            <a:r>
              <a:rPr lang="en-US" sz="900" dirty="0">
                <a:solidFill>
                  <a:srgbClr val="5A6478"/>
                </a:solidFill>
                <a:latin typeface="Calibri" pitchFamily="34" charset="0"/>
                <a:ea typeface="Calibri" pitchFamily="34" charset="-122"/>
                <a:cs typeface="Calibri" pitchFamily="34" charset="-120"/>
              </a:rPr>
              <a:t>VLASH — Diploma thesis defense · UITM Rzeszow 2026</a:t>
            </a:r>
            <a:endParaRPr lang="en-US" sz="900" dirty="0"/>
          </a:p>
        </p:txBody>
      </p:sp>
      <p:sp>
        <p:nvSpPr>
          <p:cNvPr id="7" name="Text 5"/>
          <p:cNvSpPr/>
          <p:nvPr/>
        </p:nvSpPr>
        <p:spPr>
          <a:xfrm>
            <a:off x="411480" y="1051560"/>
            <a:ext cx="4114800" cy="68580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Goal: </a:t>
            </a:r>
            <a:pPr indent="0" marL="0">
              <a:buNone/>
            </a:pPr>
            <a:r>
              <a:rPr lang="en-US" sz="1350" dirty="0">
                <a:solidFill>
                  <a:srgbClr val="1A1A2E"/>
                </a:solidFill>
                <a:latin typeface="Calibri" pitchFamily="34" charset="0"/>
                <a:ea typeface="Calibri" pitchFamily="34" charset="-122"/>
                <a:cs typeface="Calibri" pitchFamily="34" charset="-120"/>
              </a:rPr>
              <a:t>isolate the misalignment mechanism and quantify what rollforward buys, with everything else stripped away.</a:t>
            </a:r>
            <a:endParaRPr lang="en-US" sz="1350" dirty="0"/>
          </a:p>
        </p:txBody>
      </p:sp>
      <p:sp>
        <p:nvSpPr>
          <p:cNvPr id="8" name="Shape 6"/>
          <p:cNvSpPr/>
          <p:nvPr/>
        </p:nvSpPr>
        <p:spPr>
          <a:xfrm>
            <a:off x="411480" y="1828800"/>
            <a:ext cx="1234440" cy="475488"/>
          </a:xfrm>
          <a:prstGeom prst="rect">
            <a:avLst/>
          </a:prstGeom>
          <a:solidFill>
            <a:srgbClr val="1E2761"/>
          </a:solidFill>
          <a:ln/>
        </p:spPr>
      </p:sp>
      <p:sp>
        <p:nvSpPr>
          <p:cNvPr id="9" name="Text 7"/>
          <p:cNvSpPr/>
          <p:nvPr/>
        </p:nvSpPr>
        <p:spPr>
          <a:xfrm>
            <a:off x="411480" y="1828800"/>
            <a:ext cx="1234440" cy="47548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Task</a:t>
            </a:r>
            <a:endParaRPr lang="en-US" sz="1100" dirty="0"/>
          </a:p>
        </p:txBody>
      </p:sp>
      <p:sp>
        <p:nvSpPr>
          <p:cNvPr id="10" name="Shape 8"/>
          <p:cNvSpPr/>
          <p:nvPr/>
        </p:nvSpPr>
        <p:spPr>
          <a:xfrm>
            <a:off x="1645920" y="1828800"/>
            <a:ext cx="2880360" cy="475488"/>
          </a:xfrm>
          <a:prstGeom prst="rect">
            <a:avLst/>
          </a:prstGeom>
          <a:solidFill>
            <a:srgbClr val="EAF0FA"/>
          </a:solidFill>
          <a:ln/>
        </p:spPr>
      </p:sp>
      <p:sp>
        <p:nvSpPr>
          <p:cNvPr id="11" name="Text 9"/>
          <p:cNvSpPr/>
          <p:nvPr/>
        </p:nvSpPr>
        <p:spPr>
          <a:xfrm>
            <a:off x="1719072" y="1828800"/>
            <a:ext cx="2788920" cy="475488"/>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2-D reaching; staircase target that jumps, then holds</a:t>
            </a:r>
            <a:endParaRPr lang="en-US" sz="1100" dirty="0"/>
          </a:p>
        </p:txBody>
      </p:sp>
      <p:sp>
        <p:nvSpPr>
          <p:cNvPr id="12" name="Shape 10"/>
          <p:cNvSpPr/>
          <p:nvPr/>
        </p:nvSpPr>
        <p:spPr>
          <a:xfrm>
            <a:off x="411480" y="2395728"/>
            <a:ext cx="1234440" cy="475488"/>
          </a:xfrm>
          <a:prstGeom prst="rect">
            <a:avLst/>
          </a:prstGeom>
          <a:solidFill>
            <a:srgbClr val="1E2761"/>
          </a:solidFill>
          <a:ln/>
        </p:spPr>
      </p:sp>
      <p:sp>
        <p:nvSpPr>
          <p:cNvPr id="13" name="Text 11"/>
          <p:cNvSpPr/>
          <p:nvPr/>
        </p:nvSpPr>
        <p:spPr>
          <a:xfrm>
            <a:off x="411480" y="2395728"/>
            <a:ext cx="1234440" cy="47548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Controllers</a:t>
            </a:r>
            <a:endParaRPr lang="en-US" sz="1100" dirty="0"/>
          </a:p>
        </p:txBody>
      </p:sp>
      <p:sp>
        <p:nvSpPr>
          <p:cNvPr id="14" name="Shape 12"/>
          <p:cNvSpPr/>
          <p:nvPr/>
        </p:nvSpPr>
        <p:spPr>
          <a:xfrm>
            <a:off x="1645920" y="2395728"/>
            <a:ext cx="2880360" cy="475488"/>
          </a:xfrm>
          <a:prstGeom prst="rect">
            <a:avLst/>
          </a:prstGeom>
          <a:solidFill>
            <a:srgbClr val="F4F7FC"/>
          </a:solidFill>
          <a:ln/>
        </p:spPr>
      </p:sp>
      <p:sp>
        <p:nvSpPr>
          <p:cNvPr id="15" name="Text 13"/>
          <p:cNvSpPr/>
          <p:nvPr/>
        </p:nvSpPr>
        <p:spPr>
          <a:xfrm>
            <a:off x="1719072" y="2395728"/>
            <a:ext cx="2788920" cy="475488"/>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Sync · Naive-Async · VLASH (same planner)</a:t>
            </a:r>
            <a:endParaRPr lang="en-US" sz="1100" dirty="0"/>
          </a:p>
        </p:txBody>
      </p:sp>
      <p:sp>
        <p:nvSpPr>
          <p:cNvPr id="16" name="Shape 14"/>
          <p:cNvSpPr/>
          <p:nvPr/>
        </p:nvSpPr>
        <p:spPr>
          <a:xfrm>
            <a:off x="411480" y="2962656"/>
            <a:ext cx="1234440" cy="475488"/>
          </a:xfrm>
          <a:prstGeom prst="rect">
            <a:avLst/>
          </a:prstGeom>
          <a:solidFill>
            <a:srgbClr val="1E2761"/>
          </a:solidFill>
          <a:ln/>
        </p:spPr>
      </p:sp>
      <p:sp>
        <p:nvSpPr>
          <p:cNvPr id="17" name="Text 15"/>
          <p:cNvSpPr/>
          <p:nvPr/>
        </p:nvSpPr>
        <p:spPr>
          <a:xfrm>
            <a:off x="411480" y="2962656"/>
            <a:ext cx="1234440" cy="47548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Injected delay</a:t>
            </a:r>
            <a:endParaRPr lang="en-US" sz="1100" dirty="0"/>
          </a:p>
        </p:txBody>
      </p:sp>
      <p:sp>
        <p:nvSpPr>
          <p:cNvPr id="18" name="Shape 16"/>
          <p:cNvSpPr/>
          <p:nvPr/>
        </p:nvSpPr>
        <p:spPr>
          <a:xfrm>
            <a:off x="1645920" y="2962656"/>
            <a:ext cx="2880360" cy="475488"/>
          </a:xfrm>
          <a:prstGeom prst="rect">
            <a:avLst/>
          </a:prstGeom>
          <a:solidFill>
            <a:srgbClr val="EAF0FA"/>
          </a:solidFill>
          <a:ln/>
        </p:spPr>
      </p:sp>
      <p:sp>
        <p:nvSpPr>
          <p:cNvPr id="19" name="Text 17"/>
          <p:cNvSpPr/>
          <p:nvPr/>
        </p:nvSpPr>
        <p:spPr>
          <a:xfrm>
            <a:off x="1719072" y="2962656"/>
            <a:ext cx="2788920" cy="475488"/>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Δ = 0…4 control steps</a:t>
            </a:r>
            <a:endParaRPr lang="en-US" sz="1100" dirty="0"/>
          </a:p>
        </p:txBody>
      </p:sp>
      <p:sp>
        <p:nvSpPr>
          <p:cNvPr id="20" name="Shape 18"/>
          <p:cNvSpPr/>
          <p:nvPr/>
        </p:nvSpPr>
        <p:spPr>
          <a:xfrm>
            <a:off x="411480" y="3529584"/>
            <a:ext cx="1234440" cy="475488"/>
          </a:xfrm>
          <a:prstGeom prst="rect">
            <a:avLst/>
          </a:prstGeom>
          <a:solidFill>
            <a:srgbClr val="1E2761"/>
          </a:solidFill>
          <a:ln/>
        </p:spPr>
      </p:sp>
      <p:sp>
        <p:nvSpPr>
          <p:cNvPr id="21" name="Text 19"/>
          <p:cNvSpPr/>
          <p:nvPr/>
        </p:nvSpPr>
        <p:spPr>
          <a:xfrm>
            <a:off x="411480" y="3529584"/>
            <a:ext cx="1234440" cy="47548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Rigour</a:t>
            </a:r>
            <a:endParaRPr lang="en-US" sz="1100" dirty="0"/>
          </a:p>
        </p:txBody>
      </p:sp>
      <p:sp>
        <p:nvSpPr>
          <p:cNvPr id="22" name="Shape 20"/>
          <p:cNvSpPr/>
          <p:nvPr/>
        </p:nvSpPr>
        <p:spPr>
          <a:xfrm>
            <a:off x="1645920" y="3529584"/>
            <a:ext cx="2880360" cy="475488"/>
          </a:xfrm>
          <a:prstGeom prst="rect">
            <a:avLst/>
          </a:prstGeom>
          <a:solidFill>
            <a:srgbClr val="F4F7FC"/>
          </a:solidFill>
          <a:ln/>
        </p:spPr>
      </p:sp>
      <p:sp>
        <p:nvSpPr>
          <p:cNvPr id="23" name="Text 21"/>
          <p:cNvSpPr/>
          <p:nvPr/>
        </p:nvSpPr>
        <p:spPr>
          <a:xfrm>
            <a:off x="1719072" y="3529584"/>
            <a:ext cx="2788920" cy="475488"/>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50 seeded trials per setting, ±1 SD error bars</a:t>
            </a:r>
            <a:endParaRPr lang="en-US" sz="1100" dirty="0"/>
          </a:p>
        </p:txBody>
      </p:sp>
      <p:sp>
        <p:nvSpPr>
          <p:cNvPr id="24" name="Shape 22"/>
          <p:cNvSpPr/>
          <p:nvPr/>
        </p:nvSpPr>
        <p:spPr>
          <a:xfrm>
            <a:off x="411480" y="4096512"/>
            <a:ext cx="1234440" cy="475488"/>
          </a:xfrm>
          <a:prstGeom prst="rect">
            <a:avLst/>
          </a:prstGeom>
          <a:solidFill>
            <a:srgbClr val="1E2761"/>
          </a:solidFill>
          <a:ln/>
        </p:spPr>
      </p:sp>
      <p:sp>
        <p:nvSpPr>
          <p:cNvPr id="25" name="Text 23"/>
          <p:cNvSpPr/>
          <p:nvPr/>
        </p:nvSpPr>
        <p:spPr>
          <a:xfrm>
            <a:off x="411480" y="4096512"/>
            <a:ext cx="1234440" cy="47548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Metrics</a:t>
            </a:r>
            <a:endParaRPr lang="en-US" sz="1100" dirty="0"/>
          </a:p>
        </p:txBody>
      </p:sp>
      <p:sp>
        <p:nvSpPr>
          <p:cNvPr id="26" name="Shape 24"/>
          <p:cNvSpPr/>
          <p:nvPr/>
        </p:nvSpPr>
        <p:spPr>
          <a:xfrm>
            <a:off x="1645920" y="4096512"/>
            <a:ext cx="2880360" cy="475488"/>
          </a:xfrm>
          <a:prstGeom prst="rect">
            <a:avLst/>
          </a:prstGeom>
          <a:solidFill>
            <a:srgbClr val="EAF0FA"/>
          </a:solidFill>
          <a:ln/>
        </p:spPr>
      </p:sp>
      <p:sp>
        <p:nvSpPr>
          <p:cNvPr id="27" name="Text 25"/>
          <p:cNvSpPr/>
          <p:nvPr/>
        </p:nvSpPr>
        <p:spPr>
          <a:xfrm>
            <a:off x="1719072" y="4096512"/>
            <a:ext cx="2788920" cy="475488"/>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misalignment ε, success rate, tracking error, jerk</a:t>
            </a:r>
            <a:endParaRPr lang="en-US" sz="1100" dirty="0"/>
          </a:p>
        </p:txBody>
      </p:sp>
      <p:pic>
        <p:nvPicPr>
          <p:cNvPr id="28" name="Image 0" descr="/sessions/youthful-sweet-hopper/mnt/vlash/simulation/results/fig_trajectory.png">    </p:cNvPr>
          <p:cNvPicPr>
            <a:picLocks noChangeAspect="1"/>
          </p:cNvPicPr>
          <p:nvPr/>
        </p:nvPicPr>
        <p:blipFill>
          <a:blip r:embed="rId1"/>
          <a:stretch>
            <a:fillRect/>
          </a:stretch>
        </p:blipFill>
        <p:spPr>
          <a:xfrm>
            <a:off x="4709160" y="1188720"/>
            <a:ext cx="4114800" cy="2002536"/>
          </a:xfrm>
          <a:prstGeom prst="rect">
            <a:avLst/>
          </a:prstGeom>
        </p:spPr>
      </p:pic>
      <p:sp>
        <p:nvSpPr>
          <p:cNvPr id="29" name="Text 26"/>
          <p:cNvSpPr/>
          <p:nvPr/>
        </p:nvSpPr>
        <p:spPr>
          <a:xfrm>
            <a:off x="4709160" y="3246120"/>
            <a:ext cx="4114800" cy="274320"/>
          </a:xfrm>
          <a:prstGeom prst="rect">
            <a:avLst/>
          </a:prstGeom>
          <a:noFill/>
          <a:ln/>
        </p:spPr>
        <p:txBody>
          <a:bodyPr wrap="square" rtlCol="0" anchor="ctr"/>
          <a:lstStyle/>
          <a:p>
            <a:pPr algn="ctr" indent="0" marL="0">
              <a:buNone/>
            </a:pPr>
            <a:r>
              <a:rPr lang="en-US" sz="1000" i="1" dirty="0">
                <a:solidFill>
                  <a:srgbClr val="5A6478"/>
                </a:solidFill>
                <a:latin typeface="Calibri" pitchFamily="34" charset="0"/>
                <a:ea typeface="Calibri" pitchFamily="34" charset="-122"/>
                <a:cs typeface="Calibri" pitchFamily="34" charset="-120"/>
              </a:rPr>
              <a:t>Naive overshoots each jump; VLASH settles cleanly (Fig. 8)</a:t>
            </a:r>
            <a:endParaRPr lang="en-US" sz="1000" dirty="0"/>
          </a:p>
        </p:txBody>
      </p:sp>
      <p:sp>
        <p:nvSpPr>
          <p:cNvPr id="30" name="Shape 27"/>
          <p:cNvSpPr/>
          <p:nvPr/>
        </p:nvSpPr>
        <p:spPr>
          <a:xfrm>
            <a:off x="4709160" y="3657600"/>
            <a:ext cx="4114800" cy="777240"/>
          </a:xfrm>
          <a:prstGeom prst="roundRect">
            <a:avLst>
              <a:gd name="adj" fmla="val 7059"/>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31" name="Text 28"/>
          <p:cNvSpPr/>
          <p:nvPr/>
        </p:nvSpPr>
        <p:spPr>
          <a:xfrm>
            <a:off x="4846320" y="3730752"/>
            <a:ext cx="3840480" cy="64008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Fully reproducible: </a:t>
            </a:r>
            <a:pPr indent="0" marL="0">
              <a:buNone/>
            </a:pPr>
            <a:r>
              <a:rPr lang="en-US" sz="1150" dirty="0">
                <a:solidFill>
                  <a:srgbClr val="1A1A2E"/>
                </a:solidFill>
                <a:latin typeface="Calibri" pitchFamily="34" charset="0"/>
                <a:ea typeface="Calibri" pitchFamily="34" charset="-122"/>
                <a:cs typeface="Calibri" pitchFamily="34" charset="-120"/>
              </a:rPr>
              <a:t>one seed, CPU-only, runs in under a minute; all figures and CSVs regenerate exactly.</a:t>
            </a:r>
            <a:endParaRPr lang="en-US" sz="1150" dirty="0"/>
          </a:p>
        </p:txBody>
      </p:sp>
    </p:spTree>
  </p:cSld>
  <p:clrMapOvr>
    <a:masterClrMapping/>
  </p:clrMapOvr>
  <p:transition spd="med" dur="400">
    <p:fade/>
  </p:transition>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500"/>
                      </p:stCondLst>
                      <p:childTnLst>
                        <p:par>
                          <p:cTn id="9" fill="hold">
                            <p:stCondLst>
                              <p:cond delay="0"/>
                            </p:stCondLst>
                            <p:childTnLst>
                              <p:par>
                                <p:cTn id="10" presetID="10" presetClass="entr" presetSubtype="0" fill="hold" grpId="1" nodeType="afterEffect">
                                  <p:stCondLst>
                                    <p:cond delay="0"/>
                                  </p:stCondLst>
                                  <p:childTnLst>
                                    <p:set>
                                      <p:cBhvr>
                                        <p:cTn id="11" dur="1" fill="hold"/>
                                        <p:tgtEl>
                                          <p:spTgt spid="3"/>
                                        </p:tgtEl>
                                        <p:attrNameLst>
                                          <p:attrName>style.visibility</p:attrName>
                                        </p:attrNameLst>
                                      </p:cBhvr>
                                      <p:to>
                                        <p:strVal val="visible"/>
                                      </p:to>
                                    </p:set>
                                    <p:animEffect transition="in" filter="fade">
                                      <p:cBhvr>
                                        <p:cTn id="12" dur="400"/>
                                        <p:tgtEl>
                                          <p:spTgt spid="3"/>
                                        </p:tgtEl>
                                      </p:cBhvr>
                                    </p:animEffect>
                                  </p:childTnLst>
                                </p:cTn>
                              </p:par>
                            </p:childTnLst>
                          </p:cTn>
                        </p:par>
                      </p:childTnLst>
                    </p:cTn>
                  </p:par>
                  <p:par>
                    <p:cTn id="13" fill="hold">
                      <p:stCondLst>
                        <p:cond delay="500"/>
                      </p:stCondLst>
                      <p:childTnLst>
                        <p:par>
                          <p:cTn id="14" fill="hold">
                            <p:stCondLst>
                              <p:cond delay="0"/>
                            </p:stCondLst>
                            <p:childTnLst>
                              <p:par>
                                <p:cTn id="15" presetID="10" presetClass="entr" presetSubtype="0" fill="hold" grpId="2" nodeType="afterEffect">
                                  <p:stCondLst>
                                    <p:cond delay="0"/>
                                  </p:stCondLst>
                                  <p:childTnLst>
                                    <p:set>
                                      <p:cBhvr>
                                        <p:cTn id="16" dur="1" fill="hold"/>
                                        <p:tgtEl>
                                          <p:spTgt spid="4"/>
                                        </p:tgtEl>
                                        <p:attrNameLst>
                                          <p:attrName>style.visibility</p:attrName>
                                        </p:attrNameLst>
                                      </p:cBhvr>
                                      <p:to>
                                        <p:strVal val="visible"/>
                                      </p:to>
                                    </p:set>
                                    <p:animEffect transition="in" filter="fade">
                                      <p:cBhvr>
                                        <p:cTn id="17" dur="400"/>
                                        <p:tgtEl>
                                          <p:spTgt spid="4"/>
                                        </p:tgtEl>
                                      </p:cBhvr>
                                    </p:animEffect>
                                  </p:childTnLst>
                                </p:cTn>
                              </p:par>
                            </p:childTnLst>
                          </p:cTn>
                        </p:par>
                      </p:childTnLst>
                    </p:cTn>
                  </p:par>
                  <p:par>
                    <p:cTn id="18" fill="hold">
                      <p:stCondLst>
                        <p:cond delay="500"/>
                      </p:stCondLst>
                      <p:childTnLst>
                        <p:par>
                          <p:cTn id="19" fill="hold">
                            <p:stCondLst>
                              <p:cond delay="0"/>
                            </p:stCondLst>
                            <p:childTnLst>
                              <p:par>
                                <p:cTn id="20" presetID="10" presetClass="entr" presetSubtype="0" fill="hold" grpId="3" nodeType="afterEffect">
                                  <p:stCondLst>
                                    <p:cond delay="0"/>
                                  </p:stCondLst>
                                  <p:childTnLst>
                                    <p:set>
                                      <p:cBhvr>
                                        <p:cTn id="21" dur="1" fill="hold"/>
                                        <p:tgtEl>
                                          <p:spTgt spid="5"/>
                                        </p:tgtEl>
                                        <p:attrNameLst>
                                          <p:attrName>style.visibility</p:attrName>
                                        </p:attrNameLst>
                                      </p:cBhvr>
                                      <p:to>
                                        <p:strVal val="visible"/>
                                      </p:to>
                                    </p:set>
                                    <p:animEffect transition="in" filter="fade">
                                      <p:cBhvr>
                                        <p:cTn id="22" dur="400"/>
                                        <p:tgtEl>
                                          <p:spTgt spid="5"/>
                                        </p:tgtEl>
                                      </p:cBhvr>
                                    </p:animEffect>
                                  </p:childTnLst>
                                </p:cTn>
                              </p:par>
                            </p:childTnLst>
                          </p:cTn>
                        </p:par>
                      </p:childTnLst>
                    </p:cTn>
                  </p:par>
                  <p:par>
                    <p:cTn id="23" fill="hold">
                      <p:stCondLst>
                        <p:cond delay="500"/>
                      </p:stCondLst>
                      <p:childTnLst>
                        <p:par>
                          <p:cTn id="24" fill="hold">
                            <p:stCondLst>
                              <p:cond delay="0"/>
                            </p:stCondLst>
                            <p:childTnLst>
                              <p:par>
                                <p:cTn id="25" presetID="10" presetClass="entr" presetSubtype="0" fill="hold" grpId="4" nodeType="afterEffect">
                                  <p:stCondLst>
                                    <p:cond delay="0"/>
                                  </p:stCondLst>
                                  <p:childTnLst>
                                    <p:set>
                                      <p:cBhvr>
                                        <p:cTn id="26" dur="1" fill="hold"/>
                                        <p:tgtEl>
                                          <p:spTgt spid="6"/>
                                        </p:tgtEl>
                                        <p:attrNameLst>
                                          <p:attrName>style.visibility</p:attrName>
                                        </p:attrNameLst>
                                      </p:cBhvr>
                                      <p:to>
                                        <p:strVal val="visible"/>
                                      </p:to>
                                    </p:set>
                                    <p:animEffect transition="in" filter="fade">
                                      <p:cBhvr>
                                        <p:cTn id="27" dur="400"/>
                                        <p:tgtEl>
                                          <p:spTgt spid="6"/>
                                        </p:tgtEl>
                                      </p:cBhvr>
                                    </p:animEffect>
                                  </p:childTnLst>
                                </p:cTn>
                              </p:par>
                            </p:childTnLst>
                          </p:cTn>
                        </p:par>
                      </p:childTnLst>
                    </p:cTn>
                  </p:par>
                  <p:par>
                    <p:cTn id="28" fill="hold">
                      <p:stCondLst>
                        <p:cond delay="500"/>
                      </p:stCondLst>
                      <p:childTnLst>
                        <p:par>
                          <p:cTn id="29" fill="hold">
                            <p:stCondLst>
                              <p:cond delay="0"/>
                            </p:stCondLst>
                            <p:childTnLst>
                              <p:par>
                                <p:cTn id="30" presetID="10" presetClass="entr" presetSubtype="0" fill="hold" grpId="5" nodeType="afterEffect">
                                  <p:stCondLst>
                                    <p:cond delay="0"/>
                                  </p:stCondLst>
                                  <p:childTnLst>
                                    <p:set>
                                      <p:cBhvr>
                                        <p:cTn id="31" dur="1" fill="hold"/>
                                        <p:tgtEl>
                                          <p:spTgt spid="7"/>
                                        </p:tgtEl>
                                        <p:attrNameLst>
                                          <p:attrName>style.visibility</p:attrName>
                                        </p:attrNameLst>
                                      </p:cBhvr>
                                      <p:to>
                                        <p:strVal val="visible"/>
                                      </p:to>
                                    </p:set>
                                    <p:animEffect transition="in" filter="fade">
                                      <p:cBhvr>
                                        <p:cTn id="32" dur="400"/>
                                        <p:tgtEl>
                                          <p:spTgt spid="7"/>
                                        </p:tgtEl>
                                      </p:cBhvr>
                                    </p:animEffect>
                                  </p:childTnLst>
                                </p:cTn>
                              </p:par>
                            </p:childTnLst>
                          </p:cTn>
                        </p:par>
                      </p:childTnLst>
                    </p:cTn>
                  </p:par>
                  <p:par>
                    <p:cTn id="33" fill="hold">
                      <p:stCondLst>
                        <p:cond delay="500"/>
                      </p:stCondLst>
                      <p:childTnLst>
                        <p:par>
                          <p:cTn id="34" fill="hold">
                            <p:stCondLst>
                              <p:cond delay="0"/>
                            </p:stCondLst>
                            <p:childTnLst>
                              <p:par>
                                <p:cTn id="35" presetID="10" presetClass="entr" presetSubtype="0" fill="hold" grpId="6" nodeType="afterEffect">
                                  <p:stCondLst>
                                    <p:cond delay="0"/>
                                  </p:stCondLst>
                                  <p:childTnLst>
                                    <p:set>
                                      <p:cBhvr>
                                        <p:cTn id="36" dur="1" fill="hold"/>
                                        <p:tgtEl>
                                          <p:spTgt spid="8"/>
                                        </p:tgtEl>
                                        <p:attrNameLst>
                                          <p:attrName>style.visibility</p:attrName>
                                        </p:attrNameLst>
                                      </p:cBhvr>
                                      <p:to>
                                        <p:strVal val="visible"/>
                                      </p:to>
                                    </p:set>
                                    <p:animEffect transition="in" filter="fade">
                                      <p:cBhvr>
                                        <p:cTn id="37" dur="400"/>
                                        <p:tgtEl>
                                          <p:spTgt spid="8"/>
                                        </p:tgtEl>
                                      </p:cBhvr>
                                    </p:animEffect>
                                  </p:childTnLst>
                                </p:cTn>
                              </p:par>
                            </p:childTnLst>
                          </p:cTn>
                        </p:par>
                      </p:childTnLst>
                    </p:cTn>
                  </p:par>
                  <p:par>
                    <p:cTn id="38" fill="hold">
                      <p:stCondLst>
                        <p:cond delay="500"/>
                      </p:stCondLst>
                      <p:childTnLst>
                        <p:par>
                          <p:cTn id="39" fill="hold">
                            <p:stCondLst>
                              <p:cond delay="0"/>
                            </p:stCondLst>
                            <p:childTnLst>
                              <p:par>
                                <p:cTn id="40" presetID="10" presetClass="entr" presetSubtype="0" fill="hold" grpId="7" nodeType="afterEffect">
                                  <p:stCondLst>
                                    <p:cond delay="0"/>
                                  </p:stCondLst>
                                  <p:childTnLst>
                                    <p:set>
                                      <p:cBhvr>
                                        <p:cTn id="41" dur="1" fill="hold"/>
                                        <p:tgtEl>
                                          <p:spTgt spid="9"/>
                                        </p:tgtEl>
                                        <p:attrNameLst>
                                          <p:attrName>style.visibility</p:attrName>
                                        </p:attrNameLst>
                                      </p:cBhvr>
                                      <p:to>
                                        <p:strVal val="visible"/>
                                      </p:to>
                                    </p:set>
                                    <p:animEffect transition="in" filter="fade">
                                      <p:cBhvr>
                                        <p:cTn id="42" dur="400"/>
                                        <p:tgtEl>
                                          <p:spTgt spid="9"/>
                                        </p:tgtEl>
                                      </p:cBhvr>
                                    </p:animEffect>
                                  </p:childTnLst>
                                </p:cTn>
                              </p:par>
                            </p:childTnLst>
                          </p:cTn>
                        </p:par>
                      </p:childTnLst>
                    </p:cTn>
                  </p:par>
                  <p:par>
                    <p:cTn id="43" fill="hold">
                      <p:stCondLst>
                        <p:cond delay="500"/>
                      </p:stCondLst>
                      <p:childTnLst>
                        <p:par>
                          <p:cTn id="44" fill="hold">
                            <p:stCondLst>
                              <p:cond delay="0"/>
                            </p:stCondLst>
                            <p:childTnLst>
                              <p:par>
                                <p:cTn id="45" presetID="10" presetClass="entr" presetSubtype="0" fill="hold" grpId="8" nodeType="afterEffect">
                                  <p:stCondLst>
                                    <p:cond delay="0"/>
                                  </p:stCondLst>
                                  <p:childTnLst>
                                    <p:set>
                                      <p:cBhvr>
                                        <p:cTn id="46" dur="1" fill="hold"/>
                                        <p:tgtEl>
                                          <p:spTgt spid="10"/>
                                        </p:tgtEl>
                                        <p:attrNameLst>
                                          <p:attrName>style.visibility</p:attrName>
                                        </p:attrNameLst>
                                      </p:cBhvr>
                                      <p:to>
                                        <p:strVal val="visible"/>
                                      </p:to>
                                    </p:set>
                                    <p:animEffect transition="in" filter="fade">
                                      <p:cBhvr>
                                        <p:cTn id="47" dur="400"/>
                                        <p:tgtEl>
                                          <p:spTgt spid="10"/>
                                        </p:tgtEl>
                                      </p:cBhvr>
                                    </p:animEffect>
                                  </p:childTnLst>
                                </p:cTn>
                              </p:par>
                            </p:childTnLst>
                          </p:cTn>
                        </p:par>
                      </p:childTnLst>
                    </p:cTn>
                  </p:par>
                  <p:par>
                    <p:cTn id="48" fill="hold">
                      <p:stCondLst>
                        <p:cond delay="500"/>
                      </p:stCondLst>
                      <p:childTnLst>
                        <p:par>
                          <p:cTn id="49" fill="hold">
                            <p:stCondLst>
                              <p:cond delay="0"/>
                            </p:stCondLst>
                            <p:childTnLst>
                              <p:par>
                                <p:cTn id="50" presetID="10" presetClass="entr" presetSubtype="0" fill="hold" grpId="9" nodeType="afterEffect">
                                  <p:stCondLst>
                                    <p:cond delay="0"/>
                                  </p:stCondLst>
                                  <p:childTnLst>
                                    <p:set>
                                      <p:cBhvr>
                                        <p:cTn id="51" dur="1" fill="hold"/>
                                        <p:tgtEl>
                                          <p:spTgt spid="11"/>
                                        </p:tgtEl>
                                        <p:attrNameLst>
                                          <p:attrName>style.visibility</p:attrName>
                                        </p:attrNameLst>
                                      </p:cBhvr>
                                      <p:to>
                                        <p:strVal val="visible"/>
                                      </p:to>
                                    </p:set>
                                    <p:animEffect transition="in" filter="fade">
                                      <p:cBhvr>
                                        <p:cTn id="52" dur="400"/>
                                        <p:tgtEl>
                                          <p:spTgt spid="11"/>
                                        </p:tgtEl>
                                      </p:cBhvr>
                                    </p:animEffect>
                                  </p:childTnLst>
                                </p:cTn>
                              </p:par>
                            </p:childTnLst>
                          </p:cTn>
                        </p:par>
                      </p:childTnLst>
                    </p:cTn>
                  </p:par>
                  <p:par>
                    <p:cTn id="53" fill="hold">
                      <p:stCondLst>
                        <p:cond delay="500"/>
                      </p:stCondLst>
                      <p:childTnLst>
                        <p:par>
                          <p:cTn id="54" fill="hold">
                            <p:stCondLst>
                              <p:cond delay="0"/>
                            </p:stCondLst>
                            <p:childTnLst>
                              <p:par>
                                <p:cTn id="55" presetID="10" presetClass="entr" presetSubtype="0" fill="hold" grpId="10" nodeType="afterEffect">
                                  <p:stCondLst>
                                    <p:cond delay="0"/>
                                  </p:stCondLst>
                                  <p:childTnLst>
                                    <p:set>
                                      <p:cBhvr>
                                        <p:cTn id="56" dur="1" fill="hold"/>
                                        <p:tgtEl>
                                          <p:spTgt spid="12"/>
                                        </p:tgtEl>
                                        <p:attrNameLst>
                                          <p:attrName>style.visibility</p:attrName>
                                        </p:attrNameLst>
                                      </p:cBhvr>
                                      <p:to>
                                        <p:strVal val="visible"/>
                                      </p:to>
                                    </p:set>
                                    <p:animEffect transition="in" filter="fade">
                                      <p:cBhvr>
                                        <p:cTn id="57" dur="400"/>
                                        <p:tgtEl>
                                          <p:spTgt spid="12"/>
                                        </p:tgtEl>
                                      </p:cBhvr>
                                    </p:animEffect>
                                  </p:childTnLst>
                                </p:cTn>
                              </p:par>
                            </p:childTnLst>
                          </p:cTn>
                        </p:par>
                      </p:childTnLst>
                    </p:cTn>
                  </p:par>
                  <p:par>
                    <p:cTn id="58" fill="hold">
                      <p:stCondLst>
                        <p:cond delay="500"/>
                      </p:stCondLst>
                      <p:childTnLst>
                        <p:par>
                          <p:cTn id="59" fill="hold">
                            <p:stCondLst>
                              <p:cond delay="0"/>
                            </p:stCondLst>
                            <p:childTnLst>
                              <p:par>
                                <p:cTn id="60" presetID="10" presetClass="entr" presetSubtype="0" fill="hold" grpId="11" nodeType="afterEffect">
                                  <p:stCondLst>
                                    <p:cond delay="0"/>
                                  </p:stCondLst>
                                  <p:childTnLst>
                                    <p:set>
                                      <p:cBhvr>
                                        <p:cTn id="61" dur="1" fill="hold"/>
                                        <p:tgtEl>
                                          <p:spTgt spid="13"/>
                                        </p:tgtEl>
                                        <p:attrNameLst>
                                          <p:attrName>style.visibility</p:attrName>
                                        </p:attrNameLst>
                                      </p:cBhvr>
                                      <p:to>
                                        <p:strVal val="visible"/>
                                      </p:to>
                                    </p:set>
                                    <p:animEffect transition="in" filter="fade">
                                      <p:cBhvr>
                                        <p:cTn id="62" dur="400"/>
                                        <p:tgtEl>
                                          <p:spTgt spid="13"/>
                                        </p:tgtEl>
                                      </p:cBhvr>
                                    </p:animEffect>
                                  </p:childTnLst>
                                </p:cTn>
                              </p:par>
                            </p:childTnLst>
                          </p:cTn>
                        </p:par>
                      </p:childTnLst>
                    </p:cTn>
                  </p:par>
                  <p:par>
                    <p:cTn id="63" fill="hold">
                      <p:stCondLst>
                        <p:cond delay="500"/>
                      </p:stCondLst>
                      <p:childTnLst>
                        <p:par>
                          <p:cTn id="64" fill="hold">
                            <p:stCondLst>
                              <p:cond delay="0"/>
                            </p:stCondLst>
                            <p:childTnLst>
                              <p:par>
                                <p:cTn id="65" presetID="10" presetClass="entr" presetSubtype="0" fill="hold" grpId="12" nodeType="afterEffect">
                                  <p:stCondLst>
                                    <p:cond delay="0"/>
                                  </p:stCondLst>
                                  <p:childTnLst>
                                    <p:set>
                                      <p:cBhvr>
                                        <p:cTn id="66" dur="1" fill="hold"/>
                                        <p:tgtEl>
                                          <p:spTgt spid="14"/>
                                        </p:tgtEl>
                                        <p:attrNameLst>
                                          <p:attrName>style.visibility</p:attrName>
                                        </p:attrNameLst>
                                      </p:cBhvr>
                                      <p:to>
                                        <p:strVal val="visible"/>
                                      </p:to>
                                    </p:set>
                                    <p:animEffect transition="in" filter="fade">
                                      <p:cBhvr>
                                        <p:cTn id="67" dur="400"/>
                                        <p:tgtEl>
                                          <p:spTgt spid="14"/>
                                        </p:tgtEl>
                                      </p:cBhvr>
                                    </p:animEffect>
                                  </p:childTnLst>
                                </p:cTn>
                              </p:par>
                            </p:childTnLst>
                          </p:cTn>
                        </p:par>
                      </p:childTnLst>
                    </p:cTn>
                  </p:par>
                  <p:par>
                    <p:cTn id="68" fill="hold">
                      <p:stCondLst>
                        <p:cond delay="500"/>
                      </p:stCondLst>
                      <p:childTnLst>
                        <p:par>
                          <p:cTn id="69" fill="hold">
                            <p:stCondLst>
                              <p:cond delay="0"/>
                            </p:stCondLst>
                            <p:childTnLst>
                              <p:par>
                                <p:cTn id="70" presetID="10" presetClass="entr" presetSubtype="0" fill="hold" grpId="13" nodeType="afterEffect">
                                  <p:stCondLst>
                                    <p:cond delay="0"/>
                                  </p:stCondLst>
                                  <p:childTnLst>
                                    <p:set>
                                      <p:cBhvr>
                                        <p:cTn id="71" dur="1" fill="hold"/>
                                        <p:tgtEl>
                                          <p:spTgt spid="15"/>
                                        </p:tgtEl>
                                        <p:attrNameLst>
                                          <p:attrName>style.visibility</p:attrName>
                                        </p:attrNameLst>
                                      </p:cBhvr>
                                      <p:to>
                                        <p:strVal val="visible"/>
                                      </p:to>
                                    </p:set>
                                    <p:animEffect transition="in" filter="fade">
                                      <p:cBhvr>
                                        <p:cTn id="72" dur="400"/>
                                        <p:tgtEl>
                                          <p:spTgt spid="15"/>
                                        </p:tgtEl>
                                      </p:cBhvr>
                                    </p:animEffect>
                                  </p:childTnLst>
                                </p:cTn>
                              </p:par>
                            </p:childTnLst>
                          </p:cTn>
                        </p:par>
                      </p:childTnLst>
                    </p:cTn>
                  </p:par>
                  <p:par>
                    <p:cTn id="73" fill="hold">
                      <p:stCondLst>
                        <p:cond delay="500"/>
                      </p:stCondLst>
                      <p:childTnLst>
                        <p:par>
                          <p:cTn id="74" fill="hold">
                            <p:stCondLst>
                              <p:cond delay="0"/>
                            </p:stCondLst>
                            <p:childTnLst>
                              <p:par>
                                <p:cTn id="75" presetID="10" presetClass="entr" presetSubtype="0" fill="hold" grpId="14" nodeType="afterEffect">
                                  <p:stCondLst>
                                    <p:cond delay="0"/>
                                  </p:stCondLst>
                                  <p:childTnLst>
                                    <p:set>
                                      <p:cBhvr>
                                        <p:cTn id="76" dur="1" fill="hold"/>
                                        <p:tgtEl>
                                          <p:spTgt spid="16"/>
                                        </p:tgtEl>
                                        <p:attrNameLst>
                                          <p:attrName>style.visibility</p:attrName>
                                        </p:attrNameLst>
                                      </p:cBhvr>
                                      <p:to>
                                        <p:strVal val="visible"/>
                                      </p:to>
                                    </p:set>
                                    <p:animEffect transition="in" filter="fade">
                                      <p:cBhvr>
                                        <p:cTn id="77" dur="400"/>
                                        <p:tgtEl>
                                          <p:spTgt spid="16"/>
                                        </p:tgtEl>
                                      </p:cBhvr>
                                    </p:animEffect>
                                  </p:childTnLst>
                                </p:cTn>
                              </p:par>
                            </p:childTnLst>
                          </p:cTn>
                        </p:par>
                      </p:childTnLst>
                    </p:cTn>
                  </p:par>
                  <p:par>
                    <p:cTn id="78" fill="hold">
                      <p:stCondLst>
                        <p:cond delay="500"/>
                      </p:stCondLst>
                      <p:childTnLst>
                        <p:par>
                          <p:cTn id="79" fill="hold">
                            <p:stCondLst>
                              <p:cond delay="0"/>
                            </p:stCondLst>
                            <p:childTnLst>
                              <p:par>
                                <p:cTn id="80" presetID="10" presetClass="entr" presetSubtype="0" fill="hold" grpId="15" nodeType="afterEffect">
                                  <p:stCondLst>
                                    <p:cond delay="0"/>
                                  </p:stCondLst>
                                  <p:childTnLst>
                                    <p:set>
                                      <p:cBhvr>
                                        <p:cTn id="81" dur="1" fill="hold"/>
                                        <p:tgtEl>
                                          <p:spTgt spid="17"/>
                                        </p:tgtEl>
                                        <p:attrNameLst>
                                          <p:attrName>style.visibility</p:attrName>
                                        </p:attrNameLst>
                                      </p:cBhvr>
                                      <p:to>
                                        <p:strVal val="visible"/>
                                      </p:to>
                                    </p:set>
                                    <p:animEffect transition="in" filter="fade">
                                      <p:cBhvr>
                                        <p:cTn id="82" dur="400"/>
                                        <p:tgtEl>
                                          <p:spTgt spid="17"/>
                                        </p:tgtEl>
                                      </p:cBhvr>
                                    </p:animEffect>
                                  </p:childTnLst>
                                </p:cTn>
                              </p:par>
                            </p:childTnLst>
                          </p:cTn>
                        </p:par>
                      </p:childTnLst>
                    </p:cTn>
                  </p:par>
                  <p:par>
                    <p:cTn id="83" fill="hold">
                      <p:stCondLst>
                        <p:cond delay="500"/>
                      </p:stCondLst>
                      <p:childTnLst>
                        <p:par>
                          <p:cTn id="84" fill="hold">
                            <p:stCondLst>
                              <p:cond delay="0"/>
                            </p:stCondLst>
                            <p:childTnLst>
                              <p:par>
                                <p:cTn id="85" presetID="10" presetClass="entr" presetSubtype="0" fill="hold" grpId="16" nodeType="afterEffect">
                                  <p:stCondLst>
                                    <p:cond delay="0"/>
                                  </p:stCondLst>
                                  <p:childTnLst>
                                    <p:set>
                                      <p:cBhvr>
                                        <p:cTn id="86" dur="1" fill="hold"/>
                                        <p:tgtEl>
                                          <p:spTgt spid="18"/>
                                        </p:tgtEl>
                                        <p:attrNameLst>
                                          <p:attrName>style.visibility</p:attrName>
                                        </p:attrNameLst>
                                      </p:cBhvr>
                                      <p:to>
                                        <p:strVal val="visible"/>
                                      </p:to>
                                    </p:set>
                                    <p:animEffect transition="in" filter="fade">
                                      <p:cBhvr>
                                        <p:cTn id="87" dur="400"/>
                                        <p:tgtEl>
                                          <p:spTgt spid="18"/>
                                        </p:tgtEl>
                                      </p:cBhvr>
                                    </p:animEffect>
                                  </p:childTnLst>
                                </p:cTn>
                              </p:par>
                            </p:childTnLst>
                          </p:cTn>
                        </p:par>
                      </p:childTnLst>
                    </p:cTn>
                  </p:par>
                  <p:par>
                    <p:cTn id="88" fill="hold">
                      <p:stCondLst>
                        <p:cond delay="500"/>
                      </p:stCondLst>
                      <p:childTnLst>
                        <p:par>
                          <p:cTn id="89" fill="hold">
                            <p:stCondLst>
                              <p:cond delay="0"/>
                            </p:stCondLst>
                            <p:childTnLst>
                              <p:par>
                                <p:cTn id="90" presetID="10" presetClass="entr" presetSubtype="0" fill="hold" grpId="17" nodeType="afterEffect">
                                  <p:stCondLst>
                                    <p:cond delay="0"/>
                                  </p:stCondLst>
                                  <p:childTnLst>
                                    <p:set>
                                      <p:cBhvr>
                                        <p:cTn id="91" dur="1" fill="hold"/>
                                        <p:tgtEl>
                                          <p:spTgt spid="19"/>
                                        </p:tgtEl>
                                        <p:attrNameLst>
                                          <p:attrName>style.visibility</p:attrName>
                                        </p:attrNameLst>
                                      </p:cBhvr>
                                      <p:to>
                                        <p:strVal val="visible"/>
                                      </p:to>
                                    </p:set>
                                    <p:animEffect transition="in" filter="fade">
                                      <p:cBhvr>
                                        <p:cTn id="92" dur="400"/>
                                        <p:tgtEl>
                                          <p:spTgt spid="19"/>
                                        </p:tgtEl>
                                      </p:cBhvr>
                                    </p:animEffect>
                                  </p:childTnLst>
                                </p:cTn>
                              </p:par>
                            </p:childTnLst>
                          </p:cTn>
                        </p:par>
                      </p:childTnLst>
                    </p:cTn>
                  </p:par>
                  <p:par>
                    <p:cTn id="93" fill="hold">
                      <p:stCondLst>
                        <p:cond delay="500"/>
                      </p:stCondLst>
                      <p:childTnLst>
                        <p:par>
                          <p:cTn id="94" fill="hold">
                            <p:stCondLst>
                              <p:cond delay="0"/>
                            </p:stCondLst>
                            <p:childTnLst>
                              <p:par>
                                <p:cTn id="95" presetID="10" presetClass="entr" presetSubtype="0" fill="hold" grpId="18" nodeType="afterEffect">
                                  <p:stCondLst>
                                    <p:cond delay="0"/>
                                  </p:stCondLst>
                                  <p:childTnLst>
                                    <p:set>
                                      <p:cBhvr>
                                        <p:cTn id="96" dur="1" fill="hold"/>
                                        <p:tgtEl>
                                          <p:spTgt spid="20"/>
                                        </p:tgtEl>
                                        <p:attrNameLst>
                                          <p:attrName>style.visibility</p:attrName>
                                        </p:attrNameLst>
                                      </p:cBhvr>
                                      <p:to>
                                        <p:strVal val="visible"/>
                                      </p:to>
                                    </p:set>
                                    <p:animEffect transition="in" filter="fade">
                                      <p:cBhvr>
                                        <p:cTn id="97" dur="400"/>
                                        <p:tgtEl>
                                          <p:spTgt spid="20"/>
                                        </p:tgtEl>
                                      </p:cBhvr>
                                    </p:animEffect>
                                  </p:childTnLst>
                                </p:cTn>
                              </p:par>
                            </p:childTnLst>
                          </p:cTn>
                        </p:par>
                      </p:childTnLst>
                    </p:cTn>
                  </p:par>
                  <p:par>
                    <p:cTn id="98" fill="hold">
                      <p:stCondLst>
                        <p:cond delay="500"/>
                      </p:stCondLst>
                      <p:childTnLst>
                        <p:par>
                          <p:cTn id="99" fill="hold">
                            <p:stCondLst>
                              <p:cond delay="0"/>
                            </p:stCondLst>
                            <p:childTnLst>
                              <p:par>
                                <p:cTn id="100" presetID="10" presetClass="entr" presetSubtype="0" fill="hold" grpId="19" nodeType="afterEffect">
                                  <p:stCondLst>
                                    <p:cond delay="0"/>
                                  </p:stCondLst>
                                  <p:childTnLst>
                                    <p:set>
                                      <p:cBhvr>
                                        <p:cTn id="101" dur="1" fill="hold"/>
                                        <p:tgtEl>
                                          <p:spTgt spid="21"/>
                                        </p:tgtEl>
                                        <p:attrNameLst>
                                          <p:attrName>style.visibility</p:attrName>
                                        </p:attrNameLst>
                                      </p:cBhvr>
                                      <p:to>
                                        <p:strVal val="visible"/>
                                      </p:to>
                                    </p:set>
                                    <p:animEffect transition="in" filter="fade">
                                      <p:cBhvr>
                                        <p:cTn id="102" dur="400"/>
                                        <p:tgtEl>
                                          <p:spTgt spid="21"/>
                                        </p:tgtEl>
                                      </p:cBhvr>
                                    </p:animEffect>
                                  </p:childTnLst>
                                </p:cTn>
                              </p:par>
                            </p:childTnLst>
                          </p:cTn>
                        </p:par>
                      </p:childTnLst>
                    </p:cTn>
                  </p:par>
                  <p:par>
                    <p:cTn id="103" fill="hold">
                      <p:stCondLst>
                        <p:cond delay="500"/>
                      </p:stCondLst>
                      <p:childTnLst>
                        <p:par>
                          <p:cTn id="104" fill="hold">
                            <p:stCondLst>
                              <p:cond delay="0"/>
                            </p:stCondLst>
                            <p:childTnLst>
                              <p:par>
                                <p:cTn id="105" presetID="10" presetClass="entr" presetSubtype="0" fill="hold" grpId="20" nodeType="afterEffect">
                                  <p:stCondLst>
                                    <p:cond delay="0"/>
                                  </p:stCondLst>
                                  <p:childTnLst>
                                    <p:set>
                                      <p:cBhvr>
                                        <p:cTn id="106" dur="1" fill="hold"/>
                                        <p:tgtEl>
                                          <p:spTgt spid="22"/>
                                        </p:tgtEl>
                                        <p:attrNameLst>
                                          <p:attrName>style.visibility</p:attrName>
                                        </p:attrNameLst>
                                      </p:cBhvr>
                                      <p:to>
                                        <p:strVal val="visible"/>
                                      </p:to>
                                    </p:set>
                                    <p:animEffect transition="in" filter="fade">
                                      <p:cBhvr>
                                        <p:cTn id="107" dur="400"/>
                                        <p:tgtEl>
                                          <p:spTgt spid="22"/>
                                        </p:tgtEl>
                                      </p:cBhvr>
                                    </p:animEffect>
                                  </p:childTnLst>
                                </p:cTn>
                              </p:par>
                            </p:childTnLst>
                          </p:cTn>
                        </p:par>
                      </p:childTnLst>
                    </p:cTn>
                  </p:par>
                  <p:par>
                    <p:cTn id="108" fill="hold">
                      <p:stCondLst>
                        <p:cond delay="500"/>
                      </p:stCondLst>
                      <p:childTnLst>
                        <p:par>
                          <p:cTn id="109" fill="hold">
                            <p:stCondLst>
                              <p:cond delay="0"/>
                            </p:stCondLst>
                            <p:childTnLst>
                              <p:par>
                                <p:cTn id="110" presetID="10" presetClass="entr" presetSubtype="0" fill="hold" grpId="21" nodeType="afterEffect">
                                  <p:stCondLst>
                                    <p:cond delay="0"/>
                                  </p:stCondLst>
                                  <p:childTnLst>
                                    <p:set>
                                      <p:cBhvr>
                                        <p:cTn id="111" dur="1" fill="hold"/>
                                        <p:tgtEl>
                                          <p:spTgt spid="23"/>
                                        </p:tgtEl>
                                        <p:attrNameLst>
                                          <p:attrName>style.visibility</p:attrName>
                                        </p:attrNameLst>
                                      </p:cBhvr>
                                      <p:to>
                                        <p:strVal val="visible"/>
                                      </p:to>
                                    </p:set>
                                    <p:animEffect transition="in" filter="fade">
                                      <p:cBhvr>
                                        <p:cTn id="112" dur="400"/>
                                        <p:tgtEl>
                                          <p:spTgt spid="23"/>
                                        </p:tgtEl>
                                      </p:cBhvr>
                                    </p:animEffect>
                                  </p:childTnLst>
                                </p:cTn>
                              </p:par>
                            </p:childTnLst>
                          </p:cTn>
                        </p:par>
                      </p:childTnLst>
                    </p:cTn>
                  </p:par>
                  <p:par>
                    <p:cTn id="113" fill="hold">
                      <p:stCondLst>
                        <p:cond delay="500"/>
                      </p:stCondLst>
                      <p:childTnLst>
                        <p:par>
                          <p:cTn id="114" fill="hold">
                            <p:stCondLst>
                              <p:cond delay="0"/>
                            </p:stCondLst>
                            <p:childTnLst>
                              <p:par>
                                <p:cTn id="115" presetID="10" presetClass="entr" presetSubtype="0" fill="hold" grpId="22" nodeType="afterEffect">
                                  <p:stCondLst>
                                    <p:cond delay="0"/>
                                  </p:stCondLst>
                                  <p:childTnLst>
                                    <p:set>
                                      <p:cBhvr>
                                        <p:cTn id="116" dur="1" fill="hold"/>
                                        <p:tgtEl>
                                          <p:spTgt spid="24"/>
                                        </p:tgtEl>
                                        <p:attrNameLst>
                                          <p:attrName>style.visibility</p:attrName>
                                        </p:attrNameLst>
                                      </p:cBhvr>
                                      <p:to>
                                        <p:strVal val="visible"/>
                                      </p:to>
                                    </p:set>
                                    <p:animEffect transition="in" filter="fade">
                                      <p:cBhvr>
                                        <p:cTn id="117" dur="400"/>
                                        <p:tgtEl>
                                          <p:spTgt spid="24"/>
                                        </p:tgtEl>
                                      </p:cBhvr>
                                    </p:animEffect>
                                  </p:childTnLst>
                                </p:cTn>
                              </p:par>
                            </p:childTnLst>
                          </p:cTn>
                        </p:par>
                      </p:childTnLst>
                    </p:cTn>
                  </p:par>
                  <p:par>
                    <p:cTn id="118" fill="hold">
                      <p:stCondLst>
                        <p:cond delay="500"/>
                      </p:stCondLst>
                      <p:childTnLst>
                        <p:par>
                          <p:cTn id="119" fill="hold">
                            <p:stCondLst>
                              <p:cond delay="0"/>
                            </p:stCondLst>
                            <p:childTnLst>
                              <p:par>
                                <p:cTn id="120" presetID="10" presetClass="entr" presetSubtype="0" fill="hold" grpId="23" nodeType="afterEffect">
                                  <p:stCondLst>
                                    <p:cond delay="0"/>
                                  </p:stCondLst>
                                  <p:childTnLst>
                                    <p:set>
                                      <p:cBhvr>
                                        <p:cTn id="121" dur="1" fill="hold"/>
                                        <p:tgtEl>
                                          <p:spTgt spid="25"/>
                                        </p:tgtEl>
                                        <p:attrNameLst>
                                          <p:attrName>style.visibility</p:attrName>
                                        </p:attrNameLst>
                                      </p:cBhvr>
                                      <p:to>
                                        <p:strVal val="visible"/>
                                      </p:to>
                                    </p:set>
                                    <p:animEffect transition="in" filter="fade">
                                      <p:cBhvr>
                                        <p:cTn id="122" dur="400"/>
                                        <p:tgtEl>
                                          <p:spTgt spid="25"/>
                                        </p:tgtEl>
                                      </p:cBhvr>
                                    </p:animEffect>
                                  </p:childTnLst>
                                </p:cTn>
                              </p:par>
                            </p:childTnLst>
                          </p:cTn>
                        </p:par>
                      </p:childTnLst>
                    </p:cTn>
                  </p:par>
                  <p:par>
                    <p:cTn id="123" fill="hold">
                      <p:stCondLst>
                        <p:cond delay="500"/>
                      </p:stCondLst>
                      <p:childTnLst>
                        <p:par>
                          <p:cTn id="124" fill="hold">
                            <p:stCondLst>
                              <p:cond delay="0"/>
                            </p:stCondLst>
                            <p:childTnLst>
                              <p:par>
                                <p:cTn id="125" presetID="10" presetClass="entr" presetSubtype="0" fill="hold" grpId="24" nodeType="afterEffect">
                                  <p:stCondLst>
                                    <p:cond delay="0"/>
                                  </p:stCondLst>
                                  <p:childTnLst>
                                    <p:set>
                                      <p:cBhvr>
                                        <p:cTn id="126" dur="1" fill="hold"/>
                                        <p:tgtEl>
                                          <p:spTgt spid="26"/>
                                        </p:tgtEl>
                                        <p:attrNameLst>
                                          <p:attrName>style.visibility</p:attrName>
                                        </p:attrNameLst>
                                      </p:cBhvr>
                                      <p:to>
                                        <p:strVal val="visible"/>
                                      </p:to>
                                    </p:set>
                                    <p:animEffect transition="in" filter="fade">
                                      <p:cBhvr>
                                        <p:cTn id="127" dur="400"/>
                                        <p:tgtEl>
                                          <p:spTgt spid="26"/>
                                        </p:tgtEl>
                                      </p:cBhvr>
                                    </p:animEffect>
                                  </p:childTnLst>
                                </p:cTn>
                              </p:par>
                            </p:childTnLst>
                          </p:cTn>
                        </p:par>
                      </p:childTnLst>
                    </p:cTn>
                  </p:par>
                  <p:par>
                    <p:cTn id="128" fill="hold">
                      <p:stCondLst>
                        <p:cond delay="500"/>
                      </p:stCondLst>
                      <p:childTnLst>
                        <p:par>
                          <p:cTn id="129" fill="hold">
                            <p:stCondLst>
                              <p:cond delay="0"/>
                            </p:stCondLst>
                            <p:childTnLst>
                              <p:par>
                                <p:cTn id="130" presetID="10" presetClass="entr" presetSubtype="0" fill="hold" grpId="25" nodeType="afterEffect">
                                  <p:stCondLst>
                                    <p:cond delay="0"/>
                                  </p:stCondLst>
                                  <p:childTnLst>
                                    <p:set>
                                      <p:cBhvr>
                                        <p:cTn id="131" dur="1" fill="hold"/>
                                        <p:tgtEl>
                                          <p:spTgt spid="27"/>
                                        </p:tgtEl>
                                        <p:attrNameLst>
                                          <p:attrName>style.visibility</p:attrName>
                                        </p:attrNameLst>
                                      </p:cBhvr>
                                      <p:to>
                                        <p:strVal val="visible"/>
                                      </p:to>
                                    </p:set>
                                    <p:animEffect transition="in" filter="fade">
                                      <p:cBhvr>
                                        <p:cTn id="132" dur="400"/>
                                        <p:tgtEl>
                                          <p:spTgt spid="27"/>
                                        </p:tgtEl>
                                      </p:cBhvr>
                                    </p:animEffect>
                                  </p:childTnLst>
                                </p:cTn>
                              </p:par>
                            </p:childTnLst>
                          </p:cTn>
                        </p:par>
                      </p:childTnLst>
                    </p:cTn>
                  </p:par>
                  <p:par>
                    <p:cTn id="133" fill="hold">
                      <p:stCondLst>
                        <p:cond delay="500"/>
                      </p:stCondLst>
                      <p:childTnLst>
                        <p:par>
                          <p:cTn id="134" fill="hold">
                            <p:stCondLst>
                              <p:cond delay="0"/>
                            </p:stCondLst>
                            <p:childTnLst>
                              <p:par>
                                <p:cTn id="135" presetID="10" presetClass="entr" presetSubtype="0" fill="hold" grpId="26" nodeType="afterEffect">
                                  <p:stCondLst>
                                    <p:cond delay="0"/>
                                  </p:stCondLst>
                                  <p:childTnLst>
                                    <p:set>
                                      <p:cBhvr>
                                        <p:cTn id="136" dur="1" fill="hold"/>
                                        <p:tgtEl>
                                          <p:spTgt spid="28"/>
                                        </p:tgtEl>
                                        <p:attrNameLst>
                                          <p:attrName>style.visibility</p:attrName>
                                        </p:attrNameLst>
                                      </p:cBhvr>
                                      <p:to>
                                        <p:strVal val="visible"/>
                                      </p:to>
                                    </p:set>
                                    <p:animEffect transition="in" filter="fade">
                                      <p:cBhvr>
                                        <p:cTn id="137" dur="400"/>
                                        <p:tgtEl>
                                          <p:spTgt spid="28"/>
                                        </p:tgtEl>
                                      </p:cBhvr>
                                    </p:animEffect>
                                  </p:childTnLst>
                                </p:cTn>
                              </p:par>
                            </p:childTnLst>
                          </p:cTn>
                        </p:par>
                      </p:childTnLst>
                    </p:cTn>
                  </p:par>
                  <p:par>
                    <p:cTn id="138" fill="hold">
                      <p:stCondLst>
                        <p:cond delay="500"/>
                      </p:stCondLst>
                      <p:childTnLst>
                        <p:par>
                          <p:cTn id="139" fill="hold">
                            <p:stCondLst>
                              <p:cond delay="0"/>
                            </p:stCondLst>
                            <p:childTnLst>
                              <p:par>
                                <p:cTn id="140" presetID="10" presetClass="entr" presetSubtype="0" fill="hold" grpId="27" nodeType="afterEffect">
                                  <p:stCondLst>
                                    <p:cond delay="0"/>
                                  </p:stCondLst>
                                  <p:childTnLst>
                                    <p:set>
                                      <p:cBhvr>
                                        <p:cTn id="141" dur="1" fill="hold"/>
                                        <p:tgtEl>
                                          <p:spTgt spid="29"/>
                                        </p:tgtEl>
                                        <p:attrNameLst>
                                          <p:attrName>style.visibility</p:attrName>
                                        </p:attrNameLst>
                                      </p:cBhvr>
                                      <p:to>
                                        <p:strVal val="visible"/>
                                      </p:to>
                                    </p:set>
                                    <p:animEffect transition="in" filter="fade">
                                      <p:cBhvr>
                                        <p:cTn id="142" dur="400"/>
                                        <p:tgtEl>
                                          <p:spTgt spid="29"/>
                                        </p:tgtEl>
                                      </p:cBhvr>
                                    </p:animEffect>
                                  </p:childTnLst>
                                </p:cTn>
                              </p:par>
                            </p:childTnLst>
                          </p:cTn>
                        </p:par>
                      </p:childTnLst>
                    </p:cTn>
                  </p:par>
                  <p:par>
                    <p:cTn id="143" fill="hold">
                      <p:stCondLst>
                        <p:cond delay="500"/>
                      </p:stCondLst>
                      <p:childTnLst>
                        <p:par>
                          <p:cTn id="144" fill="hold">
                            <p:stCondLst>
                              <p:cond delay="0"/>
                            </p:stCondLst>
                            <p:childTnLst>
                              <p:par>
                                <p:cTn id="145" presetID="10" presetClass="entr" presetSubtype="0" fill="hold" grpId="28" nodeType="afterEffect">
                                  <p:stCondLst>
                                    <p:cond delay="0"/>
                                  </p:stCondLst>
                                  <p:childTnLst>
                                    <p:set>
                                      <p:cBhvr>
                                        <p:cTn id="146" dur="1" fill="hold"/>
                                        <p:tgtEl>
                                          <p:spTgt spid="30"/>
                                        </p:tgtEl>
                                        <p:attrNameLst>
                                          <p:attrName>style.visibility</p:attrName>
                                        </p:attrNameLst>
                                      </p:cBhvr>
                                      <p:to>
                                        <p:strVal val="visible"/>
                                      </p:to>
                                    </p:set>
                                    <p:animEffect transition="in" filter="fade">
                                      <p:cBhvr>
                                        <p:cTn id="147" dur="400"/>
                                        <p:tgtEl>
                                          <p:spTgt spid="30"/>
                                        </p:tgtEl>
                                      </p:cBhvr>
                                    </p:animEffect>
                                  </p:childTnLst>
                                </p:cTn>
                              </p:par>
                            </p:childTnLst>
                          </p:cTn>
                        </p:par>
                      </p:childTnLst>
                    </p:cTn>
                  </p:par>
                  <p:par>
                    <p:cTn id="148" fill="hold">
                      <p:stCondLst>
                        <p:cond delay="500"/>
                      </p:stCondLst>
                      <p:childTnLst>
                        <p:par>
                          <p:cTn id="149" fill="hold">
                            <p:stCondLst>
                              <p:cond delay="0"/>
                            </p:stCondLst>
                            <p:childTnLst>
                              <p:par>
                                <p:cTn id="150" presetID="10" presetClass="entr" presetSubtype="0" fill="hold" grpId="29" nodeType="afterEffect">
                                  <p:stCondLst>
                                    <p:cond delay="0"/>
                                  </p:stCondLst>
                                  <p:childTnLst>
                                    <p:set>
                                      <p:cBhvr>
                                        <p:cTn id="151" dur="1" fill="hold"/>
                                        <p:tgtEl>
                                          <p:spTgt spid="31"/>
                                        </p:tgtEl>
                                        <p:attrNameLst>
                                          <p:attrName>style.visibility</p:attrName>
                                        </p:attrNameLst>
                                      </p:cBhvr>
                                      <p:to>
                                        <p:strVal val="visible"/>
                                      </p:to>
                                    </p:set>
                                    <p:animEffect transition="in" filter="fade">
                                      <p:cBhvr>
                                        <p:cTn id="152" dur="400"/>
                                        <p:tgtEl>
                                          <p:spTgt spid="31"/>
                                        </p:tgtEl>
                                      </p:cBhvr>
                                    </p:animEffect>
                                  </p:childTnLst>
                                </p:cTn>
                              </p:par>
                            </p:childTnLst>
                          </p:cTn>
                        </p:par>
                      </p:childTnLst>
                    </p:cTn>
                  </p:par>
                </p:childTnLst>
              </p:cTn>
              <p:prevCondLst>
                <p:cond evt="onPrevClick" delay="0">
                  <p:tn/>
                </p:cond>
              </p:prevCondLst>
            </p:seq>
          </p:childTnLst>
        </p:cTn>
      </p:par>
    </p:tnLst>
    <p:bldLst>
      <p:bldP spid="2" grpId="0" build="p"/>
      <p:bldP spid="3" grpId="1" build="p"/>
      <p:bldP spid="4" grpId="2" build="p"/>
      <p:bldP spid="5" grpId="3" build="p"/>
      <p:bldP spid="6" grpId="4" build="p"/>
      <p:bldP spid="7" grpId="5" build="p"/>
      <p:bldP spid="8" grpId="6" build="p"/>
      <p:bldP spid="9" grpId="7" build="p"/>
      <p:bldP spid="10" grpId="8" build="p"/>
      <p:bldP spid="11" grpId="9" build="p"/>
      <p:bldP spid="12" grpId="10" build="p"/>
      <p:bldP spid="13" grpId="11" build="p"/>
      <p:bldP spid="14" grpId="12" build="p"/>
      <p:bldP spid="15" grpId="13" build="p"/>
      <p:bldP spid="16" grpId="14" build="p"/>
      <p:bldP spid="17" grpId="15" build="p"/>
      <p:bldP spid="18" grpId="16" build="p"/>
      <p:bldP spid="19" grpId="17" build="p"/>
      <p:bldP spid="20" grpId="18" build="p"/>
      <p:bldP spid="21" grpId="19" build="p"/>
      <p:bldP spid="22" grpId="20" build="p"/>
      <p:bldP spid="23" grpId="21" build="p"/>
      <p:bldP spid="24" grpId="22" build="p"/>
      <p:bldP spid="25" grpId="23" build="p"/>
      <p:bldP spid="26" grpId="24" build="p"/>
      <p:bldP spid="27" grpId="25" build="p"/>
      <p:bldP spid="28" grpId="26" build="p"/>
      <p:bldP spid="29" grpId="27" build="p"/>
      <p:bldP spid="30" grpId="28" build="p"/>
      <p:bldP spid="31" grpId="29"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2761"/>
          </a:solidFill>
          <a:ln/>
        </p:spPr>
      </p:sp>
      <p:sp>
        <p:nvSpPr>
          <p:cNvPr id="3" name="Text 1"/>
          <p:cNvSpPr/>
          <p:nvPr/>
        </p:nvSpPr>
        <p:spPr>
          <a:xfrm>
            <a:off x="411480" y="201168"/>
            <a:ext cx="8046720" cy="274320"/>
          </a:xfrm>
          <a:prstGeom prst="rect">
            <a:avLst/>
          </a:prstGeom>
          <a:noFill/>
          <a:ln/>
        </p:spPr>
        <p:txBody>
          <a:bodyPr wrap="square" rtlCol="0" anchor="ctr"/>
          <a:lstStyle/>
          <a:p>
            <a:pPr indent="0" marL="0">
              <a:buNone/>
            </a:pPr>
            <a:r>
              <a:rPr lang="en-US" sz="1100" b="1" spc="300" kern="0" dirty="0">
                <a:solidFill>
                  <a:srgbClr val="5A6478"/>
                </a:solidFill>
                <a:latin typeface="Calibri" pitchFamily="34" charset="0"/>
                <a:ea typeface="Calibri" pitchFamily="34" charset="-122"/>
                <a:cs typeface="Calibri" pitchFamily="34" charset="-120"/>
              </a:rPr>
              <a:t>SIMULATION RESULTS</a:t>
            </a:r>
            <a:endParaRPr lang="en-US" sz="1100" dirty="0"/>
          </a:p>
        </p:txBody>
      </p:sp>
      <p:sp>
        <p:nvSpPr>
          <p:cNvPr id="4" name="Text 2"/>
          <p:cNvSpPr/>
          <p:nvPr/>
        </p:nvSpPr>
        <p:spPr>
          <a:xfrm>
            <a:off x="384048" y="420624"/>
            <a:ext cx="8321040" cy="566928"/>
          </a:xfrm>
          <a:prstGeom prst="rect">
            <a:avLst/>
          </a:prstGeom>
          <a:noFill/>
          <a:ln/>
        </p:spPr>
        <p:txBody>
          <a:bodyPr wrap="square" rtlCol="0" anchor="ctr"/>
          <a:lstStyle/>
          <a:p>
            <a:pPr indent="0" marL="0">
              <a:buNone/>
            </a:pPr>
            <a:r>
              <a:rPr lang="en-US" sz="2700" b="1" dirty="0">
                <a:solidFill>
                  <a:srgbClr val="1E2761"/>
                </a:solidFill>
                <a:latin typeface="Georgia" pitchFamily="34" charset="0"/>
                <a:ea typeface="Georgia" pitchFamily="34" charset="-122"/>
                <a:cs typeface="Georgia" pitchFamily="34" charset="-120"/>
              </a:rPr>
              <a:t>Result 1 — misalignment eliminated</a:t>
            </a:r>
            <a:endParaRPr lang="en-US" sz="2700" dirty="0"/>
          </a:p>
        </p:txBody>
      </p:sp>
      <p:sp>
        <p:nvSpPr>
          <p:cNvPr id="5" name="Text 3"/>
          <p:cNvSpPr/>
          <p:nvPr/>
        </p:nvSpPr>
        <p:spPr>
          <a:xfrm>
            <a:off x="8549640" y="4773168"/>
            <a:ext cx="457200" cy="274320"/>
          </a:xfrm>
          <a:prstGeom prst="rect">
            <a:avLst/>
          </a:prstGeom>
          <a:noFill/>
          <a:ln/>
        </p:spPr>
        <p:txBody>
          <a:bodyPr wrap="square"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05</a:t>
            </a:r>
            <a:endParaRPr lang="en-US" sz="1000" dirty="0"/>
          </a:p>
        </p:txBody>
      </p:sp>
      <p:sp>
        <p:nvSpPr>
          <p:cNvPr id="6" name="Text 4"/>
          <p:cNvSpPr/>
          <p:nvPr/>
        </p:nvSpPr>
        <p:spPr>
          <a:xfrm>
            <a:off x="411480" y="4773168"/>
            <a:ext cx="5943600" cy="274320"/>
          </a:xfrm>
          <a:prstGeom prst="rect">
            <a:avLst/>
          </a:prstGeom>
          <a:noFill/>
          <a:ln/>
        </p:spPr>
        <p:txBody>
          <a:bodyPr wrap="square" rtlCol="0" anchor="ctr"/>
          <a:lstStyle/>
          <a:p>
            <a:pPr indent="0" marL="0">
              <a:buNone/>
            </a:pPr>
            <a:r>
              <a:rPr lang="en-US" sz="900" dirty="0">
                <a:solidFill>
                  <a:srgbClr val="5A6478"/>
                </a:solidFill>
                <a:latin typeface="Calibri" pitchFamily="34" charset="0"/>
                <a:ea typeface="Calibri" pitchFamily="34" charset="-122"/>
                <a:cs typeface="Calibri" pitchFamily="34" charset="-120"/>
              </a:rPr>
              <a:t>VLASH — Diploma thesis defense · UITM Rzeszow 2026</a:t>
            </a:r>
            <a:endParaRPr lang="en-US" sz="900" dirty="0"/>
          </a:p>
        </p:txBody>
      </p:sp>
      <p:pic>
        <p:nvPicPr>
          <p:cNvPr id="7" name="Image 0" descr="/sessions/youthful-sweet-hopper/mnt/vlash/simulation/results/fig_misalignment.png">    </p:cNvPr>
          <p:cNvPicPr>
            <a:picLocks noChangeAspect="1"/>
          </p:cNvPicPr>
          <p:nvPr/>
        </p:nvPicPr>
        <p:blipFill>
          <a:blip r:embed="rId1"/>
          <a:stretch>
            <a:fillRect/>
          </a:stretch>
        </p:blipFill>
        <p:spPr>
          <a:xfrm>
            <a:off x="411480" y="1143000"/>
            <a:ext cx="4572000" cy="3044952"/>
          </a:xfrm>
          <a:prstGeom prst="rect">
            <a:avLst/>
          </a:prstGeom>
        </p:spPr>
      </p:pic>
      <p:sp>
        <p:nvSpPr>
          <p:cNvPr id="8" name="Text 5"/>
          <p:cNvSpPr/>
          <p:nvPr/>
        </p:nvSpPr>
        <p:spPr>
          <a:xfrm>
            <a:off x="411480" y="4224528"/>
            <a:ext cx="4572000" cy="274320"/>
          </a:xfrm>
          <a:prstGeom prst="rect">
            <a:avLst/>
          </a:prstGeom>
          <a:noFill/>
          <a:ln/>
        </p:spPr>
        <p:txBody>
          <a:bodyPr wrap="square" rtlCol="0" anchor="ctr"/>
          <a:lstStyle/>
          <a:p>
            <a:pPr algn="ctr" indent="0" marL="0">
              <a:buNone/>
            </a:pPr>
            <a:r>
              <a:rPr lang="en-US" sz="1000" i="1" dirty="0">
                <a:solidFill>
                  <a:srgbClr val="5A6478"/>
                </a:solidFill>
                <a:latin typeface="Calibri" pitchFamily="34" charset="0"/>
                <a:ea typeface="Calibri" pitchFamily="34" charset="-122"/>
                <a:cs typeface="Calibri" pitchFamily="34" charset="-120"/>
              </a:rPr>
              <a:t>Measured misalignment ε vs delay (Fig. 4)</a:t>
            </a:r>
            <a:endParaRPr lang="en-US" sz="1000" dirty="0"/>
          </a:p>
        </p:txBody>
      </p:sp>
      <p:sp>
        <p:nvSpPr>
          <p:cNvPr id="9" name="Shape 6"/>
          <p:cNvSpPr/>
          <p:nvPr/>
        </p:nvSpPr>
        <p:spPr>
          <a:xfrm>
            <a:off x="5257800" y="1325880"/>
            <a:ext cx="82296" cy="777240"/>
          </a:xfrm>
          <a:prstGeom prst="rect">
            <a:avLst/>
          </a:prstGeom>
          <a:solidFill>
            <a:srgbClr val="D95F0E"/>
          </a:solidFill>
          <a:ln/>
        </p:spPr>
      </p:sp>
      <p:sp>
        <p:nvSpPr>
          <p:cNvPr id="10" name="Text 7"/>
          <p:cNvSpPr/>
          <p:nvPr/>
        </p:nvSpPr>
        <p:spPr>
          <a:xfrm>
            <a:off x="5468112" y="1280160"/>
            <a:ext cx="3383280" cy="914400"/>
          </a:xfrm>
          <a:prstGeom prst="rect">
            <a:avLst/>
          </a:prstGeom>
          <a:noFill/>
          <a:ln/>
        </p:spPr>
        <p:txBody>
          <a:bodyPr wrap="square" rtlCol="0" anchor="ctr"/>
          <a:lstStyle/>
          <a:p>
            <a:pPr indent="0" marL="0">
              <a:buNone/>
            </a:pPr>
            <a:r>
              <a:rPr lang="en-US" sz="1250" b="1" dirty="0">
                <a:solidFill>
                  <a:srgbClr val="D95F0E"/>
                </a:solidFill>
                <a:latin typeface="Calibri" pitchFamily="34" charset="0"/>
                <a:ea typeface="Calibri" pitchFamily="34" charset="-122"/>
                <a:cs typeface="Calibri" pitchFamily="34" charset="-120"/>
              </a:rPr>
              <a:t>Naive-Async</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ε grows with delay: 0.005 → 0.036 (Δ = 1 → 4)</a:t>
            </a:r>
            <a:endParaRPr lang="en-US" sz="1250" dirty="0"/>
          </a:p>
        </p:txBody>
      </p:sp>
      <p:sp>
        <p:nvSpPr>
          <p:cNvPr id="11" name="Shape 8"/>
          <p:cNvSpPr/>
          <p:nvPr/>
        </p:nvSpPr>
        <p:spPr>
          <a:xfrm>
            <a:off x="5257800" y="2286000"/>
            <a:ext cx="82296" cy="777240"/>
          </a:xfrm>
          <a:prstGeom prst="rect">
            <a:avLst/>
          </a:prstGeom>
          <a:solidFill>
            <a:srgbClr val="31A354"/>
          </a:solidFill>
          <a:ln/>
        </p:spPr>
      </p:sp>
      <p:sp>
        <p:nvSpPr>
          <p:cNvPr id="12" name="Text 9"/>
          <p:cNvSpPr/>
          <p:nvPr/>
        </p:nvSpPr>
        <p:spPr>
          <a:xfrm>
            <a:off x="5468112" y="2240280"/>
            <a:ext cx="3383280" cy="914400"/>
          </a:xfrm>
          <a:prstGeom prst="rect">
            <a:avLst/>
          </a:prstGeom>
          <a:noFill/>
          <a:ln/>
        </p:spPr>
        <p:txBody>
          <a:bodyPr wrap="square" rtlCol="0" anchor="ctr"/>
          <a:lstStyle/>
          <a:p>
            <a:pPr indent="0" marL="0">
              <a:buNone/>
            </a:pPr>
            <a:r>
              <a:rPr lang="en-US" sz="1250" b="1" dirty="0">
                <a:solidFill>
                  <a:srgbClr val="31A354"/>
                </a:solidFill>
                <a:latin typeface="Calibri" pitchFamily="34" charset="0"/>
                <a:ea typeface="Calibri" pitchFamily="34" charset="-122"/>
                <a:cs typeface="Calibri" pitchFamily="34" charset="-120"/>
              </a:rPr>
              <a:t>VLASH</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ε = 0 at every delay — the conditioning state lands exactly on the execution-start state</a:t>
            </a:r>
            <a:endParaRPr lang="en-US" sz="1250" dirty="0"/>
          </a:p>
        </p:txBody>
      </p:sp>
      <p:sp>
        <p:nvSpPr>
          <p:cNvPr id="13" name="Shape 10"/>
          <p:cNvSpPr/>
          <p:nvPr/>
        </p:nvSpPr>
        <p:spPr>
          <a:xfrm>
            <a:off x="5257800" y="3246120"/>
            <a:ext cx="82296" cy="777240"/>
          </a:xfrm>
          <a:prstGeom prst="rect">
            <a:avLst/>
          </a:prstGeom>
          <a:solidFill>
            <a:srgbClr val="2C7FB8"/>
          </a:solidFill>
          <a:ln/>
        </p:spPr>
      </p:sp>
      <p:sp>
        <p:nvSpPr>
          <p:cNvPr id="14" name="Text 11"/>
          <p:cNvSpPr/>
          <p:nvPr/>
        </p:nvSpPr>
        <p:spPr>
          <a:xfrm>
            <a:off x="5468112" y="3200400"/>
            <a:ext cx="3383280" cy="914400"/>
          </a:xfrm>
          <a:prstGeom prst="rect">
            <a:avLst/>
          </a:prstGeom>
          <a:noFill/>
          <a:ln/>
        </p:spPr>
        <p:txBody>
          <a:bodyPr wrap="square" rtlCol="0" anchor="ctr"/>
          <a:lstStyle/>
          <a:p>
            <a:pPr indent="0" marL="0">
              <a:buNone/>
            </a:pPr>
            <a:r>
              <a:rPr lang="en-US" sz="1250" b="1" dirty="0">
                <a:solidFill>
                  <a:srgbClr val="2C7FB8"/>
                </a:solidFill>
                <a:latin typeface="Calibri" pitchFamily="34" charset="0"/>
                <a:ea typeface="Calibri" pitchFamily="34" charset="-122"/>
                <a:cs typeface="Calibri" pitchFamily="34" charset="-120"/>
              </a:rPr>
              <a:t>Sync</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ε = 0 by construction, but pays the stall</a:t>
            </a:r>
            <a:endParaRPr lang="en-US" sz="1250" dirty="0"/>
          </a:p>
        </p:txBody>
      </p:sp>
    </p:spTree>
  </p:cSld>
  <p:clrMapOvr>
    <a:masterClrMapping/>
  </p:clrMapOvr>
  <p:transition spd="med" dur="400">
    <p:fade/>
  </p:transition>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500"/>
                      </p:stCondLst>
                      <p:childTnLst>
                        <p:par>
                          <p:cTn id="9" fill="hold">
                            <p:stCondLst>
                              <p:cond delay="0"/>
                            </p:stCondLst>
                            <p:childTnLst>
                              <p:par>
                                <p:cTn id="10" presetID="10" presetClass="entr" presetSubtype="0" fill="hold" grpId="1" nodeType="afterEffect">
                                  <p:stCondLst>
                                    <p:cond delay="0"/>
                                  </p:stCondLst>
                                  <p:childTnLst>
                                    <p:set>
                                      <p:cBhvr>
                                        <p:cTn id="11" dur="1" fill="hold"/>
                                        <p:tgtEl>
                                          <p:spTgt spid="3"/>
                                        </p:tgtEl>
                                        <p:attrNameLst>
                                          <p:attrName>style.visibility</p:attrName>
                                        </p:attrNameLst>
                                      </p:cBhvr>
                                      <p:to>
                                        <p:strVal val="visible"/>
                                      </p:to>
                                    </p:set>
                                    <p:animEffect transition="in" filter="fade">
                                      <p:cBhvr>
                                        <p:cTn id="12" dur="400"/>
                                        <p:tgtEl>
                                          <p:spTgt spid="3"/>
                                        </p:tgtEl>
                                      </p:cBhvr>
                                    </p:animEffect>
                                  </p:childTnLst>
                                </p:cTn>
                              </p:par>
                            </p:childTnLst>
                          </p:cTn>
                        </p:par>
                      </p:childTnLst>
                    </p:cTn>
                  </p:par>
                  <p:par>
                    <p:cTn id="13" fill="hold">
                      <p:stCondLst>
                        <p:cond delay="500"/>
                      </p:stCondLst>
                      <p:childTnLst>
                        <p:par>
                          <p:cTn id="14" fill="hold">
                            <p:stCondLst>
                              <p:cond delay="0"/>
                            </p:stCondLst>
                            <p:childTnLst>
                              <p:par>
                                <p:cTn id="15" presetID="10" presetClass="entr" presetSubtype="0" fill="hold" grpId="2" nodeType="afterEffect">
                                  <p:stCondLst>
                                    <p:cond delay="0"/>
                                  </p:stCondLst>
                                  <p:childTnLst>
                                    <p:set>
                                      <p:cBhvr>
                                        <p:cTn id="16" dur="1" fill="hold"/>
                                        <p:tgtEl>
                                          <p:spTgt spid="4"/>
                                        </p:tgtEl>
                                        <p:attrNameLst>
                                          <p:attrName>style.visibility</p:attrName>
                                        </p:attrNameLst>
                                      </p:cBhvr>
                                      <p:to>
                                        <p:strVal val="visible"/>
                                      </p:to>
                                    </p:set>
                                    <p:animEffect transition="in" filter="fade">
                                      <p:cBhvr>
                                        <p:cTn id="17" dur="400"/>
                                        <p:tgtEl>
                                          <p:spTgt spid="4"/>
                                        </p:tgtEl>
                                      </p:cBhvr>
                                    </p:animEffect>
                                  </p:childTnLst>
                                </p:cTn>
                              </p:par>
                            </p:childTnLst>
                          </p:cTn>
                        </p:par>
                      </p:childTnLst>
                    </p:cTn>
                  </p:par>
                  <p:par>
                    <p:cTn id="18" fill="hold">
                      <p:stCondLst>
                        <p:cond delay="500"/>
                      </p:stCondLst>
                      <p:childTnLst>
                        <p:par>
                          <p:cTn id="19" fill="hold">
                            <p:stCondLst>
                              <p:cond delay="0"/>
                            </p:stCondLst>
                            <p:childTnLst>
                              <p:par>
                                <p:cTn id="20" presetID="10" presetClass="entr" presetSubtype="0" fill="hold" grpId="3" nodeType="afterEffect">
                                  <p:stCondLst>
                                    <p:cond delay="0"/>
                                  </p:stCondLst>
                                  <p:childTnLst>
                                    <p:set>
                                      <p:cBhvr>
                                        <p:cTn id="21" dur="1" fill="hold"/>
                                        <p:tgtEl>
                                          <p:spTgt spid="5"/>
                                        </p:tgtEl>
                                        <p:attrNameLst>
                                          <p:attrName>style.visibility</p:attrName>
                                        </p:attrNameLst>
                                      </p:cBhvr>
                                      <p:to>
                                        <p:strVal val="visible"/>
                                      </p:to>
                                    </p:set>
                                    <p:animEffect transition="in" filter="fade">
                                      <p:cBhvr>
                                        <p:cTn id="22" dur="400"/>
                                        <p:tgtEl>
                                          <p:spTgt spid="5"/>
                                        </p:tgtEl>
                                      </p:cBhvr>
                                    </p:animEffect>
                                  </p:childTnLst>
                                </p:cTn>
                              </p:par>
                            </p:childTnLst>
                          </p:cTn>
                        </p:par>
                      </p:childTnLst>
                    </p:cTn>
                  </p:par>
                  <p:par>
                    <p:cTn id="23" fill="hold">
                      <p:stCondLst>
                        <p:cond delay="500"/>
                      </p:stCondLst>
                      <p:childTnLst>
                        <p:par>
                          <p:cTn id="24" fill="hold">
                            <p:stCondLst>
                              <p:cond delay="0"/>
                            </p:stCondLst>
                            <p:childTnLst>
                              <p:par>
                                <p:cTn id="25" presetID="10" presetClass="entr" presetSubtype="0" fill="hold" grpId="4" nodeType="afterEffect">
                                  <p:stCondLst>
                                    <p:cond delay="0"/>
                                  </p:stCondLst>
                                  <p:childTnLst>
                                    <p:set>
                                      <p:cBhvr>
                                        <p:cTn id="26" dur="1" fill="hold"/>
                                        <p:tgtEl>
                                          <p:spTgt spid="6"/>
                                        </p:tgtEl>
                                        <p:attrNameLst>
                                          <p:attrName>style.visibility</p:attrName>
                                        </p:attrNameLst>
                                      </p:cBhvr>
                                      <p:to>
                                        <p:strVal val="visible"/>
                                      </p:to>
                                    </p:set>
                                    <p:animEffect transition="in" filter="fade">
                                      <p:cBhvr>
                                        <p:cTn id="27" dur="400"/>
                                        <p:tgtEl>
                                          <p:spTgt spid="6"/>
                                        </p:tgtEl>
                                      </p:cBhvr>
                                    </p:animEffect>
                                  </p:childTnLst>
                                </p:cTn>
                              </p:par>
                            </p:childTnLst>
                          </p:cTn>
                        </p:par>
                      </p:childTnLst>
                    </p:cTn>
                  </p:par>
                  <p:par>
                    <p:cTn id="28" fill="hold">
                      <p:stCondLst>
                        <p:cond delay="500"/>
                      </p:stCondLst>
                      <p:childTnLst>
                        <p:par>
                          <p:cTn id="29" fill="hold">
                            <p:stCondLst>
                              <p:cond delay="0"/>
                            </p:stCondLst>
                            <p:childTnLst>
                              <p:par>
                                <p:cTn id="30" presetID="10" presetClass="entr" presetSubtype="0" fill="hold" grpId="5" nodeType="afterEffect">
                                  <p:stCondLst>
                                    <p:cond delay="0"/>
                                  </p:stCondLst>
                                  <p:childTnLst>
                                    <p:set>
                                      <p:cBhvr>
                                        <p:cTn id="31" dur="1" fill="hold"/>
                                        <p:tgtEl>
                                          <p:spTgt spid="7"/>
                                        </p:tgtEl>
                                        <p:attrNameLst>
                                          <p:attrName>style.visibility</p:attrName>
                                        </p:attrNameLst>
                                      </p:cBhvr>
                                      <p:to>
                                        <p:strVal val="visible"/>
                                      </p:to>
                                    </p:set>
                                    <p:animEffect transition="in" filter="fade">
                                      <p:cBhvr>
                                        <p:cTn id="32" dur="400"/>
                                        <p:tgtEl>
                                          <p:spTgt spid="7"/>
                                        </p:tgtEl>
                                      </p:cBhvr>
                                    </p:animEffect>
                                  </p:childTnLst>
                                </p:cTn>
                              </p:par>
                            </p:childTnLst>
                          </p:cTn>
                        </p:par>
                      </p:childTnLst>
                    </p:cTn>
                  </p:par>
                  <p:par>
                    <p:cTn id="33" fill="hold">
                      <p:stCondLst>
                        <p:cond delay="500"/>
                      </p:stCondLst>
                      <p:childTnLst>
                        <p:par>
                          <p:cTn id="34" fill="hold">
                            <p:stCondLst>
                              <p:cond delay="0"/>
                            </p:stCondLst>
                            <p:childTnLst>
                              <p:par>
                                <p:cTn id="35" presetID="10" presetClass="entr" presetSubtype="0" fill="hold" grpId="6" nodeType="afterEffect">
                                  <p:stCondLst>
                                    <p:cond delay="0"/>
                                  </p:stCondLst>
                                  <p:childTnLst>
                                    <p:set>
                                      <p:cBhvr>
                                        <p:cTn id="36" dur="1" fill="hold"/>
                                        <p:tgtEl>
                                          <p:spTgt spid="8"/>
                                        </p:tgtEl>
                                        <p:attrNameLst>
                                          <p:attrName>style.visibility</p:attrName>
                                        </p:attrNameLst>
                                      </p:cBhvr>
                                      <p:to>
                                        <p:strVal val="visible"/>
                                      </p:to>
                                    </p:set>
                                    <p:animEffect transition="in" filter="fade">
                                      <p:cBhvr>
                                        <p:cTn id="37" dur="400"/>
                                        <p:tgtEl>
                                          <p:spTgt spid="8"/>
                                        </p:tgtEl>
                                      </p:cBhvr>
                                    </p:animEffect>
                                  </p:childTnLst>
                                </p:cTn>
                              </p:par>
                            </p:childTnLst>
                          </p:cTn>
                        </p:par>
                      </p:childTnLst>
                    </p:cTn>
                  </p:par>
                  <p:par>
                    <p:cTn id="38" fill="hold">
                      <p:stCondLst>
                        <p:cond delay="500"/>
                      </p:stCondLst>
                      <p:childTnLst>
                        <p:par>
                          <p:cTn id="39" fill="hold">
                            <p:stCondLst>
                              <p:cond delay="0"/>
                            </p:stCondLst>
                            <p:childTnLst>
                              <p:par>
                                <p:cTn id="40" presetID="10" presetClass="entr" presetSubtype="0" fill="hold" grpId="7" nodeType="afterEffect">
                                  <p:stCondLst>
                                    <p:cond delay="0"/>
                                  </p:stCondLst>
                                  <p:childTnLst>
                                    <p:set>
                                      <p:cBhvr>
                                        <p:cTn id="41" dur="1" fill="hold"/>
                                        <p:tgtEl>
                                          <p:spTgt spid="9"/>
                                        </p:tgtEl>
                                        <p:attrNameLst>
                                          <p:attrName>style.visibility</p:attrName>
                                        </p:attrNameLst>
                                      </p:cBhvr>
                                      <p:to>
                                        <p:strVal val="visible"/>
                                      </p:to>
                                    </p:set>
                                    <p:animEffect transition="in" filter="fade">
                                      <p:cBhvr>
                                        <p:cTn id="42" dur="400"/>
                                        <p:tgtEl>
                                          <p:spTgt spid="9"/>
                                        </p:tgtEl>
                                      </p:cBhvr>
                                    </p:animEffect>
                                  </p:childTnLst>
                                </p:cTn>
                              </p:par>
                            </p:childTnLst>
                          </p:cTn>
                        </p:par>
                      </p:childTnLst>
                    </p:cTn>
                  </p:par>
                  <p:par>
                    <p:cTn id="43" fill="hold">
                      <p:stCondLst>
                        <p:cond delay="500"/>
                      </p:stCondLst>
                      <p:childTnLst>
                        <p:par>
                          <p:cTn id="44" fill="hold">
                            <p:stCondLst>
                              <p:cond delay="0"/>
                            </p:stCondLst>
                            <p:childTnLst>
                              <p:par>
                                <p:cTn id="45" presetID="10" presetClass="entr" presetSubtype="0" fill="hold" grpId="8" nodeType="afterEffect">
                                  <p:stCondLst>
                                    <p:cond delay="0"/>
                                  </p:stCondLst>
                                  <p:childTnLst>
                                    <p:set>
                                      <p:cBhvr>
                                        <p:cTn id="46" dur="1" fill="hold"/>
                                        <p:tgtEl>
                                          <p:spTgt spid="10"/>
                                        </p:tgtEl>
                                        <p:attrNameLst>
                                          <p:attrName>style.visibility</p:attrName>
                                        </p:attrNameLst>
                                      </p:cBhvr>
                                      <p:to>
                                        <p:strVal val="visible"/>
                                      </p:to>
                                    </p:set>
                                    <p:animEffect transition="in" filter="fade">
                                      <p:cBhvr>
                                        <p:cTn id="47" dur="400"/>
                                        <p:tgtEl>
                                          <p:spTgt spid="10"/>
                                        </p:tgtEl>
                                      </p:cBhvr>
                                    </p:animEffect>
                                  </p:childTnLst>
                                </p:cTn>
                              </p:par>
                            </p:childTnLst>
                          </p:cTn>
                        </p:par>
                      </p:childTnLst>
                    </p:cTn>
                  </p:par>
                  <p:par>
                    <p:cTn id="48" fill="hold">
                      <p:stCondLst>
                        <p:cond delay="500"/>
                      </p:stCondLst>
                      <p:childTnLst>
                        <p:par>
                          <p:cTn id="49" fill="hold">
                            <p:stCondLst>
                              <p:cond delay="0"/>
                            </p:stCondLst>
                            <p:childTnLst>
                              <p:par>
                                <p:cTn id="50" presetID="10" presetClass="entr" presetSubtype="0" fill="hold" grpId="9" nodeType="afterEffect">
                                  <p:stCondLst>
                                    <p:cond delay="0"/>
                                  </p:stCondLst>
                                  <p:childTnLst>
                                    <p:set>
                                      <p:cBhvr>
                                        <p:cTn id="51" dur="1" fill="hold"/>
                                        <p:tgtEl>
                                          <p:spTgt spid="11"/>
                                        </p:tgtEl>
                                        <p:attrNameLst>
                                          <p:attrName>style.visibility</p:attrName>
                                        </p:attrNameLst>
                                      </p:cBhvr>
                                      <p:to>
                                        <p:strVal val="visible"/>
                                      </p:to>
                                    </p:set>
                                    <p:animEffect transition="in" filter="fade">
                                      <p:cBhvr>
                                        <p:cTn id="52" dur="400"/>
                                        <p:tgtEl>
                                          <p:spTgt spid="11"/>
                                        </p:tgtEl>
                                      </p:cBhvr>
                                    </p:animEffect>
                                  </p:childTnLst>
                                </p:cTn>
                              </p:par>
                            </p:childTnLst>
                          </p:cTn>
                        </p:par>
                      </p:childTnLst>
                    </p:cTn>
                  </p:par>
                  <p:par>
                    <p:cTn id="53" fill="hold">
                      <p:stCondLst>
                        <p:cond delay="500"/>
                      </p:stCondLst>
                      <p:childTnLst>
                        <p:par>
                          <p:cTn id="54" fill="hold">
                            <p:stCondLst>
                              <p:cond delay="0"/>
                            </p:stCondLst>
                            <p:childTnLst>
                              <p:par>
                                <p:cTn id="55" presetID="10" presetClass="entr" presetSubtype="0" fill="hold" grpId="10" nodeType="afterEffect">
                                  <p:stCondLst>
                                    <p:cond delay="0"/>
                                  </p:stCondLst>
                                  <p:childTnLst>
                                    <p:set>
                                      <p:cBhvr>
                                        <p:cTn id="56" dur="1" fill="hold"/>
                                        <p:tgtEl>
                                          <p:spTgt spid="12"/>
                                        </p:tgtEl>
                                        <p:attrNameLst>
                                          <p:attrName>style.visibility</p:attrName>
                                        </p:attrNameLst>
                                      </p:cBhvr>
                                      <p:to>
                                        <p:strVal val="visible"/>
                                      </p:to>
                                    </p:set>
                                    <p:animEffect transition="in" filter="fade">
                                      <p:cBhvr>
                                        <p:cTn id="57" dur="400"/>
                                        <p:tgtEl>
                                          <p:spTgt spid="12"/>
                                        </p:tgtEl>
                                      </p:cBhvr>
                                    </p:animEffect>
                                  </p:childTnLst>
                                </p:cTn>
                              </p:par>
                            </p:childTnLst>
                          </p:cTn>
                        </p:par>
                      </p:childTnLst>
                    </p:cTn>
                  </p:par>
                  <p:par>
                    <p:cTn id="58" fill="hold">
                      <p:stCondLst>
                        <p:cond delay="500"/>
                      </p:stCondLst>
                      <p:childTnLst>
                        <p:par>
                          <p:cTn id="59" fill="hold">
                            <p:stCondLst>
                              <p:cond delay="0"/>
                            </p:stCondLst>
                            <p:childTnLst>
                              <p:par>
                                <p:cTn id="60" presetID="10" presetClass="entr" presetSubtype="0" fill="hold" grpId="11" nodeType="afterEffect">
                                  <p:stCondLst>
                                    <p:cond delay="0"/>
                                  </p:stCondLst>
                                  <p:childTnLst>
                                    <p:set>
                                      <p:cBhvr>
                                        <p:cTn id="61" dur="1" fill="hold"/>
                                        <p:tgtEl>
                                          <p:spTgt spid="13"/>
                                        </p:tgtEl>
                                        <p:attrNameLst>
                                          <p:attrName>style.visibility</p:attrName>
                                        </p:attrNameLst>
                                      </p:cBhvr>
                                      <p:to>
                                        <p:strVal val="visible"/>
                                      </p:to>
                                    </p:set>
                                    <p:animEffect transition="in" filter="fade">
                                      <p:cBhvr>
                                        <p:cTn id="62" dur="400"/>
                                        <p:tgtEl>
                                          <p:spTgt spid="13"/>
                                        </p:tgtEl>
                                      </p:cBhvr>
                                    </p:animEffect>
                                  </p:childTnLst>
                                </p:cTn>
                              </p:par>
                            </p:childTnLst>
                          </p:cTn>
                        </p:par>
                      </p:childTnLst>
                    </p:cTn>
                  </p:par>
                  <p:par>
                    <p:cTn id="63" fill="hold">
                      <p:stCondLst>
                        <p:cond delay="500"/>
                      </p:stCondLst>
                      <p:childTnLst>
                        <p:par>
                          <p:cTn id="64" fill="hold">
                            <p:stCondLst>
                              <p:cond delay="0"/>
                            </p:stCondLst>
                            <p:childTnLst>
                              <p:par>
                                <p:cTn id="65" presetID="10" presetClass="entr" presetSubtype="0" fill="hold" grpId="12" nodeType="afterEffect">
                                  <p:stCondLst>
                                    <p:cond delay="0"/>
                                  </p:stCondLst>
                                  <p:childTnLst>
                                    <p:set>
                                      <p:cBhvr>
                                        <p:cTn id="66" dur="1" fill="hold"/>
                                        <p:tgtEl>
                                          <p:spTgt spid="14"/>
                                        </p:tgtEl>
                                        <p:attrNameLst>
                                          <p:attrName>style.visibility</p:attrName>
                                        </p:attrNameLst>
                                      </p:cBhvr>
                                      <p:to>
                                        <p:strVal val="visible"/>
                                      </p:to>
                                    </p:set>
                                    <p:animEffect transition="in" filter="fade">
                                      <p:cBhvr>
                                        <p:cTn id="67" dur="400"/>
                                        <p:tgtEl>
                                          <p:spTgt spid="14"/>
                                        </p:tgtEl>
                                      </p:cBhvr>
                                    </p:animEffect>
                                  </p:childTnLst>
                                </p:cTn>
                              </p:par>
                            </p:childTnLst>
                          </p:cTn>
                        </p:par>
                      </p:childTnLst>
                    </p:cTn>
                  </p:par>
                </p:childTnLst>
              </p:cTn>
              <p:prevCondLst>
                <p:cond evt="onPrevClick" delay="0">
                  <p:tn/>
                </p:cond>
              </p:prevCondLst>
            </p:seq>
          </p:childTnLst>
        </p:cTn>
      </p:par>
    </p:tnLst>
    <p:bldLst>
      <p:bldP spid="2" grpId="0" build="p"/>
      <p:bldP spid="3" grpId="1" build="p"/>
      <p:bldP spid="4" grpId="2" build="p"/>
      <p:bldP spid="5" grpId="3" build="p"/>
      <p:bldP spid="6" grpId="4" build="p"/>
      <p:bldP spid="7" grpId="5" build="p"/>
      <p:bldP spid="8" grpId="6" build="p"/>
      <p:bldP spid="9" grpId="7" build="p"/>
      <p:bldP spid="10" grpId="8" build="p"/>
      <p:bldP spid="11" grpId="9" build="p"/>
      <p:bldP spid="12" grpId="10" build="p"/>
      <p:bldP spid="13" grpId="11" build="p"/>
      <p:bldP spid="14" grpId="12" build="p"/>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2761"/>
          </a:solidFill>
          <a:ln/>
        </p:spPr>
      </p:sp>
      <p:sp>
        <p:nvSpPr>
          <p:cNvPr id="3" name="Text 1"/>
          <p:cNvSpPr/>
          <p:nvPr/>
        </p:nvSpPr>
        <p:spPr>
          <a:xfrm>
            <a:off x="411480" y="201168"/>
            <a:ext cx="8046720" cy="274320"/>
          </a:xfrm>
          <a:prstGeom prst="rect">
            <a:avLst/>
          </a:prstGeom>
          <a:noFill/>
          <a:ln/>
        </p:spPr>
        <p:txBody>
          <a:bodyPr wrap="square" rtlCol="0" anchor="ctr"/>
          <a:lstStyle/>
          <a:p>
            <a:pPr indent="0" marL="0">
              <a:buNone/>
            </a:pPr>
            <a:r>
              <a:rPr lang="en-US" sz="1100" b="1" spc="300" kern="0" dirty="0">
                <a:solidFill>
                  <a:srgbClr val="5A6478"/>
                </a:solidFill>
                <a:latin typeface="Calibri" pitchFamily="34" charset="0"/>
                <a:ea typeface="Calibri" pitchFamily="34" charset="-122"/>
                <a:cs typeface="Calibri" pitchFamily="34" charset="-120"/>
              </a:rPr>
              <a:t>SIMULATION RESULTS</a:t>
            </a:r>
            <a:endParaRPr lang="en-US" sz="1100" dirty="0"/>
          </a:p>
        </p:txBody>
      </p:sp>
      <p:sp>
        <p:nvSpPr>
          <p:cNvPr id="4" name="Text 2"/>
          <p:cNvSpPr/>
          <p:nvPr/>
        </p:nvSpPr>
        <p:spPr>
          <a:xfrm>
            <a:off x="384048" y="420624"/>
            <a:ext cx="8321040" cy="566928"/>
          </a:xfrm>
          <a:prstGeom prst="rect">
            <a:avLst/>
          </a:prstGeom>
          <a:noFill/>
          <a:ln/>
        </p:spPr>
        <p:txBody>
          <a:bodyPr wrap="square" rtlCol="0" anchor="ctr"/>
          <a:lstStyle/>
          <a:p>
            <a:pPr indent="0" marL="0">
              <a:buNone/>
            </a:pPr>
            <a:r>
              <a:rPr lang="en-US" sz="2700" b="1" dirty="0">
                <a:solidFill>
                  <a:srgbClr val="1E2761"/>
                </a:solidFill>
                <a:latin typeface="Georgia" pitchFamily="34" charset="0"/>
                <a:ea typeface="Georgia" pitchFamily="34" charset="-122"/>
                <a:cs typeface="Georgia" pitchFamily="34" charset="-120"/>
              </a:rPr>
              <a:t>Result 2 — near-sync accuracy, no stall</a:t>
            </a:r>
            <a:endParaRPr lang="en-US" sz="2700" dirty="0"/>
          </a:p>
        </p:txBody>
      </p:sp>
      <p:sp>
        <p:nvSpPr>
          <p:cNvPr id="5" name="Text 3"/>
          <p:cNvSpPr/>
          <p:nvPr/>
        </p:nvSpPr>
        <p:spPr>
          <a:xfrm>
            <a:off x="8549640" y="4773168"/>
            <a:ext cx="457200" cy="274320"/>
          </a:xfrm>
          <a:prstGeom prst="rect">
            <a:avLst/>
          </a:prstGeom>
          <a:noFill/>
          <a:ln/>
        </p:spPr>
        <p:txBody>
          <a:bodyPr wrap="square"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06</a:t>
            </a:r>
            <a:endParaRPr lang="en-US" sz="1000" dirty="0"/>
          </a:p>
        </p:txBody>
      </p:sp>
      <p:sp>
        <p:nvSpPr>
          <p:cNvPr id="6" name="Text 4"/>
          <p:cNvSpPr/>
          <p:nvPr/>
        </p:nvSpPr>
        <p:spPr>
          <a:xfrm>
            <a:off x="411480" y="4773168"/>
            <a:ext cx="5943600" cy="274320"/>
          </a:xfrm>
          <a:prstGeom prst="rect">
            <a:avLst/>
          </a:prstGeom>
          <a:noFill/>
          <a:ln/>
        </p:spPr>
        <p:txBody>
          <a:bodyPr wrap="square" rtlCol="0" anchor="ctr"/>
          <a:lstStyle/>
          <a:p>
            <a:pPr indent="0" marL="0">
              <a:buNone/>
            </a:pPr>
            <a:r>
              <a:rPr lang="en-US" sz="900" dirty="0">
                <a:solidFill>
                  <a:srgbClr val="5A6478"/>
                </a:solidFill>
                <a:latin typeface="Calibri" pitchFamily="34" charset="0"/>
                <a:ea typeface="Calibri" pitchFamily="34" charset="-122"/>
                <a:cs typeface="Calibri" pitchFamily="34" charset="-120"/>
              </a:rPr>
              <a:t>VLASH — Diploma thesis defense · UITM Rzeszow 2026</a:t>
            </a:r>
            <a:endParaRPr lang="en-US" sz="900" dirty="0"/>
          </a:p>
        </p:txBody>
      </p:sp>
      <p:pic>
        <p:nvPicPr>
          <p:cNvPr id="7" name="Image 0" descr="/sessions/youthful-sweet-hopper/mnt/vlash/simulation/results/fig_success.png">    </p:cNvPr>
          <p:cNvPicPr>
            <a:picLocks noChangeAspect="1"/>
          </p:cNvPicPr>
          <p:nvPr/>
        </p:nvPicPr>
        <p:blipFill>
          <a:blip r:embed="rId1"/>
          <a:stretch>
            <a:fillRect/>
          </a:stretch>
        </p:blipFill>
        <p:spPr>
          <a:xfrm>
            <a:off x="411480" y="1143000"/>
            <a:ext cx="4572000" cy="3044952"/>
          </a:xfrm>
          <a:prstGeom prst="rect">
            <a:avLst/>
          </a:prstGeom>
        </p:spPr>
      </p:pic>
      <p:sp>
        <p:nvSpPr>
          <p:cNvPr id="8" name="Text 5"/>
          <p:cNvSpPr/>
          <p:nvPr/>
        </p:nvSpPr>
        <p:spPr>
          <a:xfrm>
            <a:off x="411480" y="4224528"/>
            <a:ext cx="4572000" cy="274320"/>
          </a:xfrm>
          <a:prstGeom prst="rect">
            <a:avLst/>
          </a:prstGeom>
          <a:noFill/>
          <a:ln/>
        </p:spPr>
        <p:txBody>
          <a:bodyPr wrap="square" rtlCol="0" anchor="ctr"/>
          <a:lstStyle/>
          <a:p>
            <a:pPr algn="ctr" indent="0" marL="0">
              <a:buNone/>
            </a:pPr>
            <a:r>
              <a:rPr lang="en-US" sz="1000" i="1" dirty="0">
                <a:solidFill>
                  <a:srgbClr val="5A6478"/>
                </a:solidFill>
                <a:latin typeface="Calibri" pitchFamily="34" charset="0"/>
                <a:ea typeface="Calibri" pitchFamily="34" charset="-122"/>
                <a:cs typeface="Calibri" pitchFamily="34" charset="-120"/>
              </a:rPr>
              <a:t>Success rate vs delay, ±1 SD over 50 trials (Fig. 5)</a:t>
            </a:r>
            <a:endParaRPr lang="en-US" sz="1000" dirty="0"/>
          </a:p>
        </p:txBody>
      </p:sp>
      <p:sp>
        <p:nvSpPr>
          <p:cNvPr id="9" name="Text 6"/>
          <p:cNvSpPr/>
          <p:nvPr/>
        </p:nvSpPr>
        <p:spPr>
          <a:xfrm>
            <a:off x="5257800" y="1188720"/>
            <a:ext cx="3566160" cy="320040"/>
          </a:xfrm>
          <a:prstGeom prst="rect">
            <a:avLst/>
          </a:prstGeom>
          <a:noFill/>
          <a:ln/>
        </p:spPr>
        <p:txBody>
          <a:bodyPr wrap="square" rtlCol="0" anchor="ctr"/>
          <a:lstStyle/>
          <a:p>
            <a:pPr indent="0" marL="0">
              <a:buNone/>
            </a:pPr>
            <a:r>
              <a:rPr lang="en-US" sz="1300" b="1" dirty="0">
                <a:solidFill>
                  <a:srgbClr val="5A6478"/>
                </a:solidFill>
                <a:latin typeface="Calibri" pitchFamily="34" charset="0"/>
                <a:ea typeface="Calibri" pitchFamily="34" charset="-122"/>
                <a:cs typeface="Calibri" pitchFamily="34" charset="-120"/>
              </a:rPr>
              <a:t>Success rate at Δ = 4</a:t>
            </a:r>
            <a:endParaRPr lang="en-US" sz="1300" dirty="0"/>
          </a:p>
        </p:txBody>
      </p:sp>
      <p:sp>
        <p:nvSpPr>
          <p:cNvPr id="10" name="Shape 7"/>
          <p:cNvSpPr/>
          <p:nvPr/>
        </p:nvSpPr>
        <p:spPr>
          <a:xfrm>
            <a:off x="5257800" y="1600200"/>
            <a:ext cx="3566160" cy="777240"/>
          </a:xfrm>
          <a:prstGeom prst="roundRect">
            <a:avLst>
              <a:gd name="adj" fmla="val 7059"/>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1" name="Text 8"/>
          <p:cNvSpPr/>
          <p:nvPr/>
        </p:nvSpPr>
        <p:spPr>
          <a:xfrm>
            <a:off x="5440680" y="1673352"/>
            <a:ext cx="1463040" cy="640080"/>
          </a:xfrm>
          <a:prstGeom prst="rect">
            <a:avLst/>
          </a:prstGeom>
          <a:noFill/>
          <a:ln/>
        </p:spPr>
        <p:txBody>
          <a:bodyPr wrap="square" rtlCol="0" anchor="ctr"/>
          <a:lstStyle/>
          <a:p>
            <a:pPr indent="0" marL="0">
              <a:buNone/>
            </a:pPr>
            <a:r>
              <a:rPr lang="en-US" sz="2700" b="1" dirty="0">
                <a:solidFill>
                  <a:srgbClr val="2C7FB8"/>
                </a:solidFill>
                <a:latin typeface="Georgia" pitchFamily="34" charset="0"/>
                <a:ea typeface="Georgia" pitchFamily="34" charset="-122"/>
                <a:cs typeface="Georgia" pitchFamily="34" charset="-120"/>
              </a:rPr>
              <a:t>73.8%</a:t>
            </a:r>
            <a:endParaRPr lang="en-US" sz="2700" dirty="0"/>
          </a:p>
        </p:txBody>
      </p:sp>
      <p:sp>
        <p:nvSpPr>
          <p:cNvPr id="12" name="Text 9"/>
          <p:cNvSpPr/>
          <p:nvPr/>
        </p:nvSpPr>
        <p:spPr>
          <a:xfrm>
            <a:off x="6903720" y="1673352"/>
            <a:ext cx="1828800" cy="640080"/>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Sync (ceiling, but stalls)</a:t>
            </a:r>
            <a:endParaRPr lang="en-US" sz="1150" dirty="0"/>
          </a:p>
        </p:txBody>
      </p:sp>
      <p:sp>
        <p:nvSpPr>
          <p:cNvPr id="13" name="Shape 10"/>
          <p:cNvSpPr/>
          <p:nvPr/>
        </p:nvSpPr>
        <p:spPr>
          <a:xfrm>
            <a:off x="5257800" y="2496312"/>
            <a:ext cx="3566160" cy="777240"/>
          </a:xfrm>
          <a:prstGeom prst="roundRect">
            <a:avLst>
              <a:gd name="adj" fmla="val 7059"/>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4" name="Text 11"/>
          <p:cNvSpPr/>
          <p:nvPr/>
        </p:nvSpPr>
        <p:spPr>
          <a:xfrm>
            <a:off x="5440680" y="2569464"/>
            <a:ext cx="1463040" cy="640080"/>
          </a:xfrm>
          <a:prstGeom prst="rect">
            <a:avLst/>
          </a:prstGeom>
          <a:noFill/>
          <a:ln/>
        </p:spPr>
        <p:txBody>
          <a:bodyPr wrap="square" rtlCol="0" anchor="ctr"/>
          <a:lstStyle/>
          <a:p>
            <a:pPr indent="0" marL="0">
              <a:buNone/>
            </a:pPr>
            <a:r>
              <a:rPr lang="en-US" sz="2700" b="1" dirty="0">
                <a:solidFill>
                  <a:srgbClr val="31A354"/>
                </a:solidFill>
                <a:latin typeface="Georgia" pitchFamily="34" charset="0"/>
                <a:ea typeface="Georgia" pitchFamily="34" charset="-122"/>
                <a:cs typeface="Georgia" pitchFamily="34" charset="-120"/>
              </a:rPr>
              <a:t>69.5%</a:t>
            </a:r>
            <a:endParaRPr lang="en-US" sz="2700" dirty="0"/>
          </a:p>
        </p:txBody>
      </p:sp>
      <p:sp>
        <p:nvSpPr>
          <p:cNvPr id="15" name="Text 12"/>
          <p:cNvSpPr/>
          <p:nvPr/>
        </p:nvSpPr>
        <p:spPr>
          <a:xfrm>
            <a:off x="6903720" y="2569464"/>
            <a:ext cx="1828800" cy="640080"/>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VLASH — asynchronous</a:t>
            </a:r>
            <a:endParaRPr lang="en-US" sz="1150" dirty="0"/>
          </a:p>
        </p:txBody>
      </p:sp>
      <p:sp>
        <p:nvSpPr>
          <p:cNvPr id="16" name="Shape 13"/>
          <p:cNvSpPr/>
          <p:nvPr/>
        </p:nvSpPr>
        <p:spPr>
          <a:xfrm>
            <a:off x="5257800" y="3392424"/>
            <a:ext cx="3566160" cy="777240"/>
          </a:xfrm>
          <a:prstGeom prst="roundRect">
            <a:avLst>
              <a:gd name="adj" fmla="val 7059"/>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7" name="Text 14"/>
          <p:cNvSpPr/>
          <p:nvPr/>
        </p:nvSpPr>
        <p:spPr>
          <a:xfrm>
            <a:off x="5440680" y="3465576"/>
            <a:ext cx="1463040" cy="640080"/>
          </a:xfrm>
          <a:prstGeom prst="rect">
            <a:avLst/>
          </a:prstGeom>
          <a:noFill/>
          <a:ln/>
        </p:spPr>
        <p:txBody>
          <a:bodyPr wrap="square" rtlCol="0" anchor="ctr"/>
          <a:lstStyle/>
          <a:p>
            <a:pPr indent="0" marL="0">
              <a:buNone/>
            </a:pPr>
            <a:r>
              <a:rPr lang="en-US" sz="2700" b="1" dirty="0">
                <a:solidFill>
                  <a:srgbClr val="D95F0E"/>
                </a:solidFill>
                <a:latin typeface="Georgia" pitchFamily="34" charset="0"/>
                <a:ea typeface="Georgia" pitchFamily="34" charset="-122"/>
                <a:cs typeface="Georgia" pitchFamily="34" charset="-120"/>
              </a:rPr>
              <a:t>35.4%</a:t>
            </a:r>
            <a:endParaRPr lang="en-US" sz="2700" dirty="0"/>
          </a:p>
        </p:txBody>
      </p:sp>
      <p:sp>
        <p:nvSpPr>
          <p:cNvPr id="18" name="Text 15"/>
          <p:cNvSpPr/>
          <p:nvPr/>
        </p:nvSpPr>
        <p:spPr>
          <a:xfrm>
            <a:off x="6903720" y="3465576"/>
            <a:ext cx="1828800" cy="640080"/>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Naive-Async — collapses</a:t>
            </a:r>
            <a:endParaRPr lang="en-US" sz="1150" dirty="0"/>
          </a:p>
        </p:txBody>
      </p:sp>
      <p:sp>
        <p:nvSpPr>
          <p:cNvPr id="19" name="Text 16"/>
          <p:cNvSpPr/>
          <p:nvPr/>
        </p:nvSpPr>
        <p:spPr>
          <a:xfrm>
            <a:off x="5257800" y="4315968"/>
            <a:ext cx="3566160" cy="594360"/>
          </a:xfrm>
          <a:prstGeom prst="rect">
            <a:avLst/>
          </a:prstGeom>
          <a:noFill/>
          <a:ln/>
        </p:spPr>
        <p:txBody>
          <a:bodyPr wrap="square" rtlCol="0" anchor="ctr"/>
          <a:lstStyle/>
          <a:p>
            <a:pPr indent="0" marL="0">
              <a:buNone/>
            </a:pPr>
            <a:r>
              <a:rPr lang="en-US" sz="1150" i="1" dirty="0">
                <a:solidFill>
                  <a:srgbClr val="5A6478"/>
                </a:solidFill>
                <a:latin typeface="Calibri" pitchFamily="34" charset="0"/>
                <a:ea typeface="Calibri" pitchFamily="34" charset="-122"/>
                <a:cs typeface="Calibri" pitchFamily="34" charset="-120"/>
              </a:rPr>
              <a:t>VLASH keeps ~double the naive accuracy while never stalling; motion stays as smooth as synchronous.</a:t>
            </a:r>
            <a:endParaRPr lang="en-US" sz="1150" dirty="0"/>
          </a:p>
        </p:txBody>
      </p:sp>
    </p:spTree>
  </p:cSld>
  <p:clrMapOvr>
    <a:masterClrMapping/>
  </p:clrMapOvr>
  <p:transition spd="med" dur="400">
    <p:fade/>
  </p:transition>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500"/>
                      </p:stCondLst>
                      <p:childTnLst>
                        <p:par>
                          <p:cTn id="9" fill="hold">
                            <p:stCondLst>
                              <p:cond delay="0"/>
                            </p:stCondLst>
                            <p:childTnLst>
                              <p:par>
                                <p:cTn id="10" presetID="10" presetClass="entr" presetSubtype="0" fill="hold" grpId="1" nodeType="afterEffect">
                                  <p:stCondLst>
                                    <p:cond delay="0"/>
                                  </p:stCondLst>
                                  <p:childTnLst>
                                    <p:set>
                                      <p:cBhvr>
                                        <p:cTn id="11" dur="1" fill="hold"/>
                                        <p:tgtEl>
                                          <p:spTgt spid="3"/>
                                        </p:tgtEl>
                                        <p:attrNameLst>
                                          <p:attrName>style.visibility</p:attrName>
                                        </p:attrNameLst>
                                      </p:cBhvr>
                                      <p:to>
                                        <p:strVal val="visible"/>
                                      </p:to>
                                    </p:set>
                                    <p:animEffect transition="in" filter="fade">
                                      <p:cBhvr>
                                        <p:cTn id="12" dur="400"/>
                                        <p:tgtEl>
                                          <p:spTgt spid="3"/>
                                        </p:tgtEl>
                                      </p:cBhvr>
                                    </p:animEffect>
                                  </p:childTnLst>
                                </p:cTn>
                              </p:par>
                            </p:childTnLst>
                          </p:cTn>
                        </p:par>
                      </p:childTnLst>
                    </p:cTn>
                  </p:par>
                  <p:par>
                    <p:cTn id="13" fill="hold">
                      <p:stCondLst>
                        <p:cond delay="500"/>
                      </p:stCondLst>
                      <p:childTnLst>
                        <p:par>
                          <p:cTn id="14" fill="hold">
                            <p:stCondLst>
                              <p:cond delay="0"/>
                            </p:stCondLst>
                            <p:childTnLst>
                              <p:par>
                                <p:cTn id="15" presetID="10" presetClass="entr" presetSubtype="0" fill="hold" grpId="2" nodeType="afterEffect">
                                  <p:stCondLst>
                                    <p:cond delay="0"/>
                                  </p:stCondLst>
                                  <p:childTnLst>
                                    <p:set>
                                      <p:cBhvr>
                                        <p:cTn id="16" dur="1" fill="hold"/>
                                        <p:tgtEl>
                                          <p:spTgt spid="4"/>
                                        </p:tgtEl>
                                        <p:attrNameLst>
                                          <p:attrName>style.visibility</p:attrName>
                                        </p:attrNameLst>
                                      </p:cBhvr>
                                      <p:to>
                                        <p:strVal val="visible"/>
                                      </p:to>
                                    </p:set>
                                    <p:animEffect transition="in" filter="fade">
                                      <p:cBhvr>
                                        <p:cTn id="17" dur="400"/>
                                        <p:tgtEl>
                                          <p:spTgt spid="4"/>
                                        </p:tgtEl>
                                      </p:cBhvr>
                                    </p:animEffect>
                                  </p:childTnLst>
                                </p:cTn>
                              </p:par>
                            </p:childTnLst>
                          </p:cTn>
                        </p:par>
                      </p:childTnLst>
                    </p:cTn>
                  </p:par>
                  <p:par>
                    <p:cTn id="18" fill="hold">
                      <p:stCondLst>
                        <p:cond delay="500"/>
                      </p:stCondLst>
                      <p:childTnLst>
                        <p:par>
                          <p:cTn id="19" fill="hold">
                            <p:stCondLst>
                              <p:cond delay="0"/>
                            </p:stCondLst>
                            <p:childTnLst>
                              <p:par>
                                <p:cTn id="20" presetID="10" presetClass="entr" presetSubtype="0" fill="hold" grpId="3" nodeType="afterEffect">
                                  <p:stCondLst>
                                    <p:cond delay="0"/>
                                  </p:stCondLst>
                                  <p:childTnLst>
                                    <p:set>
                                      <p:cBhvr>
                                        <p:cTn id="21" dur="1" fill="hold"/>
                                        <p:tgtEl>
                                          <p:spTgt spid="5"/>
                                        </p:tgtEl>
                                        <p:attrNameLst>
                                          <p:attrName>style.visibility</p:attrName>
                                        </p:attrNameLst>
                                      </p:cBhvr>
                                      <p:to>
                                        <p:strVal val="visible"/>
                                      </p:to>
                                    </p:set>
                                    <p:animEffect transition="in" filter="fade">
                                      <p:cBhvr>
                                        <p:cTn id="22" dur="400"/>
                                        <p:tgtEl>
                                          <p:spTgt spid="5"/>
                                        </p:tgtEl>
                                      </p:cBhvr>
                                    </p:animEffect>
                                  </p:childTnLst>
                                </p:cTn>
                              </p:par>
                            </p:childTnLst>
                          </p:cTn>
                        </p:par>
                      </p:childTnLst>
                    </p:cTn>
                  </p:par>
                  <p:par>
                    <p:cTn id="23" fill="hold">
                      <p:stCondLst>
                        <p:cond delay="500"/>
                      </p:stCondLst>
                      <p:childTnLst>
                        <p:par>
                          <p:cTn id="24" fill="hold">
                            <p:stCondLst>
                              <p:cond delay="0"/>
                            </p:stCondLst>
                            <p:childTnLst>
                              <p:par>
                                <p:cTn id="25" presetID="10" presetClass="entr" presetSubtype="0" fill="hold" grpId="4" nodeType="afterEffect">
                                  <p:stCondLst>
                                    <p:cond delay="0"/>
                                  </p:stCondLst>
                                  <p:childTnLst>
                                    <p:set>
                                      <p:cBhvr>
                                        <p:cTn id="26" dur="1" fill="hold"/>
                                        <p:tgtEl>
                                          <p:spTgt spid="6"/>
                                        </p:tgtEl>
                                        <p:attrNameLst>
                                          <p:attrName>style.visibility</p:attrName>
                                        </p:attrNameLst>
                                      </p:cBhvr>
                                      <p:to>
                                        <p:strVal val="visible"/>
                                      </p:to>
                                    </p:set>
                                    <p:animEffect transition="in" filter="fade">
                                      <p:cBhvr>
                                        <p:cTn id="27" dur="400"/>
                                        <p:tgtEl>
                                          <p:spTgt spid="6"/>
                                        </p:tgtEl>
                                      </p:cBhvr>
                                    </p:animEffect>
                                  </p:childTnLst>
                                </p:cTn>
                              </p:par>
                            </p:childTnLst>
                          </p:cTn>
                        </p:par>
                      </p:childTnLst>
                    </p:cTn>
                  </p:par>
                  <p:par>
                    <p:cTn id="28" fill="hold">
                      <p:stCondLst>
                        <p:cond delay="500"/>
                      </p:stCondLst>
                      <p:childTnLst>
                        <p:par>
                          <p:cTn id="29" fill="hold">
                            <p:stCondLst>
                              <p:cond delay="0"/>
                            </p:stCondLst>
                            <p:childTnLst>
                              <p:par>
                                <p:cTn id="30" presetID="10" presetClass="entr" presetSubtype="0" fill="hold" grpId="5" nodeType="afterEffect">
                                  <p:stCondLst>
                                    <p:cond delay="0"/>
                                  </p:stCondLst>
                                  <p:childTnLst>
                                    <p:set>
                                      <p:cBhvr>
                                        <p:cTn id="31" dur="1" fill="hold"/>
                                        <p:tgtEl>
                                          <p:spTgt spid="7"/>
                                        </p:tgtEl>
                                        <p:attrNameLst>
                                          <p:attrName>style.visibility</p:attrName>
                                        </p:attrNameLst>
                                      </p:cBhvr>
                                      <p:to>
                                        <p:strVal val="visible"/>
                                      </p:to>
                                    </p:set>
                                    <p:animEffect transition="in" filter="fade">
                                      <p:cBhvr>
                                        <p:cTn id="32" dur="400"/>
                                        <p:tgtEl>
                                          <p:spTgt spid="7"/>
                                        </p:tgtEl>
                                      </p:cBhvr>
                                    </p:animEffect>
                                  </p:childTnLst>
                                </p:cTn>
                              </p:par>
                            </p:childTnLst>
                          </p:cTn>
                        </p:par>
                      </p:childTnLst>
                    </p:cTn>
                  </p:par>
                  <p:par>
                    <p:cTn id="33" fill="hold">
                      <p:stCondLst>
                        <p:cond delay="500"/>
                      </p:stCondLst>
                      <p:childTnLst>
                        <p:par>
                          <p:cTn id="34" fill="hold">
                            <p:stCondLst>
                              <p:cond delay="0"/>
                            </p:stCondLst>
                            <p:childTnLst>
                              <p:par>
                                <p:cTn id="35" presetID="10" presetClass="entr" presetSubtype="0" fill="hold" grpId="6" nodeType="afterEffect">
                                  <p:stCondLst>
                                    <p:cond delay="0"/>
                                  </p:stCondLst>
                                  <p:childTnLst>
                                    <p:set>
                                      <p:cBhvr>
                                        <p:cTn id="36" dur="1" fill="hold"/>
                                        <p:tgtEl>
                                          <p:spTgt spid="8"/>
                                        </p:tgtEl>
                                        <p:attrNameLst>
                                          <p:attrName>style.visibility</p:attrName>
                                        </p:attrNameLst>
                                      </p:cBhvr>
                                      <p:to>
                                        <p:strVal val="visible"/>
                                      </p:to>
                                    </p:set>
                                    <p:animEffect transition="in" filter="fade">
                                      <p:cBhvr>
                                        <p:cTn id="37" dur="400"/>
                                        <p:tgtEl>
                                          <p:spTgt spid="8"/>
                                        </p:tgtEl>
                                      </p:cBhvr>
                                    </p:animEffect>
                                  </p:childTnLst>
                                </p:cTn>
                              </p:par>
                            </p:childTnLst>
                          </p:cTn>
                        </p:par>
                      </p:childTnLst>
                    </p:cTn>
                  </p:par>
                  <p:par>
                    <p:cTn id="38" fill="hold">
                      <p:stCondLst>
                        <p:cond delay="500"/>
                      </p:stCondLst>
                      <p:childTnLst>
                        <p:par>
                          <p:cTn id="39" fill="hold">
                            <p:stCondLst>
                              <p:cond delay="0"/>
                            </p:stCondLst>
                            <p:childTnLst>
                              <p:par>
                                <p:cTn id="40" presetID="10" presetClass="entr" presetSubtype="0" fill="hold" grpId="7" nodeType="afterEffect">
                                  <p:stCondLst>
                                    <p:cond delay="0"/>
                                  </p:stCondLst>
                                  <p:childTnLst>
                                    <p:set>
                                      <p:cBhvr>
                                        <p:cTn id="41" dur="1" fill="hold"/>
                                        <p:tgtEl>
                                          <p:spTgt spid="9"/>
                                        </p:tgtEl>
                                        <p:attrNameLst>
                                          <p:attrName>style.visibility</p:attrName>
                                        </p:attrNameLst>
                                      </p:cBhvr>
                                      <p:to>
                                        <p:strVal val="visible"/>
                                      </p:to>
                                    </p:set>
                                    <p:animEffect transition="in" filter="fade">
                                      <p:cBhvr>
                                        <p:cTn id="42" dur="400"/>
                                        <p:tgtEl>
                                          <p:spTgt spid="9"/>
                                        </p:tgtEl>
                                      </p:cBhvr>
                                    </p:animEffect>
                                  </p:childTnLst>
                                </p:cTn>
                              </p:par>
                            </p:childTnLst>
                          </p:cTn>
                        </p:par>
                      </p:childTnLst>
                    </p:cTn>
                  </p:par>
                  <p:par>
                    <p:cTn id="43" fill="hold">
                      <p:stCondLst>
                        <p:cond delay="500"/>
                      </p:stCondLst>
                      <p:childTnLst>
                        <p:par>
                          <p:cTn id="44" fill="hold">
                            <p:stCondLst>
                              <p:cond delay="0"/>
                            </p:stCondLst>
                            <p:childTnLst>
                              <p:par>
                                <p:cTn id="45" presetID="10" presetClass="entr" presetSubtype="0" fill="hold" grpId="8" nodeType="afterEffect">
                                  <p:stCondLst>
                                    <p:cond delay="0"/>
                                  </p:stCondLst>
                                  <p:childTnLst>
                                    <p:set>
                                      <p:cBhvr>
                                        <p:cTn id="46" dur="1" fill="hold"/>
                                        <p:tgtEl>
                                          <p:spTgt spid="10"/>
                                        </p:tgtEl>
                                        <p:attrNameLst>
                                          <p:attrName>style.visibility</p:attrName>
                                        </p:attrNameLst>
                                      </p:cBhvr>
                                      <p:to>
                                        <p:strVal val="visible"/>
                                      </p:to>
                                    </p:set>
                                    <p:animEffect transition="in" filter="fade">
                                      <p:cBhvr>
                                        <p:cTn id="47" dur="400"/>
                                        <p:tgtEl>
                                          <p:spTgt spid="10"/>
                                        </p:tgtEl>
                                      </p:cBhvr>
                                    </p:animEffect>
                                  </p:childTnLst>
                                </p:cTn>
                              </p:par>
                            </p:childTnLst>
                          </p:cTn>
                        </p:par>
                      </p:childTnLst>
                    </p:cTn>
                  </p:par>
                  <p:par>
                    <p:cTn id="48" fill="hold">
                      <p:stCondLst>
                        <p:cond delay="500"/>
                      </p:stCondLst>
                      <p:childTnLst>
                        <p:par>
                          <p:cTn id="49" fill="hold">
                            <p:stCondLst>
                              <p:cond delay="0"/>
                            </p:stCondLst>
                            <p:childTnLst>
                              <p:par>
                                <p:cTn id="50" presetID="10" presetClass="entr" presetSubtype="0" fill="hold" grpId="9" nodeType="afterEffect">
                                  <p:stCondLst>
                                    <p:cond delay="0"/>
                                  </p:stCondLst>
                                  <p:childTnLst>
                                    <p:set>
                                      <p:cBhvr>
                                        <p:cTn id="51" dur="1" fill="hold"/>
                                        <p:tgtEl>
                                          <p:spTgt spid="11"/>
                                        </p:tgtEl>
                                        <p:attrNameLst>
                                          <p:attrName>style.visibility</p:attrName>
                                        </p:attrNameLst>
                                      </p:cBhvr>
                                      <p:to>
                                        <p:strVal val="visible"/>
                                      </p:to>
                                    </p:set>
                                    <p:animEffect transition="in" filter="fade">
                                      <p:cBhvr>
                                        <p:cTn id="52" dur="400"/>
                                        <p:tgtEl>
                                          <p:spTgt spid="11"/>
                                        </p:tgtEl>
                                      </p:cBhvr>
                                    </p:animEffect>
                                  </p:childTnLst>
                                </p:cTn>
                              </p:par>
                            </p:childTnLst>
                          </p:cTn>
                        </p:par>
                      </p:childTnLst>
                    </p:cTn>
                  </p:par>
                  <p:par>
                    <p:cTn id="53" fill="hold">
                      <p:stCondLst>
                        <p:cond delay="500"/>
                      </p:stCondLst>
                      <p:childTnLst>
                        <p:par>
                          <p:cTn id="54" fill="hold">
                            <p:stCondLst>
                              <p:cond delay="0"/>
                            </p:stCondLst>
                            <p:childTnLst>
                              <p:par>
                                <p:cTn id="55" presetID="10" presetClass="entr" presetSubtype="0" fill="hold" grpId="10" nodeType="afterEffect">
                                  <p:stCondLst>
                                    <p:cond delay="0"/>
                                  </p:stCondLst>
                                  <p:childTnLst>
                                    <p:set>
                                      <p:cBhvr>
                                        <p:cTn id="56" dur="1" fill="hold"/>
                                        <p:tgtEl>
                                          <p:spTgt spid="12"/>
                                        </p:tgtEl>
                                        <p:attrNameLst>
                                          <p:attrName>style.visibility</p:attrName>
                                        </p:attrNameLst>
                                      </p:cBhvr>
                                      <p:to>
                                        <p:strVal val="visible"/>
                                      </p:to>
                                    </p:set>
                                    <p:animEffect transition="in" filter="fade">
                                      <p:cBhvr>
                                        <p:cTn id="57" dur="400"/>
                                        <p:tgtEl>
                                          <p:spTgt spid="12"/>
                                        </p:tgtEl>
                                      </p:cBhvr>
                                    </p:animEffect>
                                  </p:childTnLst>
                                </p:cTn>
                              </p:par>
                            </p:childTnLst>
                          </p:cTn>
                        </p:par>
                      </p:childTnLst>
                    </p:cTn>
                  </p:par>
                  <p:par>
                    <p:cTn id="58" fill="hold">
                      <p:stCondLst>
                        <p:cond delay="500"/>
                      </p:stCondLst>
                      <p:childTnLst>
                        <p:par>
                          <p:cTn id="59" fill="hold">
                            <p:stCondLst>
                              <p:cond delay="0"/>
                            </p:stCondLst>
                            <p:childTnLst>
                              <p:par>
                                <p:cTn id="60" presetID="10" presetClass="entr" presetSubtype="0" fill="hold" grpId="11" nodeType="afterEffect">
                                  <p:stCondLst>
                                    <p:cond delay="0"/>
                                  </p:stCondLst>
                                  <p:childTnLst>
                                    <p:set>
                                      <p:cBhvr>
                                        <p:cTn id="61" dur="1" fill="hold"/>
                                        <p:tgtEl>
                                          <p:spTgt spid="13"/>
                                        </p:tgtEl>
                                        <p:attrNameLst>
                                          <p:attrName>style.visibility</p:attrName>
                                        </p:attrNameLst>
                                      </p:cBhvr>
                                      <p:to>
                                        <p:strVal val="visible"/>
                                      </p:to>
                                    </p:set>
                                    <p:animEffect transition="in" filter="fade">
                                      <p:cBhvr>
                                        <p:cTn id="62" dur="400"/>
                                        <p:tgtEl>
                                          <p:spTgt spid="13"/>
                                        </p:tgtEl>
                                      </p:cBhvr>
                                    </p:animEffect>
                                  </p:childTnLst>
                                </p:cTn>
                              </p:par>
                            </p:childTnLst>
                          </p:cTn>
                        </p:par>
                      </p:childTnLst>
                    </p:cTn>
                  </p:par>
                  <p:par>
                    <p:cTn id="63" fill="hold">
                      <p:stCondLst>
                        <p:cond delay="500"/>
                      </p:stCondLst>
                      <p:childTnLst>
                        <p:par>
                          <p:cTn id="64" fill="hold">
                            <p:stCondLst>
                              <p:cond delay="0"/>
                            </p:stCondLst>
                            <p:childTnLst>
                              <p:par>
                                <p:cTn id="65" presetID="10" presetClass="entr" presetSubtype="0" fill="hold" grpId="12" nodeType="afterEffect">
                                  <p:stCondLst>
                                    <p:cond delay="0"/>
                                  </p:stCondLst>
                                  <p:childTnLst>
                                    <p:set>
                                      <p:cBhvr>
                                        <p:cTn id="66" dur="1" fill="hold"/>
                                        <p:tgtEl>
                                          <p:spTgt spid="14"/>
                                        </p:tgtEl>
                                        <p:attrNameLst>
                                          <p:attrName>style.visibility</p:attrName>
                                        </p:attrNameLst>
                                      </p:cBhvr>
                                      <p:to>
                                        <p:strVal val="visible"/>
                                      </p:to>
                                    </p:set>
                                    <p:animEffect transition="in" filter="fade">
                                      <p:cBhvr>
                                        <p:cTn id="67" dur="400"/>
                                        <p:tgtEl>
                                          <p:spTgt spid="14"/>
                                        </p:tgtEl>
                                      </p:cBhvr>
                                    </p:animEffect>
                                  </p:childTnLst>
                                </p:cTn>
                              </p:par>
                            </p:childTnLst>
                          </p:cTn>
                        </p:par>
                      </p:childTnLst>
                    </p:cTn>
                  </p:par>
                  <p:par>
                    <p:cTn id="68" fill="hold">
                      <p:stCondLst>
                        <p:cond delay="500"/>
                      </p:stCondLst>
                      <p:childTnLst>
                        <p:par>
                          <p:cTn id="69" fill="hold">
                            <p:stCondLst>
                              <p:cond delay="0"/>
                            </p:stCondLst>
                            <p:childTnLst>
                              <p:par>
                                <p:cTn id="70" presetID="10" presetClass="entr" presetSubtype="0" fill="hold" grpId="13" nodeType="afterEffect">
                                  <p:stCondLst>
                                    <p:cond delay="0"/>
                                  </p:stCondLst>
                                  <p:childTnLst>
                                    <p:set>
                                      <p:cBhvr>
                                        <p:cTn id="71" dur="1" fill="hold"/>
                                        <p:tgtEl>
                                          <p:spTgt spid="15"/>
                                        </p:tgtEl>
                                        <p:attrNameLst>
                                          <p:attrName>style.visibility</p:attrName>
                                        </p:attrNameLst>
                                      </p:cBhvr>
                                      <p:to>
                                        <p:strVal val="visible"/>
                                      </p:to>
                                    </p:set>
                                    <p:animEffect transition="in" filter="fade">
                                      <p:cBhvr>
                                        <p:cTn id="72" dur="400"/>
                                        <p:tgtEl>
                                          <p:spTgt spid="15"/>
                                        </p:tgtEl>
                                      </p:cBhvr>
                                    </p:animEffect>
                                  </p:childTnLst>
                                </p:cTn>
                              </p:par>
                            </p:childTnLst>
                          </p:cTn>
                        </p:par>
                      </p:childTnLst>
                    </p:cTn>
                  </p:par>
                  <p:par>
                    <p:cTn id="73" fill="hold">
                      <p:stCondLst>
                        <p:cond delay="500"/>
                      </p:stCondLst>
                      <p:childTnLst>
                        <p:par>
                          <p:cTn id="74" fill="hold">
                            <p:stCondLst>
                              <p:cond delay="0"/>
                            </p:stCondLst>
                            <p:childTnLst>
                              <p:par>
                                <p:cTn id="75" presetID="10" presetClass="entr" presetSubtype="0" fill="hold" grpId="14" nodeType="afterEffect">
                                  <p:stCondLst>
                                    <p:cond delay="0"/>
                                  </p:stCondLst>
                                  <p:childTnLst>
                                    <p:set>
                                      <p:cBhvr>
                                        <p:cTn id="76" dur="1" fill="hold"/>
                                        <p:tgtEl>
                                          <p:spTgt spid="16"/>
                                        </p:tgtEl>
                                        <p:attrNameLst>
                                          <p:attrName>style.visibility</p:attrName>
                                        </p:attrNameLst>
                                      </p:cBhvr>
                                      <p:to>
                                        <p:strVal val="visible"/>
                                      </p:to>
                                    </p:set>
                                    <p:animEffect transition="in" filter="fade">
                                      <p:cBhvr>
                                        <p:cTn id="77" dur="400"/>
                                        <p:tgtEl>
                                          <p:spTgt spid="16"/>
                                        </p:tgtEl>
                                      </p:cBhvr>
                                    </p:animEffect>
                                  </p:childTnLst>
                                </p:cTn>
                              </p:par>
                            </p:childTnLst>
                          </p:cTn>
                        </p:par>
                      </p:childTnLst>
                    </p:cTn>
                  </p:par>
                  <p:par>
                    <p:cTn id="78" fill="hold">
                      <p:stCondLst>
                        <p:cond delay="500"/>
                      </p:stCondLst>
                      <p:childTnLst>
                        <p:par>
                          <p:cTn id="79" fill="hold">
                            <p:stCondLst>
                              <p:cond delay="0"/>
                            </p:stCondLst>
                            <p:childTnLst>
                              <p:par>
                                <p:cTn id="80" presetID="10" presetClass="entr" presetSubtype="0" fill="hold" grpId="15" nodeType="afterEffect">
                                  <p:stCondLst>
                                    <p:cond delay="0"/>
                                  </p:stCondLst>
                                  <p:childTnLst>
                                    <p:set>
                                      <p:cBhvr>
                                        <p:cTn id="81" dur="1" fill="hold"/>
                                        <p:tgtEl>
                                          <p:spTgt spid="17"/>
                                        </p:tgtEl>
                                        <p:attrNameLst>
                                          <p:attrName>style.visibility</p:attrName>
                                        </p:attrNameLst>
                                      </p:cBhvr>
                                      <p:to>
                                        <p:strVal val="visible"/>
                                      </p:to>
                                    </p:set>
                                    <p:animEffect transition="in" filter="fade">
                                      <p:cBhvr>
                                        <p:cTn id="82" dur="400"/>
                                        <p:tgtEl>
                                          <p:spTgt spid="17"/>
                                        </p:tgtEl>
                                      </p:cBhvr>
                                    </p:animEffect>
                                  </p:childTnLst>
                                </p:cTn>
                              </p:par>
                            </p:childTnLst>
                          </p:cTn>
                        </p:par>
                      </p:childTnLst>
                    </p:cTn>
                  </p:par>
                  <p:par>
                    <p:cTn id="83" fill="hold">
                      <p:stCondLst>
                        <p:cond delay="500"/>
                      </p:stCondLst>
                      <p:childTnLst>
                        <p:par>
                          <p:cTn id="84" fill="hold">
                            <p:stCondLst>
                              <p:cond delay="0"/>
                            </p:stCondLst>
                            <p:childTnLst>
                              <p:par>
                                <p:cTn id="85" presetID="10" presetClass="entr" presetSubtype="0" fill="hold" grpId="16" nodeType="afterEffect">
                                  <p:stCondLst>
                                    <p:cond delay="0"/>
                                  </p:stCondLst>
                                  <p:childTnLst>
                                    <p:set>
                                      <p:cBhvr>
                                        <p:cTn id="86" dur="1" fill="hold"/>
                                        <p:tgtEl>
                                          <p:spTgt spid="18"/>
                                        </p:tgtEl>
                                        <p:attrNameLst>
                                          <p:attrName>style.visibility</p:attrName>
                                        </p:attrNameLst>
                                      </p:cBhvr>
                                      <p:to>
                                        <p:strVal val="visible"/>
                                      </p:to>
                                    </p:set>
                                    <p:animEffect transition="in" filter="fade">
                                      <p:cBhvr>
                                        <p:cTn id="87" dur="400"/>
                                        <p:tgtEl>
                                          <p:spTgt spid="18"/>
                                        </p:tgtEl>
                                      </p:cBhvr>
                                    </p:animEffect>
                                  </p:childTnLst>
                                </p:cTn>
                              </p:par>
                            </p:childTnLst>
                          </p:cTn>
                        </p:par>
                      </p:childTnLst>
                    </p:cTn>
                  </p:par>
                  <p:par>
                    <p:cTn id="88" fill="hold">
                      <p:stCondLst>
                        <p:cond delay="500"/>
                      </p:stCondLst>
                      <p:childTnLst>
                        <p:par>
                          <p:cTn id="89" fill="hold">
                            <p:stCondLst>
                              <p:cond delay="0"/>
                            </p:stCondLst>
                            <p:childTnLst>
                              <p:par>
                                <p:cTn id="90" presetID="10" presetClass="entr" presetSubtype="0" fill="hold" grpId="17" nodeType="afterEffect">
                                  <p:stCondLst>
                                    <p:cond delay="0"/>
                                  </p:stCondLst>
                                  <p:childTnLst>
                                    <p:set>
                                      <p:cBhvr>
                                        <p:cTn id="91" dur="1" fill="hold"/>
                                        <p:tgtEl>
                                          <p:spTgt spid="19"/>
                                        </p:tgtEl>
                                        <p:attrNameLst>
                                          <p:attrName>style.visibility</p:attrName>
                                        </p:attrNameLst>
                                      </p:cBhvr>
                                      <p:to>
                                        <p:strVal val="visible"/>
                                      </p:to>
                                    </p:set>
                                    <p:animEffect transition="in" filter="fade">
                                      <p:cBhvr>
                                        <p:cTn id="92" dur="400"/>
                                        <p:tgtEl>
                                          <p:spTgt spid="19"/>
                                        </p:tgtEl>
                                      </p:cBhvr>
                                    </p:animEffect>
                                  </p:childTnLst>
                                </p:cTn>
                              </p:par>
                            </p:childTnLst>
                          </p:cTn>
                        </p:par>
                      </p:childTnLst>
                    </p:cTn>
                  </p:par>
                </p:childTnLst>
              </p:cTn>
              <p:prevCondLst>
                <p:cond evt="onPrevClick" delay="0">
                  <p:tn/>
                </p:cond>
              </p:prevCondLst>
            </p:seq>
          </p:childTnLst>
        </p:cTn>
      </p:par>
    </p:tnLst>
    <p:bldLst>
      <p:bldP spid="2" grpId="0" build="p"/>
      <p:bldP spid="3" grpId="1" build="p"/>
      <p:bldP spid="4" grpId="2" build="p"/>
      <p:bldP spid="5" grpId="3" build="p"/>
      <p:bldP spid="6" grpId="4" build="p"/>
      <p:bldP spid="7" grpId="5" build="p"/>
      <p:bldP spid="8" grpId="6" build="p"/>
      <p:bldP spid="9" grpId="7" build="p"/>
      <p:bldP spid="10" grpId="8" build="p"/>
      <p:bldP spid="11" grpId="9" build="p"/>
      <p:bldP spid="12" grpId="10" build="p"/>
      <p:bldP spid="13" grpId="11" build="p"/>
      <p:bldP spid="14" grpId="12" build="p"/>
      <p:bldP spid="15" grpId="13" build="p"/>
      <p:bldP spid="16" grpId="14" build="p"/>
      <p:bldP spid="17" grpId="15" build="p"/>
      <p:bldP spid="18" grpId="16" build="p"/>
      <p:bldP spid="19" grpId="17" build="p"/>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2761"/>
          </a:solidFill>
          <a:ln/>
        </p:spPr>
      </p:sp>
      <p:sp>
        <p:nvSpPr>
          <p:cNvPr id="3" name="Text 1"/>
          <p:cNvSpPr/>
          <p:nvPr/>
        </p:nvSpPr>
        <p:spPr>
          <a:xfrm>
            <a:off x="411480" y="201168"/>
            <a:ext cx="8046720" cy="274320"/>
          </a:xfrm>
          <a:prstGeom prst="rect">
            <a:avLst/>
          </a:prstGeom>
          <a:noFill/>
          <a:ln/>
        </p:spPr>
        <p:txBody>
          <a:bodyPr wrap="square" rtlCol="0" anchor="ctr"/>
          <a:lstStyle/>
          <a:p>
            <a:pPr indent="0" marL="0">
              <a:buNone/>
            </a:pPr>
            <a:r>
              <a:rPr lang="en-US" sz="1100" b="1" spc="300" kern="0" dirty="0">
                <a:solidFill>
                  <a:srgbClr val="5A6478"/>
                </a:solidFill>
                <a:latin typeface="Calibri" pitchFamily="34" charset="0"/>
                <a:ea typeface="Calibri" pitchFamily="34" charset="-122"/>
                <a:cs typeface="Calibri" pitchFamily="34" charset="-120"/>
              </a:rPr>
              <a:t>SIMULATION RESULTS</a:t>
            </a:r>
            <a:endParaRPr lang="en-US" sz="1100" dirty="0"/>
          </a:p>
        </p:txBody>
      </p:sp>
      <p:sp>
        <p:nvSpPr>
          <p:cNvPr id="4" name="Text 2"/>
          <p:cNvSpPr/>
          <p:nvPr/>
        </p:nvSpPr>
        <p:spPr>
          <a:xfrm>
            <a:off x="384048" y="420624"/>
            <a:ext cx="8321040" cy="566928"/>
          </a:xfrm>
          <a:prstGeom prst="rect">
            <a:avLst/>
          </a:prstGeom>
          <a:noFill/>
          <a:ln/>
        </p:spPr>
        <p:txBody>
          <a:bodyPr wrap="square" rtlCol="0" anchor="ctr"/>
          <a:lstStyle/>
          <a:p>
            <a:pPr indent="0" marL="0">
              <a:buNone/>
            </a:pPr>
            <a:r>
              <a:rPr lang="en-US" sz="2700" b="1" dirty="0">
                <a:solidFill>
                  <a:srgbClr val="1E2761"/>
                </a:solidFill>
                <a:latin typeface="Georgia" pitchFamily="34" charset="0"/>
                <a:ea typeface="Georgia" pitchFamily="34" charset="-122"/>
                <a:cs typeface="Georgia" pitchFamily="34" charset="-120"/>
              </a:rPr>
              <a:t>Result 3 — dynamics widen the gap</a:t>
            </a:r>
            <a:endParaRPr lang="en-US" sz="2700" dirty="0"/>
          </a:p>
        </p:txBody>
      </p:sp>
      <p:sp>
        <p:nvSpPr>
          <p:cNvPr id="5" name="Text 3"/>
          <p:cNvSpPr/>
          <p:nvPr/>
        </p:nvSpPr>
        <p:spPr>
          <a:xfrm>
            <a:off x="8549640" y="4773168"/>
            <a:ext cx="457200" cy="274320"/>
          </a:xfrm>
          <a:prstGeom prst="rect">
            <a:avLst/>
          </a:prstGeom>
          <a:noFill/>
          <a:ln/>
        </p:spPr>
        <p:txBody>
          <a:bodyPr wrap="square"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07</a:t>
            </a:r>
            <a:endParaRPr lang="en-US" sz="1000" dirty="0"/>
          </a:p>
        </p:txBody>
      </p:sp>
      <p:sp>
        <p:nvSpPr>
          <p:cNvPr id="6" name="Text 4"/>
          <p:cNvSpPr/>
          <p:nvPr/>
        </p:nvSpPr>
        <p:spPr>
          <a:xfrm>
            <a:off x="411480" y="4773168"/>
            <a:ext cx="5943600" cy="274320"/>
          </a:xfrm>
          <a:prstGeom prst="rect">
            <a:avLst/>
          </a:prstGeom>
          <a:noFill/>
          <a:ln/>
        </p:spPr>
        <p:txBody>
          <a:bodyPr wrap="square" rtlCol="0" anchor="ctr"/>
          <a:lstStyle/>
          <a:p>
            <a:pPr indent="0" marL="0">
              <a:buNone/>
            </a:pPr>
            <a:r>
              <a:rPr lang="en-US" sz="900" dirty="0">
                <a:solidFill>
                  <a:srgbClr val="5A6478"/>
                </a:solidFill>
                <a:latin typeface="Calibri" pitchFamily="34" charset="0"/>
                <a:ea typeface="Calibri" pitchFamily="34" charset="-122"/>
                <a:cs typeface="Calibri" pitchFamily="34" charset="-120"/>
              </a:rPr>
              <a:t>VLASH — Diploma thesis defense · UITM Rzeszow 2026</a:t>
            </a:r>
            <a:endParaRPr lang="en-US" sz="900" dirty="0"/>
          </a:p>
        </p:txBody>
      </p:sp>
      <p:pic>
        <p:nvPicPr>
          <p:cNvPr id="7" name="Image 0" descr="/sessions/youthful-sweet-hopper/mnt/vlash/simulation/results/fig_robustness.png">    </p:cNvPr>
          <p:cNvPicPr>
            <a:picLocks noChangeAspect="1"/>
          </p:cNvPicPr>
          <p:nvPr/>
        </p:nvPicPr>
        <p:blipFill>
          <a:blip r:embed="rId1"/>
          <a:stretch>
            <a:fillRect/>
          </a:stretch>
        </p:blipFill>
        <p:spPr>
          <a:xfrm>
            <a:off x="411480" y="1143000"/>
            <a:ext cx="4572000" cy="2944368"/>
          </a:xfrm>
          <a:prstGeom prst="rect">
            <a:avLst/>
          </a:prstGeom>
        </p:spPr>
      </p:pic>
      <p:sp>
        <p:nvSpPr>
          <p:cNvPr id="8" name="Text 5"/>
          <p:cNvSpPr/>
          <p:nvPr/>
        </p:nvSpPr>
        <p:spPr>
          <a:xfrm>
            <a:off x="411480" y="4133088"/>
            <a:ext cx="4572000" cy="274320"/>
          </a:xfrm>
          <a:prstGeom prst="rect">
            <a:avLst/>
          </a:prstGeom>
          <a:noFill/>
          <a:ln/>
        </p:spPr>
        <p:txBody>
          <a:bodyPr wrap="square" rtlCol="0" anchor="ctr"/>
          <a:lstStyle/>
          <a:p>
            <a:pPr algn="ctr" indent="0" marL="0">
              <a:buNone/>
            </a:pPr>
            <a:r>
              <a:rPr lang="en-US" sz="1000" i="1" dirty="0">
                <a:solidFill>
                  <a:srgbClr val="5A6478"/>
                </a:solidFill>
                <a:latin typeface="Calibri" pitchFamily="34" charset="0"/>
                <a:ea typeface="Calibri" pitchFamily="34" charset="-122"/>
                <a:cs typeface="Calibri" pitchFamily="34" charset="-120"/>
              </a:rPr>
              <a:t>Success vs target jump magnitude at Δ = 3 (Fig. 9)</a:t>
            </a:r>
            <a:endParaRPr lang="en-US" sz="1000" dirty="0"/>
          </a:p>
        </p:txBody>
      </p:sp>
      <p:sp>
        <p:nvSpPr>
          <p:cNvPr id="9" name="Shape 6"/>
          <p:cNvSpPr/>
          <p:nvPr/>
        </p:nvSpPr>
        <p:spPr>
          <a:xfrm>
            <a:off x="5257800" y="1280160"/>
            <a:ext cx="3566160" cy="1371600"/>
          </a:xfrm>
          <a:prstGeom prst="roundRect">
            <a:avLst>
              <a:gd name="adj" fmla="val 4000"/>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0" name="Text 7"/>
          <p:cNvSpPr/>
          <p:nvPr/>
        </p:nvSpPr>
        <p:spPr>
          <a:xfrm>
            <a:off x="5440680" y="1389888"/>
            <a:ext cx="3200400" cy="118872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VLASH lead over Naive-Async</a:t>
            </a:r>
            <a:endParaRPr lang="en-US" sz="1150" dirty="0"/>
          </a:p>
          <a:p>
            <a:pPr indent="0" marL="0">
              <a:buNone/>
            </a:pPr>
            <a:r>
              <a:rPr lang="en-US" sz="2400" b="1" dirty="0">
                <a:solidFill>
                  <a:srgbClr val="1E2761"/>
                </a:solidFill>
                <a:latin typeface="Calibri" pitchFamily="34" charset="0"/>
                <a:ea typeface="Calibri" pitchFamily="34" charset="-122"/>
                <a:cs typeface="Calibri" pitchFamily="34" charset="-120"/>
              </a:rPr>
              <a:t>+4.7 → +30.4 pts</a:t>
            </a:r>
            <a:endParaRPr lang="en-US" sz="1150" dirty="0"/>
          </a:p>
          <a:p>
            <a:pPr indent="0" marL="0">
              <a:buNone/>
            </a:pPr>
            <a:r>
              <a:rPr lang="en-US" sz="1100" dirty="0">
                <a:solidFill>
                  <a:srgbClr val="5A6478"/>
                </a:solidFill>
                <a:latin typeface="Calibri" pitchFamily="34" charset="0"/>
                <a:ea typeface="Calibri" pitchFamily="34" charset="-122"/>
                <a:cs typeface="Calibri" pitchFamily="34" charset="-120"/>
              </a:rPr>
              <a:t>as jump magnitude grows 0.10 → 0.40</a:t>
            </a:r>
            <a:endParaRPr lang="en-US" sz="1150" dirty="0"/>
          </a:p>
        </p:txBody>
      </p:sp>
      <p:sp>
        <p:nvSpPr>
          <p:cNvPr id="11" name="Text 8"/>
          <p:cNvSpPr/>
          <p:nvPr/>
        </p:nvSpPr>
        <p:spPr>
          <a:xfrm>
            <a:off x="5257800" y="2834640"/>
            <a:ext cx="3566160" cy="1737360"/>
          </a:xfrm>
          <a:prstGeom prst="rect">
            <a:avLst/>
          </a:prstGeom>
          <a:noFill/>
          <a:ln/>
        </p:spPr>
        <p:txBody>
          <a:bodyPr wrap="square" rtlCol="0" anchor="ctr"/>
          <a:lstStyle/>
          <a:p>
            <a:pPr indent="0" marL="0">
              <a:spcAft>
                <a:spcPts val="800"/>
              </a:spcAft>
              <a:buNone/>
            </a:pPr>
            <a:r>
              <a:rPr lang="en-US" sz="1250" dirty="0">
                <a:solidFill>
                  <a:srgbClr val="1A1A2E"/>
                </a:solidFill>
                <a:latin typeface="Calibri" pitchFamily="34" charset="0"/>
                <a:ea typeface="Calibri" pitchFamily="34" charset="-122"/>
                <a:cs typeface="Calibri" pitchFamily="34" charset="-120"/>
              </a:rPr>
              <a:t>Faster scene motion during inference → larger misalignment → naive collapses (71% → 40%).</a:t>
            </a:r>
            <a:endParaRPr lang="en-US" sz="1250" dirty="0"/>
          </a:p>
          <a:p>
            <a:pPr indent="0" marL="0">
              <a:spcAft>
                <a:spcPts val="800"/>
              </a:spcAft>
              <a:buNone/>
            </a:pPr>
            <a:r>
              <a:rPr lang="en-US" sz="1250" dirty="0">
                <a:solidFill>
                  <a:srgbClr val="1A1A2E"/>
                </a:solidFill>
                <a:latin typeface="Calibri" pitchFamily="34" charset="0"/>
                <a:ea typeface="Calibri" pitchFamily="34" charset="-122"/>
                <a:cs typeface="Calibri" pitchFamily="34" charset="-120"/>
              </a:rPr>
              <a:t>VLASH stays within a few points of the synchronous ceiling across the whole range.</a:t>
            </a:r>
            <a:endParaRPr lang="en-US" sz="1250" dirty="0"/>
          </a:p>
          <a:p>
            <a:pPr indent="0" marL="0">
              <a:spcAft>
                <a:spcPts val="800"/>
              </a:spcAft>
              <a:buNone/>
            </a:pPr>
            <a:r>
              <a:rPr lang="en-US" sz="1250" i="1" dirty="0">
                <a:solidFill>
                  <a:srgbClr val="5A6478"/>
                </a:solidFill>
                <a:latin typeface="Calibri" pitchFamily="34" charset="0"/>
                <a:ea typeface="Calibri" pitchFamily="34" charset="-122"/>
                <a:cs typeface="Calibri" pitchFamily="34" charset="-120"/>
              </a:rPr>
              <a:t>Mirrors the paper's Kinetix finding: VLASH helps most on fast, reactive tasks.</a:t>
            </a:r>
            <a:endParaRPr lang="en-US" sz="1250" dirty="0"/>
          </a:p>
        </p:txBody>
      </p:sp>
    </p:spTree>
  </p:cSld>
  <p:clrMapOvr>
    <a:masterClrMapping/>
  </p:clrMapOvr>
  <p:transition spd="med" dur="400">
    <p:fade/>
  </p:transition>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500"/>
                      </p:stCondLst>
                      <p:childTnLst>
                        <p:par>
                          <p:cTn id="9" fill="hold">
                            <p:stCondLst>
                              <p:cond delay="0"/>
                            </p:stCondLst>
                            <p:childTnLst>
                              <p:par>
                                <p:cTn id="10" presetID="10" presetClass="entr" presetSubtype="0" fill="hold" grpId="1" nodeType="afterEffect">
                                  <p:stCondLst>
                                    <p:cond delay="0"/>
                                  </p:stCondLst>
                                  <p:childTnLst>
                                    <p:set>
                                      <p:cBhvr>
                                        <p:cTn id="11" dur="1" fill="hold"/>
                                        <p:tgtEl>
                                          <p:spTgt spid="3"/>
                                        </p:tgtEl>
                                        <p:attrNameLst>
                                          <p:attrName>style.visibility</p:attrName>
                                        </p:attrNameLst>
                                      </p:cBhvr>
                                      <p:to>
                                        <p:strVal val="visible"/>
                                      </p:to>
                                    </p:set>
                                    <p:animEffect transition="in" filter="fade">
                                      <p:cBhvr>
                                        <p:cTn id="12" dur="400"/>
                                        <p:tgtEl>
                                          <p:spTgt spid="3"/>
                                        </p:tgtEl>
                                      </p:cBhvr>
                                    </p:animEffect>
                                  </p:childTnLst>
                                </p:cTn>
                              </p:par>
                            </p:childTnLst>
                          </p:cTn>
                        </p:par>
                      </p:childTnLst>
                    </p:cTn>
                  </p:par>
                  <p:par>
                    <p:cTn id="13" fill="hold">
                      <p:stCondLst>
                        <p:cond delay="500"/>
                      </p:stCondLst>
                      <p:childTnLst>
                        <p:par>
                          <p:cTn id="14" fill="hold">
                            <p:stCondLst>
                              <p:cond delay="0"/>
                            </p:stCondLst>
                            <p:childTnLst>
                              <p:par>
                                <p:cTn id="15" presetID="10" presetClass="entr" presetSubtype="0" fill="hold" grpId="2" nodeType="afterEffect">
                                  <p:stCondLst>
                                    <p:cond delay="0"/>
                                  </p:stCondLst>
                                  <p:childTnLst>
                                    <p:set>
                                      <p:cBhvr>
                                        <p:cTn id="16" dur="1" fill="hold"/>
                                        <p:tgtEl>
                                          <p:spTgt spid="4"/>
                                        </p:tgtEl>
                                        <p:attrNameLst>
                                          <p:attrName>style.visibility</p:attrName>
                                        </p:attrNameLst>
                                      </p:cBhvr>
                                      <p:to>
                                        <p:strVal val="visible"/>
                                      </p:to>
                                    </p:set>
                                    <p:animEffect transition="in" filter="fade">
                                      <p:cBhvr>
                                        <p:cTn id="17" dur="400"/>
                                        <p:tgtEl>
                                          <p:spTgt spid="4"/>
                                        </p:tgtEl>
                                      </p:cBhvr>
                                    </p:animEffect>
                                  </p:childTnLst>
                                </p:cTn>
                              </p:par>
                            </p:childTnLst>
                          </p:cTn>
                        </p:par>
                      </p:childTnLst>
                    </p:cTn>
                  </p:par>
                  <p:par>
                    <p:cTn id="18" fill="hold">
                      <p:stCondLst>
                        <p:cond delay="500"/>
                      </p:stCondLst>
                      <p:childTnLst>
                        <p:par>
                          <p:cTn id="19" fill="hold">
                            <p:stCondLst>
                              <p:cond delay="0"/>
                            </p:stCondLst>
                            <p:childTnLst>
                              <p:par>
                                <p:cTn id="20" presetID="10" presetClass="entr" presetSubtype="0" fill="hold" grpId="3" nodeType="afterEffect">
                                  <p:stCondLst>
                                    <p:cond delay="0"/>
                                  </p:stCondLst>
                                  <p:childTnLst>
                                    <p:set>
                                      <p:cBhvr>
                                        <p:cTn id="21" dur="1" fill="hold"/>
                                        <p:tgtEl>
                                          <p:spTgt spid="5"/>
                                        </p:tgtEl>
                                        <p:attrNameLst>
                                          <p:attrName>style.visibility</p:attrName>
                                        </p:attrNameLst>
                                      </p:cBhvr>
                                      <p:to>
                                        <p:strVal val="visible"/>
                                      </p:to>
                                    </p:set>
                                    <p:animEffect transition="in" filter="fade">
                                      <p:cBhvr>
                                        <p:cTn id="22" dur="400"/>
                                        <p:tgtEl>
                                          <p:spTgt spid="5"/>
                                        </p:tgtEl>
                                      </p:cBhvr>
                                    </p:animEffect>
                                  </p:childTnLst>
                                </p:cTn>
                              </p:par>
                            </p:childTnLst>
                          </p:cTn>
                        </p:par>
                      </p:childTnLst>
                    </p:cTn>
                  </p:par>
                  <p:par>
                    <p:cTn id="23" fill="hold">
                      <p:stCondLst>
                        <p:cond delay="500"/>
                      </p:stCondLst>
                      <p:childTnLst>
                        <p:par>
                          <p:cTn id="24" fill="hold">
                            <p:stCondLst>
                              <p:cond delay="0"/>
                            </p:stCondLst>
                            <p:childTnLst>
                              <p:par>
                                <p:cTn id="25" presetID="10" presetClass="entr" presetSubtype="0" fill="hold" grpId="4" nodeType="afterEffect">
                                  <p:stCondLst>
                                    <p:cond delay="0"/>
                                  </p:stCondLst>
                                  <p:childTnLst>
                                    <p:set>
                                      <p:cBhvr>
                                        <p:cTn id="26" dur="1" fill="hold"/>
                                        <p:tgtEl>
                                          <p:spTgt spid="6"/>
                                        </p:tgtEl>
                                        <p:attrNameLst>
                                          <p:attrName>style.visibility</p:attrName>
                                        </p:attrNameLst>
                                      </p:cBhvr>
                                      <p:to>
                                        <p:strVal val="visible"/>
                                      </p:to>
                                    </p:set>
                                    <p:animEffect transition="in" filter="fade">
                                      <p:cBhvr>
                                        <p:cTn id="27" dur="400"/>
                                        <p:tgtEl>
                                          <p:spTgt spid="6"/>
                                        </p:tgtEl>
                                      </p:cBhvr>
                                    </p:animEffect>
                                  </p:childTnLst>
                                </p:cTn>
                              </p:par>
                            </p:childTnLst>
                          </p:cTn>
                        </p:par>
                      </p:childTnLst>
                    </p:cTn>
                  </p:par>
                  <p:par>
                    <p:cTn id="28" fill="hold">
                      <p:stCondLst>
                        <p:cond delay="500"/>
                      </p:stCondLst>
                      <p:childTnLst>
                        <p:par>
                          <p:cTn id="29" fill="hold">
                            <p:stCondLst>
                              <p:cond delay="0"/>
                            </p:stCondLst>
                            <p:childTnLst>
                              <p:par>
                                <p:cTn id="30" presetID="10" presetClass="entr" presetSubtype="0" fill="hold" grpId="5" nodeType="afterEffect">
                                  <p:stCondLst>
                                    <p:cond delay="0"/>
                                  </p:stCondLst>
                                  <p:childTnLst>
                                    <p:set>
                                      <p:cBhvr>
                                        <p:cTn id="31" dur="1" fill="hold"/>
                                        <p:tgtEl>
                                          <p:spTgt spid="7"/>
                                        </p:tgtEl>
                                        <p:attrNameLst>
                                          <p:attrName>style.visibility</p:attrName>
                                        </p:attrNameLst>
                                      </p:cBhvr>
                                      <p:to>
                                        <p:strVal val="visible"/>
                                      </p:to>
                                    </p:set>
                                    <p:animEffect transition="in" filter="fade">
                                      <p:cBhvr>
                                        <p:cTn id="32" dur="400"/>
                                        <p:tgtEl>
                                          <p:spTgt spid="7"/>
                                        </p:tgtEl>
                                      </p:cBhvr>
                                    </p:animEffect>
                                  </p:childTnLst>
                                </p:cTn>
                              </p:par>
                            </p:childTnLst>
                          </p:cTn>
                        </p:par>
                      </p:childTnLst>
                    </p:cTn>
                  </p:par>
                  <p:par>
                    <p:cTn id="33" fill="hold">
                      <p:stCondLst>
                        <p:cond delay="500"/>
                      </p:stCondLst>
                      <p:childTnLst>
                        <p:par>
                          <p:cTn id="34" fill="hold">
                            <p:stCondLst>
                              <p:cond delay="0"/>
                            </p:stCondLst>
                            <p:childTnLst>
                              <p:par>
                                <p:cTn id="35" presetID="10" presetClass="entr" presetSubtype="0" fill="hold" grpId="6" nodeType="afterEffect">
                                  <p:stCondLst>
                                    <p:cond delay="0"/>
                                  </p:stCondLst>
                                  <p:childTnLst>
                                    <p:set>
                                      <p:cBhvr>
                                        <p:cTn id="36" dur="1" fill="hold"/>
                                        <p:tgtEl>
                                          <p:spTgt spid="8"/>
                                        </p:tgtEl>
                                        <p:attrNameLst>
                                          <p:attrName>style.visibility</p:attrName>
                                        </p:attrNameLst>
                                      </p:cBhvr>
                                      <p:to>
                                        <p:strVal val="visible"/>
                                      </p:to>
                                    </p:set>
                                    <p:animEffect transition="in" filter="fade">
                                      <p:cBhvr>
                                        <p:cTn id="37" dur="400"/>
                                        <p:tgtEl>
                                          <p:spTgt spid="8"/>
                                        </p:tgtEl>
                                      </p:cBhvr>
                                    </p:animEffect>
                                  </p:childTnLst>
                                </p:cTn>
                              </p:par>
                            </p:childTnLst>
                          </p:cTn>
                        </p:par>
                      </p:childTnLst>
                    </p:cTn>
                  </p:par>
                  <p:par>
                    <p:cTn id="38" fill="hold">
                      <p:stCondLst>
                        <p:cond delay="500"/>
                      </p:stCondLst>
                      <p:childTnLst>
                        <p:par>
                          <p:cTn id="39" fill="hold">
                            <p:stCondLst>
                              <p:cond delay="0"/>
                            </p:stCondLst>
                            <p:childTnLst>
                              <p:par>
                                <p:cTn id="40" presetID="10" presetClass="entr" presetSubtype="0" fill="hold" grpId="7" nodeType="afterEffect">
                                  <p:stCondLst>
                                    <p:cond delay="0"/>
                                  </p:stCondLst>
                                  <p:childTnLst>
                                    <p:set>
                                      <p:cBhvr>
                                        <p:cTn id="41" dur="1" fill="hold"/>
                                        <p:tgtEl>
                                          <p:spTgt spid="9"/>
                                        </p:tgtEl>
                                        <p:attrNameLst>
                                          <p:attrName>style.visibility</p:attrName>
                                        </p:attrNameLst>
                                      </p:cBhvr>
                                      <p:to>
                                        <p:strVal val="visible"/>
                                      </p:to>
                                    </p:set>
                                    <p:animEffect transition="in" filter="fade">
                                      <p:cBhvr>
                                        <p:cTn id="42" dur="400"/>
                                        <p:tgtEl>
                                          <p:spTgt spid="9"/>
                                        </p:tgtEl>
                                      </p:cBhvr>
                                    </p:animEffect>
                                  </p:childTnLst>
                                </p:cTn>
                              </p:par>
                            </p:childTnLst>
                          </p:cTn>
                        </p:par>
                      </p:childTnLst>
                    </p:cTn>
                  </p:par>
                  <p:par>
                    <p:cTn id="43" fill="hold">
                      <p:stCondLst>
                        <p:cond delay="500"/>
                      </p:stCondLst>
                      <p:childTnLst>
                        <p:par>
                          <p:cTn id="44" fill="hold">
                            <p:stCondLst>
                              <p:cond delay="0"/>
                            </p:stCondLst>
                            <p:childTnLst>
                              <p:par>
                                <p:cTn id="45" presetID="10" presetClass="entr" presetSubtype="0" fill="hold" grpId="8" nodeType="afterEffect">
                                  <p:stCondLst>
                                    <p:cond delay="0"/>
                                  </p:stCondLst>
                                  <p:childTnLst>
                                    <p:set>
                                      <p:cBhvr>
                                        <p:cTn id="46" dur="1" fill="hold"/>
                                        <p:tgtEl>
                                          <p:spTgt spid="10"/>
                                        </p:tgtEl>
                                        <p:attrNameLst>
                                          <p:attrName>style.visibility</p:attrName>
                                        </p:attrNameLst>
                                      </p:cBhvr>
                                      <p:to>
                                        <p:strVal val="visible"/>
                                      </p:to>
                                    </p:set>
                                    <p:animEffect transition="in" filter="fade">
                                      <p:cBhvr>
                                        <p:cTn id="47" dur="400"/>
                                        <p:tgtEl>
                                          <p:spTgt spid="10"/>
                                        </p:tgtEl>
                                      </p:cBhvr>
                                    </p:animEffect>
                                  </p:childTnLst>
                                </p:cTn>
                              </p:par>
                            </p:childTnLst>
                          </p:cTn>
                        </p:par>
                      </p:childTnLst>
                    </p:cTn>
                  </p:par>
                  <p:par>
                    <p:cTn id="48" fill="hold">
                      <p:stCondLst>
                        <p:cond delay="500"/>
                      </p:stCondLst>
                      <p:childTnLst>
                        <p:par>
                          <p:cTn id="49" fill="hold">
                            <p:stCondLst>
                              <p:cond delay="0"/>
                            </p:stCondLst>
                            <p:childTnLst>
                              <p:par>
                                <p:cTn id="50" presetID="10" presetClass="entr" presetSubtype="0" fill="hold" grpId="9" nodeType="afterEffect">
                                  <p:stCondLst>
                                    <p:cond delay="0"/>
                                  </p:stCondLst>
                                  <p:childTnLst>
                                    <p:set>
                                      <p:cBhvr>
                                        <p:cTn id="51" dur="1" fill="hold"/>
                                        <p:tgtEl>
                                          <p:spTgt spid="11"/>
                                        </p:tgtEl>
                                        <p:attrNameLst>
                                          <p:attrName>style.visibility</p:attrName>
                                        </p:attrNameLst>
                                      </p:cBhvr>
                                      <p:to>
                                        <p:strVal val="visible"/>
                                      </p:to>
                                    </p:set>
                                    <p:animEffect transition="in" filter="fade">
                                      <p:cBhvr>
                                        <p:cTn id="52" dur="400"/>
                                        <p:tgtEl>
                                          <p:spTgt spid="11"/>
                                        </p:tgtEl>
                                      </p:cBhvr>
                                    </p:animEffect>
                                  </p:childTnLst>
                                </p:cTn>
                              </p:par>
                            </p:childTnLst>
                          </p:cTn>
                        </p:par>
                      </p:childTnLst>
                    </p:cTn>
                  </p:par>
                </p:childTnLst>
              </p:cTn>
              <p:prevCondLst>
                <p:cond evt="onPrevClick" delay="0">
                  <p:tn/>
                </p:cond>
              </p:prevCondLst>
            </p:seq>
          </p:childTnLst>
        </p:cTn>
      </p:par>
    </p:tnLst>
    <p:bldLst>
      <p:bldP spid="2" grpId="0" build="p"/>
      <p:bldP spid="3" grpId="1" build="p"/>
      <p:bldP spid="4" grpId="2" build="p"/>
      <p:bldP spid="5" grpId="3" build="p"/>
      <p:bldP spid="6" grpId="4" build="p"/>
      <p:bldP spid="7" grpId="5" build="p"/>
      <p:bldP spid="8" grpId="6" build="p"/>
      <p:bldP spid="9" grpId="7" build="p"/>
      <p:bldP spid="10" grpId="8" build="p"/>
      <p:bldP spid="11" grpId="9" build="p"/>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2761"/>
          </a:solidFill>
          <a:ln/>
        </p:spPr>
      </p:sp>
      <p:sp>
        <p:nvSpPr>
          <p:cNvPr id="3" name="Text 1"/>
          <p:cNvSpPr/>
          <p:nvPr/>
        </p:nvSpPr>
        <p:spPr>
          <a:xfrm>
            <a:off x="411480" y="201168"/>
            <a:ext cx="8046720" cy="274320"/>
          </a:xfrm>
          <a:prstGeom prst="rect">
            <a:avLst/>
          </a:prstGeom>
          <a:noFill/>
          <a:ln/>
        </p:spPr>
        <p:txBody>
          <a:bodyPr wrap="square" rtlCol="0" anchor="ctr"/>
          <a:lstStyle/>
          <a:p>
            <a:pPr indent="0" marL="0">
              <a:buNone/>
            </a:pPr>
            <a:r>
              <a:rPr lang="en-US" sz="1100" b="1" spc="300" kern="0" dirty="0">
                <a:solidFill>
                  <a:srgbClr val="5A6478"/>
                </a:solidFill>
                <a:latin typeface="Calibri" pitchFamily="34" charset="0"/>
                <a:ea typeface="Calibri" pitchFamily="34" charset="-122"/>
                <a:cs typeface="Calibri" pitchFamily="34" charset="-120"/>
              </a:rPr>
              <a:t>SIMULATION RESULTS · NEW EXPERIMENTS</a:t>
            </a:r>
            <a:endParaRPr lang="en-US" sz="1100" dirty="0"/>
          </a:p>
        </p:txBody>
      </p:sp>
      <p:sp>
        <p:nvSpPr>
          <p:cNvPr id="4" name="Text 2"/>
          <p:cNvSpPr/>
          <p:nvPr/>
        </p:nvSpPr>
        <p:spPr>
          <a:xfrm>
            <a:off x="384048" y="420624"/>
            <a:ext cx="8321040" cy="566928"/>
          </a:xfrm>
          <a:prstGeom prst="rect">
            <a:avLst/>
          </a:prstGeom>
          <a:noFill/>
          <a:ln/>
        </p:spPr>
        <p:txBody>
          <a:bodyPr wrap="square" rtlCol="0" anchor="ctr"/>
          <a:lstStyle/>
          <a:p>
            <a:pPr indent="0" marL="0">
              <a:buNone/>
            </a:pPr>
            <a:r>
              <a:rPr lang="en-US" sz="2700" b="1" dirty="0">
                <a:solidFill>
                  <a:srgbClr val="1E2761"/>
                </a:solidFill>
                <a:latin typeface="Georgia" pitchFamily="34" charset="0"/>
                <a:ea typeface="Georgia" pitchFamily="34" charset="-122"/>
                <a:cs typeface="Georgia" pitchFamily="34" charset="-120"/>
              </a:rPr>
              <a:t>Result 4 — stress-testing assumptions</a:t>
            </a:r>
            <a:endParaRPr lang="en-US" sz="2700" dirty="0"/>
          </a:p>
        </p:txBody>
      </p:sp>
      <p:sp>
        <p:nvSpPr>
          <p:cNvPr id="5" name="Text 3"/>
          <p:cNvSpPr/>
          <p:nvPr/>
        </p:nvSpPr>
        <p:spPr>
          <a:xfrm>
            <a:off x="8549640" y="4773168"/>
            <a:ext cx="457200" cy="274320"/>
          </a:xfrm>
          <a:prstGeom prst="rect">
            <a:avLst/>
          </a:prstGeom>
          <a:noFill/>
          <a:ln/>
        </p:spPr>
        <p:txBody>
          <a:bodyPr wrap="square"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08</a:t>
            </a:r>
            <a:endParaRPr lang="en-US" sz="1000" dirty="0"/>
          </a:p>
        </p:txBody>
      </p:sp>
      <p:sp>
        <p:nvSpPr>
          <p:cNvPr id="6" name="Text 4"/>
          <p:cNvSpPr/>
          <p:nvPr/>
        </p:nvSpPr>
        <p:spPr>
          <a:xfrm>
            <a:off x="411480" y="4773168"/>
            <a:ext cx="5943600" cy="274320"/>
          </a:xfrm>
          <a:prstGeom prst="rect">
            <a:avLst/>
          </a:prstGeom>
          <a:noFill/>
          <a:ln/>
        </p:spPr>
        <p:txBody>
          <a:bodyPr wrap="square" rtlCol="0" anchor="ctr"/>
          <a:lstStyle/>
          <a:p>
            <a:pPr indent="0" marL="0">
              <a:buNone/>
            </a:pPr>
            <a:r>
              <a:rPr lang="en-US" sz="900" dirty="0">
                <a:solidFill>
                  <a:srgbClr val="5A6478"/>
                </a:solidFill>
                <a:latin typeface="Calibri" pitchFamily="34" charset="0"/>
                <a:ea typeface="Calibri" pitchFamily="34" charset="-122"/>
                <a:cs typeface="Calibri" pitchFamily="34" charset="-120"/>
              </a:rPr>
              <a:t>VLASH — Diploma thesis defense · UITM Rzeszow 2026</a:t>
            </a:r>
            <a:endParaRPr lang="en-US" sz="900" dirty="0"/>
          </a:p>
        </p:txBody>
      </p:sp>
      <p:pic>
        <p:nvPicPr>
          <p:cNvPr id="7" name="Image 0" descr="/sessions/youthful-sweet-hopper/mnt/vlash/simulation/results/fig_noise.png">    </p:cNvPr>
          <p:cNvPicPr>
            <a:picLocks noChangeAspect="1"/>
          </p:cNvPicPr>
          <p:nvPr/>
        </p:nvPicPr>
        <p:blipFill>
          <a:blip r:embed="rId1"/>
          <a:stretch>
            <a:fillRect/>
          </a:stretch>
        </p:blipFill>
        <p:spPr>
          <a:xfrm>
            <a:off x="411480" y="1143000"/>
            <a:ext cx="3968496" cy="2560320"/>
          </a:xfrm>
          <a:prstGeom prst="rect">
            <a:avLst/>
          </a:prstGeom>
        </p:spPr>
      </p:pic>
      <p:pic>
        <p:nvPicPr>
          <p:cNvPr id="8" name="Image 1" descr="/sessions/youthful-sweet-hopper/mnt/vlash/simulation/results/fig_mismatch.png">    </p:cNvPr>
          <p:cNvPicPr>
            <a:picLocks noChangeAspect="1"/>
          </p:cNvPicPr>
          <p:nvPr/>
        </p:nvPicPr>
        <p:blipFill>
          <a:blip r:embed="rId2"/>
          <a:stretch>
            <a:fillRect/>
          </a:stretch>
        </p:blipFill>
        <p:spPr>
          <a:xfrm>
            <a:off x="4709160" y="1143000"/>
            <a:ext cx="3968496" cy="2560320"/>
          </a:xfrm>
          <a:prstGeom prst="rect">
            <a:avLst/>
          </a:prstGeom>
        </p:spPr>
      </p:pic>
      <p:sp>
        <p:nvSpPr>
          <p:cNvPr id="9" name="Text 5"/>
          <p:cNvSpPr/>
          <p:nvPr/>
        </p:nvSpPr>
        <p:spPr>
          <a:xfrm>
            <a:off x="411480" y="3730752"/>
            <a:ext cx="4114800" cy="237744"/>
          </a:xfrm>
          <a:prstGeom prst="rect">
            <a:avLst/>
          </a:prstGeom>
          <a:noFill/>
          <a:ln/>
        </p:spPr>
        <p:txBody>
          <a:bodyPr wrap="square" rtlCol="0" anchor="ctr"/>
          <a:lstStyle/>
          <a:p>
            <a:pPr algn="ctr" indent="0" marL="0">
              <a:buNone/>
            </a:pPr>
            <a:r>
              <a:rPr lang="en-US" sz="1050" i="1" dirty="0">
                <a:solidFill>
                  <a:srgbClr val="5A6478"/>
                </a:solidFill>
                <a:latin typeface="Calibri" pitchFamily="34" charset="0"/>
                <a:ea typeface="Calibri" pitchFamily="34" charset="-122"/>
                <a:cs typeface="Calibri" pitchFamily="34" charset="-120"/>
              </a:rPr>
              <a:t>Assumption 1: exact actuation (Fig. 10)</a:t>
            </a:r>
            <a:endParaRPr lang="en-US" sz="1050" dirty="0"/>
          </a:p>
        </p:txBody>
      </p:sp>
      <p:sp>
        <p:nvSpPr>
          <p:cNvPr id="10" name="Text 6"/>
          <p:cNvSpPr/>
          <p:nvPr/>
        </p:nvSpPr>
        <p:spPr>
          <a:xfrm>
            <a:off x="4709160" y="3730752"/>
            <a:ext cx="4114800" cy="237744"/>
          </a:xfrm>
          <a:prstGeom prst="rect">
            <a:avLst/>
          </a:prstGeom>
          <a:noFill/>
          <a:ln/>
        </p:spPr>
        <p:txBody>
          <a:bodyPr wrap="square" rtlCol="0" anchor="ctr"/>
          <a:lstStyle/>
          <a:p>
            <a:pPr algn="ctr" indent="0" marL="0">
              <a:buNone/>
            </a:pPr>
            <a:r>
              <a:rPr lang="en-US" sz="1050" i="1" dirty="0">
                <a:solidFill>
                  <a:srgbClr val="5A6478"/>
                </a:solidFill>
                <a:latin typeface="Calibri" pitchFamily="34" charset="0"/>
                <a:ea typeface="Calibri" pitchFamily="34" charset="-122"/>
                <a:cs typeface="Calibri" pitchFamily="34" charset="-120"/>
              </a:rPr>
              <a:t>Assumption 2: known delay Δ (Fig. 11)</a:t>
            </a:r>
            <a:endParaRPr lang="en-US" sz="1050" dirty="0"/>
          </a:p>
        </p:txBody>
      </p:sp>
      <p:sp>
        <p:nvSpPr>
          <p:cNvPr id="11" name="Shape 7"/>
          <p:cNvSpPr/>
          <p:nvPr/>
        </p:nvSpPr>
        <p:spPr>
          <a:xfrm>
            <a:off x="411480" y="4041648"/>
            <a:ext cx="4114800" cy="621792"/>
          </a:xfrm>
          <a:prstGeom prst="roundRect">
            <a:avLst>
              <a:gd name="adj" fmla="val 8824"/>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2" name="Text 8"/>
          <p:cNvSpPr/>
          <p:nvPr/>
        </p:nvSpPr>
        <p:spPr>
          <a:xfrm>
            <a:off x="548640" y="4078224"/>
            <a:ext cx="3840480" cy="54864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Margin survives noise up to ~10% of the actuator step; </a:t>
            </a:r>
            <a:pPr indent="0" marL="0">
              <a:buNone/>
            </a:pPr>
            <a:r>
              <a:rPr lang="en-US" sz="1100" b="1" dirty="0">
                <a:solidFill>
                  <a:srgbClr val="1A1A2E"/>
                </a:solidFill>
                <a:latin typeface="Calibri" pitchFamily="34" charset="0"/>
                <a:ea typeface="Calibri" pitchFamily="34" charset="-122"/>
                <a:cs typeface="Calibri" pitchFamily="34" charset="-120"/>
              </a:rPr>
              <a:t>fails only where every scheme fails.</a:t>
            </a:r>
            <a:endParaRPr lang="en-US" sz="1100" dirty="0"/>
          </a:p>
        </p:txBody>
      </p:sp>
      <p:sp>
        <p:nvSpPr>
          <p:cNvPr id="13" name="Shape 9"/>
          <p:cNvSpPr/>
          <p:nvPr/>
        </p:nvSpPr>
        <p:spPr>
          <a:xfrm>
            <a:off x="4709160" y="4041648"/>
            <a:ext cx="4114800" cy="621792"/>
          </a:xfrm>
          <a:prstGeom prst="roundRect">
            <a:avLst>
              <a:gd name="adj" fmla="val 8824"/>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4" name="Text 10"/>
          <p:cNvSpPr/>
          <p:nvPr/>
        </p:nvSpPr>
        <p:spPr>
          <a:xfrm>
            <a:off x="4846320" y="4078224"/>
            <a:ext cx="3840480" cy="54864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±1 step of delay error costs ~1 point; </a:t>
            </a:r>
            <a:pPr indent="0" marL="0">
              <a:buNone/>
            </a:pPr>
            <a:r>
              <a:rPr lang="en-US" sz="1100" b="1" dirty="0">
                <a:solidFill>
                  <a:srgbClr val="1A1A2E"/>
                </a:solidFill>
                <a:latin typeface="Calibri" pitchFamily="34" charset="0"/>
                <a:ea typeface="Calibri" pitchFamily="34" charset="-122"/>
                <a:cs typeface="Calibri" pitchFamily="34" charset="-120"/>
              </a:rPr>
              <a:t>a moving average of latency is enough.</a:t>
            </a:r>
            <a:endParaRPr lang="en-US" sz="1100" dirty="0"/>
          </a:p>
        </p:txBody>
      </p:sp>
    </p:spTree>
  </p:cSld>
  <p:clrMapOvr>
    <a:masterClrMapping/>
  </p:clrMapOvr>
  <p:transition spd="med" dur="400">
    <p:fade/>
  </p:transition>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500"/>
                      </p:stCondLst>
                      <p:childTnLst>
                        <p:par>
                          <p:cTn id="9" fill="hold">
                            <p:stCondLst>
                              <p:cond delay="0"/>
                            </p:stCondLst>
                            <p:childTnLst>
                              <p:par>
                                <p:cTn id="10" presetID="10" presetClass="entr" presetSubtype="0" fill="hold" grpId="1" nodeType="afterEffect">
                                  <p:stCondLst>
                                    <p:cond delay="0"/>
                                  </p:stCondLst>
                                  <p:childTnLst>
                                    <p:set>
                                      <p:cBhvr>
                                        <p:cTn id="11" dur="1" fill="hold"/>
                                        <p:tgtEl>
                                          <p:spTgt spid="3"/>
                                        </p:tgtEl>
                                        <p:attrNameLst>
                                          <p:attrName>style.visibility</p:attrName>
                                        </p:attrNameLst>
                                      </p:cBhvr>
                                      <p:to>
                                        <p:strVal val="visible"/>
                                      </p:to>
                                    </p:set>
                                    <p:animEffect transition="in" filter="fade">
                                      <p:cBhvr>
                                        <p:cTn id="12" dur="400"/>
                                        <p:tgtEl>
                                          <p:spTgt spid="3"/>
                                        </p:tgtEl>
                                      </p:cBhvr>
                                    </p:animEffect>
                                  </p:childTnLst>
                                </p:cTn>
                              </p:par>
                            </p:childTnLst>
                          </p:cTn>
                        </p:par>
                      </p:childTnLst>
                    </p:cTn>
                  </p:par>
                  <p:par>
                    <p:cTn id="13" fill="hold">
                      <p:stCondLst>
                        <p:cond delay="500"/>
                      </p:stCondLst>
                      <p:childTnLst>
                        <p:par>
                          <p:cTn id="14" fill="hold">
                            <p:stCondLst>
                              <p:cond delay="0"/>
                            </p:stCondLst>
                            <p:childTnLst>
                              <p:par>
                                <p:cTn id="15" presetID="10" presetClass="entr" presetSubtype="0" fill="hold" grpId="2" nodeType="afterEffect">
                                  <p:stCondLst>
                                    <p:cond delay="0"/>
                                  </p:stCondLst>
                                  <p:childTnLst>
                                    <p:set>
                                      <p:cBhvr>
                                        <p:cTn id="16" dur="1" fill="hold"/>
                                        <p:tgtEl>
                                          <p:spTgt spid="4"/>
                                        </p:tgtEl>
                                        <p:attrNameLst>
                                          <p:attrName>style.visibility</p:attrName>
                                        </p:attrNameLst>
                                      </p:cBhvr>
                                      <p:to>
                                        <p:strVal val="visible"/>
                                      </p:to>
                                    </p:set>
                                    <p:animEffect transition="in" filter="fade">
                                      <p:cBhvr>
                                        <p:cTn id="17" dur="400"/>
                                        <p:tgtEl>
                                          <p:spTgt spid="4"/>
                                        </p:tgtEl>
                                      </p:cBhvr>
                                    </p:animEffect>
                                  </p:childTnLst>
                                </p:cTn>
                              </p:par>
                            </p:childTnLst>
                          </p:cTn>
                        </p:par>
                      </p:childTnLst>
                    </p:cTn>
                  </p:par>
                  <p:par>
                    <p:cTn id="18" fill="hold">
                      <p:stCondLst>
                        <p:cond delay="500"/>
                      </p:stCondLst>
                      <p:childTnLst>
                        <p:par>
                          <p:cTn id="19" fill="hold">
                            <p:stCondLst>
                              <p:cond delay="0"/>
                            </p:stCondLst>
                            <p:childTnLst>
                              <p:par>
                                <p:cTn id="20" presetID="10" presetClass="entr" presetSubtype="0" fill="hold" grpId="3" nodeType="afterEffect">
                                  <p:stCondLst>
                                    <p:cond delay="0"/>
                                  </p:stCondLst>
                                  <p:childTnLst>
                                    <p:set>
                                      <p:cBhvr>
                                        <p:cTn id="21" dur="1" fill="hold"/>
                                        <p:tgtEl>
                                          <p:spTgt spid="5"/>
                                        </p:tgtEl>
                                        <p:attrNameLst>
                                          <p:attrName>style.visibility</p:attrName>
                                        </p:attrNameLst>
                                      </p:cBhvr>
                                      <p:to>
                                        <p:strVal val="visible"/>
                                      </p:to>
                                    </p:set>
                                    <p:animEffect transition="in" filter="fade">
                                      <p:cBhvr>
                                        <p:cTn id="22" dur="400"/>
                                        <p:tgtEl>
                                          <p:spTgt spid="5"/>
                                        </p:tgtEl>
                                      </p:cBhvr>
                                    </p:animEffect>
                                  </p:childTnLst>
                                </p:cTn>
                              </p:par>
                            </p:childTnLst>
                          </p:cTn>
                        </p:par>
                      </p:childTnLst>
                    </p:cTn>
                  </p:par>
                  <p:par>
                    <p:cTn id="23" fill="hold">
                      <p:stCondLst>
                        <p:cond delay="500"/>
                      </p:stCondLst>
                      <p:childTnLst>
                        <p:par>
                          <p:cTn id="24" fill="hold">
                            <p:stCondLst>
                              <p:cond delay="0"/>
                            </p:stCondLst>
                            <p:childTnLst>
                              <p:par>
                                <p:cTn id="25" presetID="10" presetClass="entr" presetSubtype="0" fill="hold" grpId="4" nodeType="afterEffect">
                                  <p:stCondLst>
                                    <p:cond delay="0"/>
                                  </p:stCondLst>
                                  <p:childTnLst>
                                    <p:set>
                                      <p:cBhvr>
                                        <p:cTn id="26" dur="1" fill="hold"/>
                                        <p:tgtEl>
                                          <p:spTgt spid="6"/>
                                        </p:tgtEl>
                                        <p:attrNameLst>
                                          <p:attrName>style.visibility</p:attrName>
                                        </p:attrNameLst>
                                      </p:cBhvr>
                                      <p:to>
                                        <p:strVal val="visible"/>
                                      </p:to>
                                    </p:set>
                                    <p:animEffect transition="in" filter="fade">
                                      <p:cBhvr>
                                        <p:cTn id="27" dur="400"/>
                                        <p:tgtEl>
                                          <p:spTgt spid="6"/>
                                        </p:tgtEl>
                                      </p:cBhvr>
                                    </p:animEffect>
                                  </p:childTnLst>
                                </p:cTn>
                              </p:par>
                            </p:childTnLst>
                          </p:cTn>
                        </p:par>
                      </p:childTnLst>
                    </p:cTn>
                  </p:par>
                  <p:par>
                    <p:cTn id="28" fill="hold">
                      <p:stCondLst>
                        <p:cond delay="500"/>
                      </p:stCondLst>
                      <p:childTnLst>
                        <p:par>
                          <p:cTn id="29" fill="hold">
                            <p:stCondLst>
                              <p:cond delay="0"/>
                            </p:stCondLst>
                            <p:childTnLst>
                              <p:par>
                                <p:cTn id="30" presetID="10" presetClass="entr" presetSubtype="0" fill="hold" grpId="5" nodeType="afterEffect">
                                  <p:stCondLst>
                                    <p:cond delay="0"/>
                                  </p:stCondLst>
                                  <p:childTnLst>
                                    <p:set>
                                      <p:cBhvr>
                                        <p:cTn id="31" dur="1" fill="hold"/>
                                        <p:tgtEl>
                                          <p:spTgt spid="7"/>
                                        </p:tgtEl>
                                        <p:attrNameLst>
                                          <p:attrName>style.visibility</p:attrName>
                                        </p:attrNameLst>
                                      </p:cBhvr>
                                      <p:to>
                                        <p:strVal val="visible"/>
                                      </p:to>
                                    </p:set>
                                    <p:animEffect transition="in" filter="fade">
                                      <p:cBhvr>
                                        <p:cTn id="32" dur="400"/>
                                        <p:tgtEl>
                                          <p:spTgt spid="7"/>
                                        </p:tgtEl>
                                      </p:cBhvr>
                                    </p:animEffect>
                                  </p:childTnLst>
                                </p:cTn>
                              </p:par>
                            </p:childTnLst>
                          </p:cTn>
                        </p:par>
                      </p:childTnLst>
                    </p:cTn>
                  </p:par>
                  <p:par>
                    <p:cTn id="33" fill="hold">
                      <p:stCondLst>
                        <p:cond delay="500"/>
                      </p:stCondLst>
                      <p:childTnLst>
                        <p:par>
                          <p:cTn id="34" fill="hold">
                            <p:stCondLst>
                              <p:cond delay="0"/>
                            </p:stCondLst>
                            <p:childTnLst>
                              <p:par>
                                <p:cTn id="35" presetID="10" presetClass="entr" presetSubtype="0" fill="hold" grpId="6" nodeType="afterEffect">
                                  <p:stCondLst>
                                    <p:cond delay="0"/>
                                  </p:stCondLst>
                                  <p:childTnLst>
                                    <p:set>
                                      <p:cBhvr>
                                        <p:cTn id="36" dur="1" fill="hold"/>
                                        <p:tgtEl>
                                          <p:spTgt spid="8"/>
                                        </p:tgtEl>
                                        <p:attrNameLst>
                                          <p:attrName>style.visibility</p:attrName>
                                        </p:attrNameLst>
                                      </p:cBhvr>
                                      <p:to>
                                        <p:strVal val="visible"/>
                                      </p:to>
                                    </p:set>
                                    <p:animEffect transition="in" filter="fade">
                                      <p:cBhvr>
                                        <p:cTn id="37" dur="400"/>
                                        <p:tgtEl>
                                          <p:spTgt spid="8"/>
                                        </p:tgtEl>
                                      </p:cBhvr>
                                    </p:animEffect>
                                  </p:childTnLst>
                                </p:cTn>
                              </p:par>
                            </p:childTnLst>
                          </p:cTn>
                        </p:par>
                      </p:childTnLst>
                    </p:cTn>
                  </p:par>
                  <p:par>
                    <p:cTn id="38" fill="hold">
                      <p:stCondLst>
                        <p:cond delay="500"/>
                      </p:stCondLst>
                      <p:childTnLst>
                        <p:par>
                          <p:cTn id="39" fill="hold">
                            <p:stCondLst>
                              <p:cond delay="0"/>
                            </p:stCondLst>
                            <p:childTnLst>
                              <p:par>
                                <p:cTn id="40" presetID="10" presetClass="entr" presetSubtype="0" fill="hold" grpId="7" nodeType="afterEffect">
                                  <p:stCondLst>
                                    <p:cond delay="0"/>
                                  </p:stCondLst>
                                  <p:childTnLst>
                                    <p:set>
                                      <p:cBhvr>
                                        <p:cTn id="41" dur="1" fill="hold"/>
                                        <p:tgtEl>
                                          <p:spTgt spid="9"/>
                                        </p:tgtEl>
                                        <p:attrNameLst>
                                          <p:attrName>style.visibility</p:attrName>
                                        </p:attrNameLst>
                                      </p:cBhvr>
                                      <p:to>
                                        <p:strVal val="visible"/>
                                      </p:to>
                                    </p:set>
                                    <p:animEffect transition="in" filter="fade">
                                      <p:cBhvr>
                                        <p:cTn id="42" dur="400"/>
                                        <p:tgtEl>
                                          <p:spTgt spid="9"/>
                                        </p:tgtEl>
                                      </p:cBhvr>
                                    </p:animEffect>
                                  </p:childTnLst>
                                </p:cTn>
                              </p:par>
                            </p:childTnLst>
                          </p:cTn>
                        </p:par>
                      </p:childTnLst>
                    </p:cTn>
                  </p:par>
                  <p:par>
                    <p:cTn id="43" fill="hold">
                      <p:stCondLst>
                        <p:cond delay="500"/>
                      </p:stCondLst>
                      <p:childTnLst>
                        <p:par>
                          <p:cTn id="44" fill="hold">
                            <p:stCondLst>
                              <p:cond delay="0"/>
                            </p:stCondLst>
                            <p:childTnLst>
                              <p:par>
                                <p:cTn id="45" presetID="10" presetClass="entr" presetSubtype="0" fill="hold" grpId="8" nodeType="afterEffect">
                                  <p:stCondLst>
                                    <p:cond delay="0"/>
                                  </p:stCondLst>
                                  <p:childTnLst>
                                    <p:set>
                                      <p:cBhvr>
                                        <p:cTn id="46" dur="1" fill="hold"/>
                                        <p:tgtEl>
                                          <p:spTgt spid="10"/>
                                        </p:tgtEl>
                                        <p:attrNameLst>
                                          <p:attrName>style.visibility</p:attrName>
                                        </p:attrNameLst>
                                      </p:cBhvr>
                                      <p:to>
                                        <p:strVal val="visible"/>
                                      </p:to>
                                    </p:set>
                                    <p:animEffect transition="in" filter="fade">
                                      <p:cBhvr>
                                        <p:cTn id="47" dur="400"/>
                                        <p:tgtEl>
                                          <p:spTgt spid="10"/>
                                        </p:tgtEl>
                                      </p:cBhvr>
                                    </p:animEffect>
                                  </p:childTnLst>
                                </p:cTn>
                              </p:par>
                            </p:childTnLst>
                          </p:cTn>
                        </p:par>
                      </p:childTnLst>
                    </p:cTn>
                  </p:par>
                  <p:par>
                    <p:cTn id="48" fill="hold">
                      <p:stCondLst>
                        <p:cond delay="500"/>
                      </p:stCondLst>
                      <p:childTnLst>
                        <p:par>
                          <p:cTn id="49" fill="hold">
                            <p:stCondLst>
                              <p:cond delay="0"/>
                            </p:stCondLst>
                            <p:childTnLst>
                              <p:par>
                                <p:cTn id="50" presetID="10" presetClass="entr" presetSubtype="0" fill="hold" grpId="9" nodeType="afterEffect">
                                  <p:stCondLst>
                                    <p:cond delay="0"/>
                                  </p:stCondLst>
                                  <p:childTnLst>
                                    <p:set>
                                      <p:cBhvr>
                                        <p:cTn id="51" dur="1" fill="hold"/>
                                        <p:tgtEl>
                                          <p:spTgt spid="11"/>
                                        </p:tgtEl>
                                        <p:attrNameLst>
                                          <p:attrName>style.visibility</p:attrName>
                                        </p:attrNameLst>
                                      </p:cBhvr>
                                      <p:to>
                                        <p:strVal val="visible"/>
                                      </p:to>
                                    </p:set>
                                    <p:animEffect transition="in" filter="fade">
                                      <p:cBhvr>
                                        <p:cTn id="52" dur="400"/>
                                        <p:tgtEl>
                                          <p:spTgt spid="11"/>
                                        </p:tgtEl>
                                      </p:cBhvr>
                                    </p:animEffect>
                                  </p:childTnLst>
                                </p:cTn>
                              </p:par>
                            </p:childTnLst>
                          </p:cTn>
                        </p:par>
                      </p:childTnLst>
                    </p:cTn>
                  </p:par>
                  <p:par>
                    <p:cTn id="53" fill="hold">
                      <p:stCondLst>
                        <p:cond delay="500"/>
                      </p:stCondLst>
                      <p:childTnLst>
                        <p:par>
                          <p:cTn id="54" fill="hold">
                            <p:stCondLst>
                              <p:cond delay="0"/>
                            </p:stCondLst>
                            <p:childTnLst>
                              <p:par>
                                <p:cTn id="55" presetID="10" presetClass="entr" presetSubtype="0" fill="hold" grpId="10" nodeType="afterEffect">
                                  <p:stCondLst>
                                    <p:cond delay="0"/>
                                  </p:stCondLst>
                                  <p:childTnLst>
                                    <p:set>
                                      <p:cBhvr>
                                        <p:cTn id="56" dur="1" fill="hold"/>
                                        <p:tgtEl>
                                          <p:spTgt spid="12"/>
                                        </p:tgtEl>
                                        <p:attrNameLst>
                                          <p:attrName>style.visibility</p:attrName>
                                        </p:attrNameLst>
                                      </p:cBhvr>
                                      <p:to>
                                        <p:strVal val="visible"/>
                                      </p:to>
                                    </p:set>
                                    <p:animEffect transition="in" filter="fade">
                                      <p:cBhvr>
                                        <p:cTn id="57" dur="400"/>
                                        <p:tgtEl>
                                          <p:spTgt spid="12"/>
                                        </p:tgtEl>
                                      </p:cBhvr>
                                    </p:animEffect>
                                  </p:childTnLst>
                                </p:cTn>
                              </p:par>
                            </p:childTnLst>
                          </p:cTn>
                        </p:par>
                      </p:childTnLst>
                    </p:cTn>
                  </p:par>
                  <p:par>
                    <p:cTn id="58" fill="hold">
                      <p:stCondLst>
                        <p:cond delay="500"/>
                      </p:stCondLst>
                      <p:childTnLst>
                        <p:par>
                          <p:cTn id="59" fill="hold">
                            <p:stCondLst>
                              <p:cond delay="0"/>
                            </p:stCondLst>
                            <p:childTnLst>
                              <p:par>
                                <p:cTn id="60" presetID="10" presetClass="entr" presetSubtype="0" fill="hold" grpId="11" nodeType="afterEffect">
                                  <p:stCondLst>
                                    <p:cond delay="0"/>
                                  </p:stCondLst>
                                  <p:childTnLst>
                                    <p:set>
                                      <p:cBhvr>
                                        <p:cTn id="61" dur="1" fill="hold"/>
                                        <p:tgtEl>
                                          <p:spTgt spid="13"/>
                                        </p:tgtEl>
                                        <p:attrNameLst>
                                          <p:attrName>style.visibility</p:attrName>
                                        </p:attrNameLst>
                                      </p:cBhvr>
                                      <p:to>
                                        <p:strVal val="visible"/>
                                      </p:to>
                                    </p:set>
                                    <p:animEffect transition="in" filter="fade">
                                      <p:cBhvr>
                                        <p:cTn id="62" dur="400"/>
                                        <p:tgtEl>
                                          <p:spTgt spid="13"/>
                                        </p:tgtEl>
                                      </p:cBhvr>
                                    </p:animEffect>
                                  </p:childTnLst>
                                </p:cTn>
                              </p:par>
                            </p:childTnLst>
                          </p:cTn>
                        </p:par>
                      </p:childTnLst>
                    </p:cTn>
                  </p:par>
                  <p:par>
                    <p:cTn id="63" fill="hold">
                      <p:stCondLst>
                        <p:cond delay="500"/>
                      </p:stCondLst>
                      <p:childTnLst>
                        <p:par>
                          <p:cTn id="64" fill="hold">
                            <p:stCondLst>
                              <p:cond delay="0"/>
                            </p:stCondLst>
                            <p:childTnLst>
                              <p:par>
                                <p:cTn id="65" presetID="10" presetClass="entr" presetSubtype="0" fill="hold" grpId="12" nodeType="afterEffect">
                                  <p:stCondLst>
                                    <p:cond delay="0"/>
                                  </p:stCondLst>
                                  <p:childTnLst>
                                    <p:set>
                                      <p:cBhvr>
                                        <p:cTn id="66" dur="1" fill="hold"/>
                                        <p:tgtEl>
                                          <p:spTgt spid="14"/>
                                        </p:tgtEl>
                                        <p:attrNameLst>
                                          <p:attrName>style.visibility</p:attrName>
                                        </p:attrNameLst>
                                      </p:cBhvr>
                                      <p:to>
                                        <p:strVal val="visible"/>
                                      </p:to>
                                    </p:set>
                                    <p:animEffect transition="in" filter="fade">
                                      <p:cBhvr>
                                        <p:cTn id="67" dur="400"/>
                                        <p:tgtEl>
                                          <p:spTgt spid="14"/>
                                        </p:tgtEl>
                                      </p:cBhvr>
                                    </p:animEffect>
                                  </p:childTnLst>
                                </p:cTn>
                              </p:par>
                            </p:childTnLst>
                          </p:cTn>
                        </p:par>
                      </p:childTnLst>
                    </p:cTn>
                  </p:par>
                </p:childTnLst>
              </p:cTn>
              <p:prevCondLst>
                <p:cond evt="onPrevClick" delay="0">
                  <p:tn/>
                </p:cond>
              </p:prevCondLst>
            </p:seq>
          </p:childTnLst>
        </p:cTn>
      </p:par>
    </p:tnLst>
    <p:bldLst>
      <p:bldP spid="2" grpId="0" build="p"/>
      <p:bldP spid="3" grpId="1" build="p"/>
      <p:bldP spid="4" grpId="2" build="p"/>
      <p:bldP spid="5" grpId="3" build="p"/>
      <p:bldP spid="6" grpId="4" build="p"/>
      <p:bldP spid="7" grpId="5" build="p"/>
      <p:bldP spid="8" grpId="6" build="p"/>
      <p:bldP spid="9" grpId="7" build="p"/>
      <p:bldP spid="10" grpId="8" build="p"/>
      <p:bldP spid="11" grpId="9" build="p"/>
      <p:bldP spid="12" grpId="10" build="p"/>
      <p:bldP spid="13" grpId="11" build="p"/>
      <p:bldP spid="14" grpId="12" build="p"/>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2761"/>
          </a:solidFill>
          <a:ln/>
        </p:spPr>
      </p:sp>
      <p:sp>
        <p:nvSpPr>
          <p:cNvPr id="3" name="Text 1"/>
          <p:cNvSpPr/>
          <p:nvPr/>
        </p:nvSpPr>
        <p:spPr>
          <a:xfrm>
            <a:off x="411480" y="201168"/>
            <a:ext cx="8046720" cy="274320"/>
          </a:xfrm>
          <a:prstGeom prst="rect">
            <a:avLst/>
          </a:prstGeom>
          <a:noFill/>
          <a:ln/>
        </p:spPr>
        <p:txBody>
          <a:bodyPr wrap="square" rtlCol="0" anchor="ctr"/>
          <a:lstStyle/>
          <a:p>
            <a:pPr indent="0" marL="0">
              <a:buNone/>
            </a:pPr>
            <a:r>
              <a:rPr lang="en-US" sz="1100" b="1" spc="300" kern="0" dirty="0">
                <a:solidFill>
                  <a:srgbClr val="5A6478"/>
                </a:solidFill>
                <a:latin typeface="Calibri" pitchFamily="34" charset="0"/>
                <a:ea typeface="Calibri" pitchFamily="34" charset="-122"/>
                <a:cs typeface="Calibri" pitchFamily="34" charset="-120"/>
              </a:rPr>
              <a:t>CORROBORATION &amp; LIMITATIONS</a:t>
            </a:r>
            <a:endParaRPr lang="en-US" sz="1100" dirty="0"/>
          </a:p>
        </p:txBody>
      </p:sp>
      <p:sp>
        <p:nvSpPr>
          <p:cNvPr id="4" name="Text 2"/>
          <p:cNvSpPr/>
          <p:nvPr/>
        </p:nvSpPr>
        <p:spPr>
          <a:xfrm>
            <a:off x="384048" y="420624"/>
            <a:ext cx="8321040" cy="566928"/>
          </a:xfrm>
          <a:prstGeom prst="rect">
            <a:avLst/>
          </a:prstGeom>
          <a:noFill/>
          <a:ln/>
        </p:spPr>
        <p:txBody>
          <a:bodyPr wrap="square" rtlCol="0" anchor="ctr"/>
          <a:lstStyle/>
          <a:p>
            <a:pPr indent="0" marL="0">
              <a:buNone/>
            </a:pPr>
            <a:r>
              <a:rPr lang="en-US" sz="2700" b="1" dirty="0">
                <a:solidFill>
                  <a:srgbClr val="1E2761"/>
                </a:solidFill>
                <a:latin typeface="Georgia" pitchFamily="34" charset="0"/>
                <a:ea typeface="Georgia" pitchFamily="34" charset="-122"/>
                <a:cs typeface="Georgia" pitchFamily="34" charset="-120"/>
              </a:rPr>
              <a:t>Full scale agrees — with honest limits</a:t>
            </a:r>
            <a:endParaRPr lang="en-US" sz="2700" dirty="0"/>
          </a:p>
        </p:txBody>
      </p:sp>
      <p:sp>
        <p:nvSpPr>
          <p:cNvPr id="5" name="Text 3"/>
          <p:cNvSpPr/>
          <p:nvPr/>
        </p:nvSpPr>
        <p:spPr>
          <a:xfrm>
            <a:off x="8549640" y="4773168"/>
            <a:ext cx="457200" cy="274320"/>
          </a:xfrm>
          <a:prstGeom prst="rect">
            <a:avLst/>
          </a:prstGeom>
          <a:noFill/>
          <a:ln/>
        </p:spPr>
        <p:txBody>
          <a:bodyPr wrap="square"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09</a:t>
            </a:r>
            <a:endParaRPr lang="en-US" sz="1000" dirty="0"/>
          </a:p>
        </p:txBody>
      </p:sp>
      <p:sp>
        <p:nvSpPr>
          <p:cNvPr id="6" name="Text 4"/>
          <p:cNvSpPr/>
          <p:nvPr/>
        </p:nvSpPr>
        <p:spPr>
          <a:xfrm>
            <a:off x="411480" y="4773168"/>
            <a:ext cx="5943600" cy="274320"/>
          </a:xfrm>
          <a:prstGeom prst="rect">
            <a:avLst/>
          </a:prstGeom>
          <a:noFill/>
          <a:ln/>
        </p:spPr>
        <p:txBody>
          <a:bodyPr wrap="square" rtlCol="0" anchor="ctr"/>
          <a:lstStyle/>
          <a:p>
            <a:pPr indent="0" marL="0">
              <a:buNone/>
            </a:pPr>
            <a:r>
              <a:rPr lang="en-US" sz="900" dirty="0">
                <a:solidFill>
                  <a:srgbClr val="5A6478"/>
                </a:solidFill>
                <a:latin typeface="Calibri" pitchFamily="34" charset="0"/>
                <a:ea typeface="Calibri" pitchFamily="34" charset="-122"/>
                <a:cs typeface="Calibri" pitchFamily="34" charset="-120"/>
              </a:rPr>
              <a:t>VLASH — Diploma thesis defense · UITM Rzeszow 2026</a:t>
            </a:r>
            <a:endParaRPr lang="en-US" sz="900" dirty="0"/>
          </a:p>
        </p:txBody>
      </p:sp>
      <p:sp>
        <p:nvSpPr>
          <p:cNvPr id="7" name="Shape 5"/>
          <p:cNvSpPr/>
          <p:nvPr/>
        </p:nvSpPr>
        <p:spPr>
          <a:xfrm>
            <a:off x="411480" y="1188720"/>
            <a:ext cx="2084832" cy="1325880"/>
          </a:xfrm>
          <a:prstGeom prst="roundRect">
            <a:avLst>
              <a:gd name="adj" fmla="val 4138"/>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8" name="Text 6"/>
          <p:cNvSpPr/>
          <p:nvPr/>
        </p:nvSpPr>
        <p:spPr>
          <a:xfrm>
            <a:off x="411480" y="1298448"/>
            <a:ext cx="2084832" cy="502920"/>
          </a:xfrm>
          <a:prstGeom prst="rect">
            <a:avLst/>
          </a:prstGeom>
          <a:noFill/>
          <a:ln/>
        </p:spPr>
        <p:txBody>
          <a:bodyPr wrap="square" rtlCol="0" anchor="ctr"/>
          <a:lstStyle/>
          <a:p>
            <a:pPr algn="ctr" indent="0" marL="0">
              <a:buNone/>
            </a:pPr>
            <a:r>
              <a:rPr lang="en-US" sz="2300" b="1" dirty="0">
                <a:solidFill>
                  <a:srgbClr val="1E2761"/>
                </a:solidFill>
                <a:latin typeface="Georgia" pitchFamily="34" charset="0"/>
                <a:ea typeface="Georgia" pitchFamily="34" charset="-122"/>
                <a:cs typeface="Georgia" pitchFamily="34" charset="-120"/>
              </a:rPr>
              <a:t>97.2%</a:t>
            </a:r>
            <a:endParaRPr lang="en-US" sz="2300" dirty="0"/>
          </a:p>
        </p:txBody>
      </p:sp>
      <p:sp>
        <p:nvSpPr>
          <p:cNvPr id="9" name="Text 7"/>
          <p:cNvSpPr/>
          <p:nvPr/>
        </p:nvSpPr>
        <p:spPr>
          <a:xfrm>
            <a:off x="484632" y="1828800"/>
            <a:ext cx="1938528" cy="640080"/>
          </a:xfrm>
          <a:prstGeom prst="rect">
            <a:avLst/>
          </a:prstGeom>
          <a:noFill/>
          <a:ln/>
        </p:spPr>
        <p:txBody>
          <a:bodyPr wrap="square" rtlCol="0" anchor="ctr"/>
          <a:lstStyle/>
          <a:p>
            <a:pPr algn="ctr" indent="0" marL="0">
              <a:buNone/>
            </a:pPr>
            <a:r>
              <a:rPr lang="en-US" sz="950" dirty="0">
                <a:solidFill>
                  <a:srgbClr val="5A6478"/>
                </a:solidFill>
                <a:latin typeface="Calibri" pitchFamily="34" charset="0"/>
                <a:ea typeface="Calibri" pitchFamily="34" charset="-122"/>
                <a:cs typeface="Calibri" pitchFamily="34" charset="-120"/>
              </a:rPr>
              <a:t>LIBERO avg SR at Δ = 1</a:t>
            </a:r>
            <a:endParaRPr lang="en-US" sz="950" dirty="0"/>
          </a:p>
          <a:p>
            <a:pPr algn="ctr" indent="0" marL="0">
              <a:buNone/>
            </a:pPr>
            <a:r>
              <a:rPr lang="en-US" sz="950" dirty="0">
                <a:solidFill>
                  <a:srgbClr val="5A6478"/>
                </a:solidFill>
                <a:latin typeface="Calibri" pitchFamily="34" charset="0"/>
                <a:ea typeface="Calibri" pitchFamily="34" charset="-122"/>
                <a:cs typeface="Calibri" pitchFamily="34" charset="-120"/>
              </a:rPr>
              <a:t>(sync baseline 96.8%)</a:t>
            </a:r>
            <a:endParaRPr lang="en-US" sz="950" dirty="0"/>
          </a:p>
        </p:txBody>
      </p:sp>
      <p:sp>
        <p:nvSpPr>
          <p:cNvPr id="10" name="Shape 8"/>
          <p:cNvSpPr/>
          <p:nvPr/>
        </p:nvSpPr>
        <p:spPr>
          <a:xfrm>
            <a:off x="2624328" y="1188720"/>
            <a:ext cx="2084832" cy="1325880"/>
          </a:xfrm>
          <a:prstGeom prst="roundRect">
            <a:avLst>
              <a:gd name="adj" fmla="val 4138"/>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1" name="Text 9"/>
          <p:cNvSpPr/>
          <p:nvPr/>
        </p:nvSpPr>
        <p:spPr>
          <a:xfrm>
            <a:off x="2624328" y="1298448"/>
            <a:ext cx="2084832" cy="502920"/>
          </a:xfrm>
          <a:prstGeom prst="rect">
            <a:avLst/>
          </a:prstGeom>
          <a:noFill/>
          <a:ln/>
        </p:spPr>
        <p:txBody>
          <a:bodyPr wrap="square" rtlCol="0" anchor="ctr"/>
          <a:lstStyle/>
          <a:p>
            <a:pPr algn="ctr" indent="0" marL="0">
              <a:buNone/>
            </a:pPr>
            <a:r>
              <a:rPr lang="en-US" sz="2300" b="1" dirty="0">
                <a:solidFill>
                  <a:srgbClr val="1E2761"/>
                </a:solidFill>
                <a:latin typeface="Georgia" pitchFamily="34" charset="0"/>
                <a:ea typeface="Georgia" pitchFamily="34" charset="-122"/>
                <a:cs typeface="Georgia" pitchFamily="34" charset="-120"/>
              </a:rPr>
              <a:t>+30.5 pts</a:t>
            </a:r>
            <a:endParaRPr lang="en-US" sz="2300" dirty="0"/>
          </a:p>
        </p:txBody>
      </p:sp>
      <p:sp>
        <p:nvSpPr>
          <p:cNvPr id="12" name="Text 10"/>
          <p:cNvSpPr/>
          <p:nvPr/>
        </p:nvSpPr>
        <p:spPr>
          <a:xfrm>
            <a:off x="2697480" y="1828800"/>
            <a:ext cx="1938528" cy="640080"/>
          </a:xfrm>
          <a:prstGeom prst="rect">
            <a:avLst/>
          </a:prstGeom>
          <a:noFill/>
          <a:ln/>
        </p:spPr>
        <p:txBody>
          <a:bodyPr wrap="square" rtlCol="0" anchor="ctr"/>
          <a:lstStyle/>
          <a:p>
            <a:pPr algn="ctr" indent="0" marL="0">
              <a:buNone/>
            </a:pPr>
            <a:r>
              <a:rPr lang="en-US" sz="950" dirty="0">
                <a:solidFill>
                  <a:srgbClr val="5A6478"/>
                </a:solidFill>
                <a:latin typeface="Calibri" pitchFamily="34" charset="0"/>
                <a:ea typeface="Calibri" pitchFamily="34" charset="-122"/>
                <a:cs typeface="Calibri" pitchFamily="34" charset="-120"/>
              </a:rPr>
              <a:t>over naive async on</a:t>
            </a:r>
            <a:endParaRPr lang="en-US" sz="950" dirty="0"/>
          </a:p>
          <a:p>
            <a:pPr algn="ctr" indent="0" marL="0">
              <a:buNone/>
            </a:pPr>
            <a:r>
              <a:rPr lang="en-US" sz="950" dirty="0">
                <a:solidFill>
                  <a:srgbClr val="5A6478"/>
                </a:solidFill>
                <a:latin typeface="Calibri" pitchFamily="34" charset="0"/>
                <a:ea typeface="Calibri" pitchFamily="34" charset="-122"/>
                <a:cs typeface="Calibri" pitchFamily="34" charset="-120"/>
              </a:rPr>
              <a:t>fast-physics Kinetix (Δ = 4)</a:t>
            </a:r>
            <a:endParaRPr lang="en-US" sz="950" dirty="0"/>
          </a:p>
        </p:txBody>
      </p:sp>
      <p:sp>
        <p:nvSpPr>
          <p:cNvPr id="13" name="Shape 11"/>
          <p:cNvSpPr/>
          <p:nvPr/>
        </p:nvSpPr>
        <p:spPr>
          <a:xfrm>
            <a:off x="411480" y="2670048"/>
            <a:ext cx="2084832" cy="1325880"/>
          </a:xfrm>
          <a:prstGeom prst="roundRect">
            <a:avLst>
              <a:gd name="adj" fmla="val 4138"/>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4" name="Text 12"/>
          <p:cNvSpPr/>
          <p:nvPr/>
        </p:nvSpPr>
        <p:spPr>
          <a:xfrm>
            <a:off x="411480" y="2779776"/>
            <a:ext cx="2084832" cy="502920"/>
          </a:xfrm>
          <a:prstGeom prst="rect">
            <a:avLst/>
          </a:prstGeom>
          <a:noFill/>
          <a:ln/>
        </p:spPr>
        <p:txBody>
          <a:bodyPr wrap="square" rtlCol="0" anchor="ctr"/>
          <a:lstStyle/>
          <a:p>
            <a:pPr algn="ctr" indent="0" marL="0">
              <a:buNone/>
            </a:pPr>
            <a:r>
              <a:rPr lang="en-US" sz="2300" b="1" dirty="0">
                <a:solidFill>
                  <a:srgbClr val="1E2761"/>
                </a:solidFill>
                <a:latin typeface="Georgia" pitchFamily="34" charset="0"/>
                <a:ea typeface="Georgia" pitchFamily="34" charset="-122"/>
                <a:cs typeface="Georgia" pitchFamily="34" charset="-120"/>
              </a:rPr>
              <a:t>94%</a:t>
            </a:r>
            <a:endParaRPr lang="en-US" sz="2300" dirty="0"/>
          </a:p>
        </p:txBody>
      </p:sp>
      <p:sp>
        <p:nvSpPr>
          <p:cNvPr id="15" name="Text 13"/>
          <p:cNvSpPr/>
          <p:nvPr/>
        </p:nvSpPr>
        <p:spPr>
          <a:xfrm>
            <a:off x="484632" y="3310128"/>
            <a:ext cx="1938528" cy="640080"/>
          </a:xfrm>
          <a:prstGeom prst="rect">
            <a:avLst/>
          </a:prstGeom>
          <a:noFill/>
          <a:ln/>
        </p:spPr>
        <p:txBody>
          <a:bodyPr wrap="square" rtlCol="0" anchor="ctr"/>
          <a:lstStyle/>
          <a:p>
            <a:pPr algn="ctr" indent="0" marL="0">
              <a:buNone/>
            </a:pPr>
            <a:r>
              <a:rPr lang="en-US" sz="950" dirty="0">
                <a:solidFill>
                  <a:srgbClr val="5A6478"/>
                </a:solidFill>
                <a:latin typeface="Calibri" pitchFamily="34" charset="0"/>
                <a:ea typeface="Calibri" pitchFamily="34" charset="-122"/>
                <a:cs typeface="Calibri" pitchFamily="34" charset="-120"/>
              </a:rPr>
              <a:t>best avg score on 3 real-robot</a:t>
            </a:r>
            <a:endParaRPr lang="en-US" sz="950" dirty="0"/>
          </a:p>
          <a:p>
            <a:pPr algn="ctr" indent="0" marL="0">
              <a:buNone/>
            </a:pPr>
            <a:r>
              <a:rPr lang="en-US" sz="950" dirty="0">
                <a:solidFill>
                  <a:srgbClr val="5A6478"/>
                </a:solidFill>
                <a:latin typeface="Calibri" pitchFamily="34" charset="0"/>
                <a:ea typeface="Calibri" pitchFamily="34" charset="-122"/>
                <a:cs typeface="Calibri" pitchFamily="34" charset="-120"/>
              </a:rPr>
              <a:t>tasks, 1.12× faster than sync</a:t>
            </a:r>
            <a:endParaRPr lang="en-US" sz="950" dirty="0"/>
          </a:p>
        </p:txBody>
      </p:sp>
      <p:sp>
        <p:nvSpPr>
          <p:cNvPr id="16" name="Shape 14"/>
          <p:cNvSpPr/>
          <p:nvPr/>
        </p:nvSpPr>
        <p:spPr>
          <a:xfrm>
            <a:off x="2624328" y="2670048"/>
            <a:ext cx="2084832" cy="1325880"/>
          </a:xfrm>
          <a:prstGeom prst="roundRect">
            <a:avLst>
              <a:gd name="adj" fmla="val 4138"/>
            </a:avLst>
          </a:prstGeom>
          <a:solidFill>
            <a:srgbClr val="F4F7FC"/>
          </a:solidFill>
          <a:ln w="12700">
            <a:solidFill>
              <a:srgbClr val="E1E7F2"/>
            </a:solidFill>
            <a:prstDash val="solid"/>
          </a:ln>
          <a:effectLst>
            <a:outerShdw sx="100000" sy="100000" kx="0" ky="0" algn="bl" rotWithShape="0" blurRad="63500" dist="25400" dir="5400000">
              <a:srgbClr val="1E2761">
                <a:alpha val="10000"/>
              </a:srgbClr>
            </a:outerShdw>
          </a:effectLst>
        </p:spPr>
      </p:sp>
      <p:sp>
        <p:nvSpPr>
          <p:cNvPr id="17" name="Text 15"/>
          <p:cNvSpPr/>
          <p:nvPr/>
        </p:nvSpPr>
        <p:spPr>
          <a:xfrm>
            <a:off x="2624328" y="2779776"/>
            <a:ext cx="2084832" cy="502920"/>
          </a:xfrm>
          <a:prstGeom prst="rect">
            <a:avLst/>
          </a:prstGeom>
          <a:noFill/>
          <a:ln/>
        </p:spPr>
        <p:txBody>
          <a:bodyPr wrap="square" rtlCol="0" anchor="ctr"/>
          <a:lstStyle/>
          <a:p>
            <a:pPr algn="ctr" indent="0" marL="0">
              <a:buNone/>
            </a:pPr>
            <a:r>
              <a:rPr lang="en-US" sz="2300" b="1" dirty="0">
                <a:solidFill>
                  <a:srgbClr val="1E2761"/>
                </a:solidFill>
                <a:latin typeface="Georgia" pitchFamily="34" charset="0"/>
                <a:ea typeface="Georgia" pitchFamily="34" charset="-122"/>
                <a:cs typeface="Georgia" pitchFamily="34" charset="-120"/>
              </a:rPr>
              <a:t>14.9×</a:t>
            </a:r>
            <a:endParaRPr lang="en-US" sz="2300" dirty="0"/>
          </a:p>
        </p:txBody>
      </p:sp>
      <p:sp>
        <p:nvSpPr>
          <p:cNvPr id="18" name="Text 16"/>
          <p:cNvSpPr/>
          <p:nvPr/>
        </p:nvSpPr>
        <p:spPr>
          <a:xfrm>
            <a:off x="2697480" y="3310128"/>
            <a:ext cx="1938528" cy="640080"/>
          </a:xfrm>
          <a:prstGeom prst="rect">
            <a:avLst/>
          </a:prstGeom>
          <a:noFill/>
          <a:ln/>
        </p:spPr>
        <p:txBody>
          <a:bodyPr wrap="square" rtlCol="0" anchor="ctr"/>
          <a:lstStyle/>
          <a:p>
            <a:pPr algn="ctr" indent="0" marL="0">
              <a:buNone/>
            </a:pPr>
            <a:r>
              <a:rPr lang="en-US" sz="950" dirty="0">
                <a:solidFill>
                  <a:srgbClr val="5A6478"/>
                </a:solidFill>
                <a:latin typeface="Calibri" pitchFamily="34" charset="0"/>
                <a:ea typeface="Calibri" pitchFamily="34" charset="-122"/>
                <a:cs typeface="Calibri" pitchFamily="34" charset="-120"/>
              </a:rPr>
              <a:t>cut in max reaction latency</a:t>
            </a:r>
            <a:endParaRPr lang="en-US" sz="950" dirty="0"/>
          </a:p>
          <a:p>
            <a:pPr algn="ctr" indent="0" marL="0">
              <a:buNone/>
            </a:pPr>
            <a:r>
              <a:rPr lang="en-US" sz="950" dirty="0">
                <a:solidFill>
                  <a:srgbClr val="5A6478"/>
                </a:solidFill>
                <a:latin typeface="Calibri" pitchFamily="34" charset="0"/>
                <a:ea typeface="Calibri" pitchFamily="34" charset="-122"/>
                <a:cs typeface="Calibri" pitchFamily="34" charset="-120"/>
              </a:rPr>
              <a:t>(536 → 36 ms, RTX 4090)</a:t>
            </a:r>
            <a:endParaRPr lang="en-US" sz="950" dirty="0"/>
          </a:p>
        </p:txBody>
      </p:sp>
      <p:sp>
        <p:nvSpPr>
          <p:cNvPr id="19" name="Text 17"/>
          <p:cNvSpPr/>
          <p:nvPr/>
        </p:nvSpPr>
        <p:spPr>
          <a:xfrm>
            <a:off x="411480" y="4224528"/>
            <a:ext cx="4297680" cy="274320"/>
          </a:xfrm>
          <a:prstGeom prst="rect">
            <a:avLst/>
          </a:prstGeom>
          <a:noFill/>
          <a:ln/>
        </p:spPr>
        <p:txBody>
          <a:bodyPr wrap="square" rtlCol="0" anchor="ctr"/>
          <a:lstStyle/>
          <a:p>
            <a:pPr algn="ctr" indent="0" marL="0">
              <a:buNone/>
            </a:pPr>
            <a:r>
              <a:rPr lang="en-US" sz="1000" i="1" dirty="0">
                <a:solidFill>
                  <a:srgbClr val="5A6478"/>
                </a:solidFill>
                <a:latin typeface="Calibri" pitchFamily="34" charset="0"/>
                <a:ea typeface="Calibri" pitchFamily="34" charset="-122"/>
                <a:cs typeface="Calibri" pitchFamily="34" charset="-120"/>
              </a:rPr>
              <a:t>Reported by Tang et al. (2025) for π0.5 [1]</a:t>
            </a:r>
            <a:endParaRPr lang="en-US" sz="1000" dirty="0"/>
          </a:p>
        </p:txBody>
      </p:sp>
      <p:sp>
        <p:nvSpPr>
          <p:cNvPr id="20" name="Text 18"/>
          <p:cNvSpPr/>
          <p:nvPr/>
        </p:nvSpPr>
        <p:spPr>
          <a:xfrm>
            <a:off x="5074920" y="1188720"/>
            <a:ext cx="374904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Limitations — stated plainly</a:t>
            </a:r>
            <a:endParaRPr lang="en-US" sz="1400" dirty="0"/>
          </a:p>
        </p:txBody>
      </p:sp>
      <p:sp>
        <p:nvSpPr>
          <p:cNvPr id="21" name="Text 19"/>
          <p:cNvSpPr/>
          <p:nvPr/>
        </p:nvSpPr>
        <p:spPr>
          <a:xfrm>
            <a:off x="5074920" y="1600200"/>
            <a:ext cx="3749040" cy="3017520"/>
          </a:xfrm>
          <a:prstGeom prst="rect">
            <a:avLst/>
          </a:prstGeom>
          <a:noFill/>
          <a:ln/>
        </p:spPr>
        <p:txBody>
          <a:bodyPr wrap="square" rtlCol="0" anchor="t"/>
          <a:lstStyle/>
          <a:p>
            <a:pPr indent="0" marL="0">
              <a:spcAft>
                <a:spcPts val="1000"/>
              </a:spcAft>
              <a:buNone/>
            </a:pPr>
            <a:r>
              <a:rPr lang="en-US" sz="1200" b="1" dirty="0">
                <a:solidFill>
                  <a:srgbClr val="1A1A2E"/>
                </a:solidFill>
                <a:latin typeface="Calibri" pitchFamily="34" charset="0"/>
                <a:ea typeface="Calibri" pitchFamily="34" charset="-122"/>
                <a:cs typeface="Calibri" pitchFamily="34" charset="-120"/>
              </a:rPr>
              <a:t>Stale perception: </a:t>
            </a:r>
            <a:pPr indent="0" marL="0">
              <a:spcAft>
                <a:spcPts val="1000"/>
              </a:spcAft>
              <a:buNone/>
            </a:pPr>
            <a:r>
              <a:rPr lang="en-US" sz="1200" dirty="0">
                <a:solidFill>
                  <a:srgbClr val="1A1A2E"/>
                </a:solidFill>
                <a:latin typeface="Calibri" pitchFamily="34" charset="0"/>
                <a:ea typeface="Calibri" pitchFamily="34" charset="-122"/>
                <a:cs typeface="Calibri" pitchFamily="34" charset="-120"/>
              </a:rPr>
              <a:t>rollforward fixes the robot state, not the visual scene → residual gap to sync in both my testbed and the paper.</a:t>
            </a:r>
            <a:endParaRPr lang="en-US" sz="1200" dirty="0"/>
          </a:p>
          <a:p>
            <a:pPr indent="0" marL="0">
              <a:spcAft>
                <a:spcPts val="1000"/>
              </a:spcAft>
              <a:buNone/>
            </a:pPr>
            <a:r>
              <a:rPr lang="en-US" sz="1200" b="1" dirty="0">
                <a:solidFill>
                  <a:srgbClr val="1A1A2E"/>
                </a:solidFill>
                <a:latin typeface="Calibri" pitchFamily="34" charset="0"/>
                <a:ea typeface="Calibri" pitchFamily="34" charset="-122"/>
                <a:cs typeface="Calibri" pitchFamily="34" charset="-120"/>
              </a:rPr>
              <a:t>Kinematic abstraction: </a:t>
            </a:r>
            <a:pPr indent="0" marL="0">
              <a:spcAft>
                <a:spcPts val="1000"/>
              </a:spcAft>
              <a:buNone/>
            </a:pPr>
            <a:r>
              <a:rPr lang="en-US" sz="1200" dirty="0">
                <a:solidFill>
                  <a:srgbClr val="1A1A2E"/>
                </a:solidFill>
                <a:latin typeface="Calibri" pitchFamily="34" charset="0"/>
                <a:ea typeface="Calibri" pitchFamily="34" charset="-122"/>
                <a:cs typeface="Calibri" pitchFamily="34" charset="-120"/>
              </a:rPr>
              <a:t>my testbed has no contact dynamics or real perception; it validates the mechanism, not absolute success rates.</a:t>
            </a:r>
            <a:endParaRPr lang="en-US" sz="1200" dirty="0"/>
          </a:p>
          <a:p>
            <a:pPr indent="0" marL="0">
              <a:spcAft>
                <a:spcPts val="1000"/>
              </a:spcAft>
              <a:buNone/>
            </a:pPr>
            <a:r>
              <a:rPr lang="en-US" sz="1200" b="1" dirty="0">
                <a:solidFill>
                  <a:srgbClr val="1A1A2E"/>
                </a:solidFill>
                <a:latin typeface="Calibri" pitchFamily="34" charset="0"/>
                <a:ea typeface="Calibri" pitchFamily="34" charset="-122"/>
                <a:cs typeface="Calibri" pitchFamily="34" charset="-120"/>
              </a:rPr>
              <a:t>Delta actions only: </a:t>
            </a:r>
            <a:pPr indent="0" marL="0">
              <a:spcAft>
                <a:spcPts val="1000"/>
              </a:spcAft>
              <a:buNone/>
            </a:pPr>
            <a:r>
              <a:rPr lang="en-US" sz="1200" dirty="0">
                <a:solidFill>
                  <a:srgbClr val="1A1A2E"/>
                </a:solidFill>
                <a:latin typeface="Calibri" pitchFamily="34" charset="0"/>
                <a:ea typeface="Calibri" pitchFamily="34" charset="-122"/>
                <a:cs typeface="Calibri" pitchFamily="34" charset="-120"/>
              </a:rPr>
              <a:t>exact rollforward needs additive actions; absolute action spaces would need kinematics.</a:t>
            </a:r>
            <a:endParaRPr lang="en-US" sz="1200" dirty="0"/>
          </a:p>
        </p:txBody>
      </p:sp>
    </p:spTree>
  </p:cSld>
  <p:clrMapOvr>
    <a:masterClrMapping/>
  </p:clrMapOvr>
  <p:transition spd="med" dur="400">
    <p:fade/>
  </p:transition>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500"/>
                      </p:stCondLst>
                      <p:childTnLst>
                        <p:par>
                          <p:cTn id="9" fill="hold">
                            <p:stCondLst>
                              <p:cond delay="0"/>
                            </p:stCondLst>
                            <p:childTnLst>
                              <p:par>
                                <p:cTn id="10" presetID="10" presetClass="entr" presetSubtype="0" fill="hold" grpId="1" nodeType="afterEffect">
                                  <p:stCondLst>
                                    <p:cond delay="0"/>
                                  </p:stCondLst>
                                  <p:childTnLst>
                                    <p:set>
                                      <p:cBhvr>
                                        <p:cTn id="11" dur="1" fill="hold"/>
                                        <p:tgtEl>
                                          <p:spTgt spid="3"/>
                                        </p:tgtEl>
                                        <p:attrNameLst>
                                          <p:attrName>style.visibility</p:attrName>
                                        </p:attrNameLst>
                                      </p:cBhvr>
                                      <p:to>
                                        <p:strVal val="visible"/>
                                      </p:to>
                                    </p:set>
                                    <p:animEffect transition="in" filter="fade">
                                      <p:cBhvr>
                                        <p:cTn id="12" dur="400"/>
                                        <p:tgtEl>
                                          <p:spTgt spid="3"/>
                                        </p:tgtEl>
                                      </p:cBhvr>
                                    </p:animEffect>
                                  </p:childTnLst>
                                </p:cTn>
                              </p:par>
                            </p:childTnLst>
                          </p:cTn>
                        </p:par>
                      </p:childTnLst>
                    </p:cTn>
                  </p:par>
                  <p:par>
                    <p:cTn id="13" fill="hold">
                      <p:stCondLst>
                        <p:cond delay="500"/>
                      </p:stCondLst>
                      <p:childTnLst>
                        <p:par>
                          <p:cTn id="14" fill="hold">
                            <p:stCondLst>
                              <p:cond delay="0"/>
                            </p:stCondLst>
                            <p:childTnLst>
                              <p:par>
                                <p:cTn id="15" presetID="10" presetClass="entr" presetSubtype="0" fill="hold" grpId="2" nodeType="afterEffect">
                                  <p:stCondLst>
                                    <p:cond delay="0"/>
                                  </p:stCondLst>
                                  <p:childTnLst>
                                    <p:set>
                                      <p:cBhvr>
                                        <p:cTn id="16" dur="1" fill="hold"/>
                                        <p:tgtEl>
                                          <p:spTgt spid="4"/>
                                        </p:tgtEl>
                                        <p:attrNameLst>
                                          <p:attrName>style.visibility</p:attrName>
                                        </p:attrNameLst>
                                      </p:cBhvr>
                                      <p:to>
                                        <p:strVal val="visible"/>
                                      </p:to>
                                    </p:set>
                                    <p:animEffect transition="in" filter="fade">
                                      <p:cBhvr>
                                        <p:cTn id="17" dur="400"/>
                                        <p:tgtEl>
                                          <p:spTgt spid="4"/>
                                        </p:tgtEl>
                                      </p:cBhvr>
                                    </p:animEffect>
                                  </p:childTnLst>
                                </p:cTn>
                              </p:par>
                            </p:childTnLst>
                          </p:cTn>
                        </p:par>
                      </p:childTnLst>
                    </p:cTn>
                  </p:par>
                  <p:par>
                    <p:cTn id="18" fill="hold">
                      <p:stCondLst>
                        <p:cond delay="500"/>
                      </p:stCondLst>
                      <p:childTnLst>
                        <p:par>
                          <p:cTn id="19" fill="hold">
                            <p:stCondLst>
                              <p:cond delay="0"/>
                            </p:stCondLst>
                            <p:childTnLst>
                              <p:par>
                                <p:cTn id="20" presetID="10" presetClass="entr" presetSubtype="0" fill="hold" grpId="3" nodeType="afterEffect">
                                  <p:stCondLst>
                                    <p:cond delay="0"/>
                                  </p:stCondLst>
                                  <p:childTnLst>
                                    <p:set>
                                      <p:cBhvr>
                                        <p:cTn id="21" dur="1" fill="hold"/>
                                        <p:tgtEl>
                                          <p:spTgt spid="5"/>
                                        </p:tgtEl>
                                        <p:attrNameLst>
                                          <p:attrName>style.visibility</p:attrName>
                                        </p:attrNameLst>
                                      </p:cBhvr>
                                      <p:to>
                                        <p:strVal val="visible"/>
                                      </p:to>
                                    </p:set>
                                    <p:animEffect transition="in" filter="fade">
                                      <p:cBhvr>
                                        <p:cTn id="22" dur="400"/>
                                        <p:tgtEl>
                                          <p:spTgt spid="5"/>
                                        </p:tgtEl>
                                      </p:cBhvr>
                                    </p:animEffect>
                                  </p:childTnLst>
                                </p:cTn>
                              </p:par>
                            </p:childTnLst>
                          </p:cTn>
                        </p:par>
                      </p:childTnLst>
                    </p:cTn>
                  </p:par>
                  <p:par>
                    <p:cTn id="23" fill="hold">
                      <p:stCondLst>
                        <p:cond delay="500"/>
                      </p:stCondLst>
                      <p:childTnLst>
                        <p:par>
                          <p:cTn id="24" fill="hold">
                            <p:stCondLst>
                              <p:cond delay="0"/>
                            </p:stCondLst>
                            <p:childTnLst>
                              <p:par>
                                <p:cTn id="25" presetID="10" presetClass="entr" presetSubtype="0" fill="hold" grpId="4" nodeType="afterEffect">
                                  <p:stCondLst>
                                    <p:cond delay="0"/>
                                  </p:stCondLst>
                                  <p:childTnLst>
                                    <p:set>
                                      <p:cBhvr>
                                        <p:cTn id="26" dur="1" fill="hold"/>
                                        <p:tgtEl>
                                          <p:spTgt spid="6"/>
                                        </p:tgtEl>
                                        <p:attrNameLst>
                                          <p:attrName>style.visibility</p:attrName>
                                        </p:attrNameLst>
                                      </p:cBhvr>
                                      <p:to>
                                        <p:strVal val="visible"/>
                                      </p:to>
                                    </p:set>
                                    <p:animEffect transition="in" filter="fade">
                                      <p:cBhvr>
                                        <p:cTn id="27" dur="400"/>
                                        <p:tgtEl>
                                          <p:spTgt spid="6"/>
                                        </p:tgtEl>
                                      </p:cBhvr>
                                    </p:animEffect>
                                  </p:childTnLst>
                                </p:cTn>
                              </p:par>
                            </p:childTnLst>
                          </p:cTn>
                        </p:par>
                      </p:childTnLst>
                    </p:cTn>
                  </p:par>
                  <p:par>
                    <p:cTn id="28" fill="hold">
                      <p:stCondLst>
                        <p:cond delay="500"/>
                      </p:stCondLst>
                      <p:childTnLst>
                        <p:par>
                          <p:cTn id="29" fill="hold">
                            <p:stCondLst>
                              <p:cond delay="0"/>
                            </p:stCondLst>
                            <p:childTnLst>
                              <p:par>
                                <p:cTn id="30" presetID="10" presetClass="entr" presetSubtype="0" fill="hold" grpId="5" nodeType="afterEffect">
                                  <p:stCondLst>
                                    <p:cond delay="0"/>
                                  </p:stCondLst>
                                  <p:childTnLst>
                                    <p:set>
                                      <p:cBhvr>
                                        <p:cTn id="31" dur="1" fill="hold"/>
                                        <p:tgtEl>
                                          <p:spTgt spid="7"/>
                                        </p:tgtEl>
                                        <p:attrNameLst>
                                          <p:attrName>style.visibility</p:attrName>
                                        </p:attrNameLst>
                                      </p:cBhvr>
                                      <p:to>
                                        <p:strVal val="visible"/>
                                      </p:to>
                                    </p:set>
                                    <p:animEffect transition="in" filter="fade">
                                      <p:cBhvr>
                                        <p:cTn id="32" dur="400"/>
                                        <p:tgtEl>
                                          <p:spTgt spid="7"/>
                                        </p:tgtEl>
                                      </p:cBhvr>
                                    </p:animEffect>
                                  </p:childTnLst>
                                </p:cTn>
                              </p:par>
                            </p:childTnLst>
                          </p:cTn>
                        </p:par>
                      </p:childTnLst>
                    </p:cTn>
                  </p:par>
                  <p:par>
                    <p:cTn id="33" fill="hold">
                      <p:stCondLst>
                        <p:cond delay="500"/>
                      </p:stCondLst>
                      <p:childTnLst>
                        <p:par>
                          <p:cTn id="34" fill="hold">
                            <p:stCondLst>
                              <p:cond delay="0"/>
                            </p:stCondLst>
                            <p:childTnLst>
                              <p:par>
                                <p:cTn id="35" presetID="10" presetClass="entr" presetSubtype="0" fill="hold" grpId="6" nodeType="afterEffect">
                                  <p:stCondLst>
                                    <p:cond delay="0"/>
                                  </p:stCondLst>
                                  <p:childTnLst>
                                    <p:set>
                                      <p:cBhvr>
                                        <p:cTn id="36" dur="1" fill="hold"/>
                                        <p:tgtEl>
                                          <p:spTgt spid="8"/>
                                        </p:tgtEl>
                                        <p:attrNameLst>
                                          <p:attrName>style.visibility</p:attrName>
                                        </p:attrNameLst>
                                      </p:cBhvr>
                                      <p:to>
                                        <p:strVal val="visible"/>
                                      </p:to>
                                    </p:set>
                                    <p:animEffect transition="in" filter="fade">
                                      <p:cBhvr>
                                        <p:cTn id="37" dur="400"/>
                                        <p:tgtEl>
                                          <p:spTgt spid="8"/>
                                        </p:tgtEl>
                                      </p:cBhvr>
                                    </p:animEffect>
                                  </p:childTnLst>
                                </p:cTn>
                              </p:par>
                            </p:childTnLst>
                          </p:cTn>
                        </p:par>
                      </p:childTnLst>
                    </p:cTn>
                  </p:par>
                  <p:par>
                    <p:cTn id="38" fill="hold">
                      <p:stCondLst>
                        <p:cond delay="500"/>
                      </p:stCondLst>
                      <p:childTnLst>
                        <p:par>
                          <p:cTn id="39" fill="hold">
                            <p:stCondLst>
                              <p:cond delay="0"/>
                            </p:stCondLst>
                            <p:childTnLst>
                              <p:par>
                                <p:cTn id="40" presetID="10" presetClass="entr" presetSubtype="0" fill="hold" grpId="7" nodeType="afterEffect">
                                  <p:stCondLst>
                                    <p:cond delay="0"/>
                                  </p:stCondLst>
                                  <p:childTnLst>
                                    <p:set>
                                      <p:cBhvr>
                                        <p:cTn id="41" dur="1" fill="hold"/>
                                        <p:tgtEl>
                                          <p:spTgt spid="9"/>
                                        </p:tgtEl>
                                        <p:attrNameLst>
                                          <p:attrName>style.visibility</p:attrName>
                                        </p:attrNameLst>
                                      </p:cBhvr>
                                      <p:to>
                                        <p:strVal val="visible"/>
                                      </p:to>
                                    </p:set>
                                    <p:animEffect transition="in" filter="fade">
                                      <p:cBhvr>
                                        <p:cTn id="42" dur="400"/>
                                        <p:tgtEl>
                                          <p:spTgt spid="9"/>
                                        </p:tgtEl>
                                      </p:cBhvr>
                                    </p:animEffect>
                                  </p:childTnLst>
                                </p:cTn>
                              </p:par>
                            </p:childTnLst>
                          </p:cTn>
                        </p:par>
                      </p:childTnLst>
                    </p:cTn>
                  </p:par>
                  <p:par>
                    <p:cTn id="43" fill="hold">
                      <p:stCondLst>
                        <p:cond delay="500"/>
                      </p:stCondLst>
                      <p:childTnLst>
                        <p:par>
                          <p:cTn id="44" fill="hold">
                            <p:stCondLst>
                              <p:cond delay="0"/>
                            </p:stCondLst>
                            <p:childTnLst>
                              <p:par>
                                <p:cTn id="45" presetID="10" presetClass="entr" presetSubtype="0" fill="hold" grpId="8" nodeType="afterEffect">
                                  <p:stCondLst>
                                    <p:cond delay="0"/>
                                  </p:stCondLst>
                                  <p:childTnLst>
                                    <p:set>
                                      <p:cBhvr>
                                        <p:cTn id="46" dur="1" fill="hold"/>
                                        <p:tgtEl>
                                          <p:spTgt spid="10"/>
                                        </p:tgtEl>
                                        <p:attrNameLst>
                                          <p:attrName>style.visibility</p:attrName>
                                        </p:attrNameLst>
                                      </p:cBhvr>
                                      <p:to>
                                        <p:strVal val="visible"/>
                                      </p:to>
                                    </p:set>
                                    <p:animEffect transition="in" filter="fade">
                                      <p:cBhvr>
                                        <p:cTn id="47" dur="400"/>
                                        <p:tgtEl>
                                          <p:spTgt spid="10"/>
                                        </p:tgtEl>
                                      </p:cBhvr>
                                    </p:animEffect>
                                  </p:childTnLst>
                                </p:cTn>
                              </p:par>
                            </p:childTnLst>
                          </p:cTn>
                        </p:par>
                      </p:childTnLst>
                    </p:cTn>
                  </p:par>
                  <p:par>
                    <p:cTn id="48" fill="hold">
                      <p:stCondLst>
                        <p:cond delay="500"/>
                      </p:stCondLst>
                      <p:childTnLst>
                        <p:par>
                          <p:cTn id="49" fill="hold">
                            <p:stCondLst>
                              <p:cond delay="0"/>
                            </p:stCondLst>
                            <p:childTnLst>
                              <p:par>
                                <p:cTn id="50" presetID="10" presetClass="entr" presetSubtype="0" fill="hold" grpId="9" nodeType="afterEffect">
                                  <p:stCondLst>
                                    <p:cond delay="0"/>
                                  </p:stCondLst>
                                  <p:childTnLst>
                                    <p:set>
                                      <p:cBhvr>
                                        <p:cTn id="51" dur="1" fill="hold"/>
                                        <p:tgtEl>
                                          <p:spTgt spid="11"/>
                                        </p:tgtEl>
                                        <p:attrNameLst>
                                          <p:attrName>style.visibility</p:attrName>
                                        </p:attrNameLst>
                                      </p:cBhvr>
                                      <p:to>
                                        <p:strVal val="visible"/>
                                      </p:to>
                                    </p:set>
                                    <p:animEffect transition="in" filter="fade">
                                      <p:cBhvr>
                                        <p:cTn id="52" dur="400"/>
                                        <p:tgtEl>
                                          <p:spTgt spid="11"/>
                                        </p:tgtEl>
                                      </p:cBhvr>
                                    </p:animEffect>
                                  </p:childTnLst>
                                </p:cTn>
                              </p:par>
                            </p:childTnLst>
                          </p:cTn>
                        </p:par>
                      </p:childTnLst>
                    </p:cTn>
                  </p:par>
                  <p:par>
                    <p:cTn id="53" fill="hold">
                      <p:stCondLst>
                        <p:cond delay="500"/>
                      </p:stCondLst>
                      <p:childTnLst>
                        <p:par>
                          <p:cTn id="54" fill="hold">
                            <p:stCondLst>
                              <p:cond delay="0"/>
                            </p:stCondLst>
                            <p:childTnLst>
                              <p:par>
                                <p:cTn id="55" presetID="10" presetClass="entr" presetSubtype="0" fill="hold" grpId="10" nodeType="afterEffect">
                                  <p:stCondLst>
                                    <p:cond delay="0"/>
                                  </p:stCondLst>
                                  <p:childTnLst>
                                    <p:set>
                                      <p:cBhvr>
                                        <p:cTn id="56" dur="1" fill="hold"/>
                                        <p:tgtEl>
                                          <p:spTgt spid="12"/>
                                        </p:tgtEl>
                                        <p:attrNameLst>
                                          <p:attrName>style.visibility</p:attrName>
                                        </p:attrNameLst>
                                      </p:cBhvr>
                                      <p:to>
                                        <p:strVal val="visible"/>
                                      </p:to>
                                    </p:set>
                                    <p:animEffect transition="in" filter="fade">
                                      <p:cBhvr>
                                        <p:cTn id="57" dur="400"/>
                                        <p:tgtEl>
                                          <p:spTgt spid="12"/>
                                        </p:tgtEl>
                                      </p:cBhvr>
                                    </p:animEffect>
                                  </p:childTnLst>
                                </p:cTn>
                              </p:par>
                            </p:childTnLst>
                          </p:cTn>
                        </p:par>
                      </p:childTnLst>
                    </p:cTn>
                  </p:par>
                  <p:par>
                    <p:cTn id="58" fill="hold">
                      <p:stCondLst>
                        <p:cond delay="500"/>
                      </p:stCondLst>
                      <p:childTnLst>
                        <p:par>
                          <p:cTn id="59" fill="hold">
                            <p:stCondLst>
                              <p:cond delay="0"/>
                            </p:stCondLst>
                            <p:childTnLst>
                              <p:par>
                                <p:cTn id="60" presetID="10" presetClass="entr" presetSubtype="0" fill="hold" grpId="11" nodeType="afterEffect">
                                  <p:stCondLst>
                                    <p:cond delay="0"/>
                                  </p:stCondLst>
                                  <p:childTnLst>
                                    <p:set>
                                      <p:cBhvr>
                                        <p:cTn id="61" dur="1" fill="hold"/>
                                        <p:tgtEl>
                                          <p:spTgt spid="13"/>
                                        </p:tgtEl>
                                        <p:attrNameLst>
                                          <p:attrName>style.visibility</p:attrName>
                                        </p:attrNameLst>
                                      </p:cBhvr>
                                      <p:to>
                                        <p:strVal val="visible"/>
                                      </p:to>
                                    </p:set>
                                    <p:animEffect transition="in" filter="fade">
                                      <p:cBhvr>
                                        <p:cTn id="62" dur="400"/>
                                        <p:tgtEl>
                                          <p:spTgt spid="13"/>
                                        </p:tgtEl>
                                      </p:cBhvr>
                                    </p:animEffect>
                                  </p:childTnLst>
                                </p:cTn>
                              </p:par>
                            </p:childTnLst>
                          </p:cTn>
                        </p:par>
                      </p:childTnLst>
                    </p:cTn>
                  </p:par>
                  <p:par>
                    <p:cTn id="63" fill="hold">
                      <p:stCondLst>
                        <p:cond delay="500"/>
                      </p:stCondLst>
                      <p:childTnLst>
                        <p:par>
                          <p:cTn id="64" fill="hold">
                            <p:stCondLst>
                              <p:cond delay="0"/>
                            </p:stCondLst>
                            <p:childTnLst>
                              <p:par>
                                <p:cTn id="65" presetID="10" presetClass="entr" presetSubtype="0" fill="hold" grpId="12" nodeType="afterEffect">
                                  <p:stCondLst>
                                    <p:cond delay="0"/>
                                  </p:stCondLst>
                                  <p:childTnLst>
                                    <p:set>
                                      <p:cBhvr>
                                        <p:cTn id="66" dur="1" fill="hold"/>
                                        <p:tgtEl>
                                          <p:spTgt spid="14"/>
                                        </p:tgtEl>
                                        <p:attrNameLst>
                                          <p:attrName>style.visibility</p:attrName>
                                        </p:attrNameLst>
                                      </p:cBhvr>
                                      <p:to>
                                        <p:strVal val="visible"/>
                                      </p:to>
                                    </p:set>
                                    <p:animEffect transition="in" filter="fade">
                                      <p:cBhvr>
                                        <p:cTn id="67" dur="400"/>
                                        <p:tgtEl>
                                          <p:spTgt spid="14"/>
                                        </p:tgtEl>
                                      </p:cBhvr>
                                    </p:animEffect>
                                  </p:childTnLst>
                                </p:cTn>
                              </p:par>
                            </p:childTnLst>
                          </p:cTn>
                        </p:par>
                      </p:childTnLst>
                    </p:cTn>
                  </p:par>
                  <p:par>
                    <p:cTn id="68" fill="hold">
                      <p:stCondLst>
                        <p:cond delay="500"/>
                      </p:stCondLst>
                      <p:childTnLst>
                        <p:par>
                          <p:cTn id="69" fill="hold">
                            <p:stCondLst>
                              <p:cond delay="0"/>
                            </p:stCondLst>
                            <p:childTnLst>
                              <p:par>
                                <p:cTn id="70" presetID="10" presetClass="entr" presetSubtype="0" fill="hold" grpId="13" nodeType="afterEffect">
                                  <p:stCondLst>
                                    <p:cond delay="0"/>
                                  </p:stCondLst>
                                  <p:childTnLst>
                                    <p:set>
                                      <p:cBhvr>
                                        <p:cTn id="71" dur="1" fill="hold"/>
                                        <p:tgtEl>
                                          <p:spTgt spid="15"/>
                                        </p:tgtEl>
                                        <p:attrNameLst>
                                          <p:attrName>style.visibility</p:attrName>
                                        </p:attrNameLst>
                                      </p:cBhvr>
                                      <p:to>
                                        <p:strVal val="visible"/>
                                      </p:to>
                                    </p:set>
                                    <p:animEffect transition="in" filter="fade">
                                      <p:cBhvr>
                                        <p:cTn id="72" dur="400"/>
                                        <p:tgtEl>
                                          <p:spTgt spid="15"/>
                                        </p:tgtEl>
                                      </p:cBhvr>
                                    </p:animEffect>
                                  </p:childTnLst>
                                </p:cTn>
                              </p:par>
                            </p:childTnLst>
                          </p:cTn>
                        </p:par>
                      </p:childTnLst>
                    </p:cTn>
                  </p:par>
                  <p:par>
                    <p:cTn id="73" fill="hold">
                      <p:stCondLst>
                        <p:cond delay="500"/>
                      </p:stCondLst>
                      <p:childTnLst>
                        <p:par>
                          <p:cTn id="74" fill="hold">
                            <p:stCondLst>
                              <p:cond delay="0"/>
                            </p:stCondLst>
                            <p:childTnLst>
                              <p:par>
                                <p:cTn id="75" presetID="10" presetClass="entr" presetSubtype="0" fill="hold" grpId="14" nodeType="afterEffect">
                                  <p:stCondLst>
                                    <p:cond delay="0"/>
                                  </p:stCondLst>
                                  <p:childTnLst>
                                    <p:set>
                                      <p:cBhvr>
                                        <p:cTn id="76" dur="1" fill="hold"/>
                                        <p:tgtEl>
                                          <p:spTgt spid="16"/>
                                        </p:tgtEl>
                                        <p:attrNameLst>
                                          <p:attrName>style.visibility</p:attrName>
                                        </p:attrNameLst>
                                      </p:cBhvr>
                                      <p:to>
                                        <p:strVal val="visible"/>
                                      </p:to>
                                    </p:set>
                                    <p:animEffect transition="in" filter="fade">
                                      <p:cBhvr>
                                        <p:cTn id="77" dur="400"/>
                                        <p:tgtEl>
                                          <p:spTgt spid="16"/>
                                        </p:tgtEl>
                                      </p:cBhvr>
                                    </p:animEffect>
                                  </p:childTnLst>
                                </p:cTn>
                              </p:par>
                            </p:childTnLst>
                          </p:cTn>
                        </p:par>
                      </p:childTnLst>
                    </p:cTn>
                  </p:par>
                  <p:par>
                    <p:cTn id="78" fill="hold">
                      <p:stCondLst>
                        <p:cond delay="500"/>
                      </p:stCondLst>
                      <p:childTnLst>
                        <p:par>
                          <p:cTn id="79" fill="hold">
                            <p:stCondLst>
                              <p:cond delay="0"/>
                            </p:stCondLst>
                            <p:childTnLst>
                              <p:par>
                                <p:cTn id="80" presetID="10" presetClass="entr" presetSubtype="0" fill="hold" grpId="15" nodeType="afterEffect">
                                  <p:stCondLst>
                                    <p:cond delay="0"/>
                                  </p:stCondLst>
                                  <p:childTnLst>
                                    <p:set>
                                      <p:cBhvr>
                                        <p:cTn id="81" dur="1" fill="hold"/>
                                        <p:tgtEl>
                                          <p:spTgt spid="17"/>
                                        </p:tgtEl>
                                        <p:attrNameLst>
                                          <p:attrName>style.visibility</p:attrName>
                                        </p:attrNameLst>
                                      </p:cBhvr>
                                      <p:to>
                                        <p:strVal val="visible"/>
                                      </p:to>
                                    </p:set>
                                    <p:animEffect transition="in" filter="fade">
                                      <p:cBhvr>
                                        <p:cTn id="82" dur="400"/>
                                        <p:tgtEl>
                                          <p:spTgt spid="17"/>
                                        </p:tgtEl>
                                      </p:cBhvr>
                                    </p:animEffect>
                                  </p:childTnLst>
                                </p:cTn>
                              </p:par>
                            </p:childTnLst>
                          </p:cTn>
                        </p:par>
                      </p:childTnLst>
                    </p:cTn>
                  </p:par>
                  <p:par>
                    <p:cTn id="83" fill="hold">
                      <p:stCondLst>
                        <p:cond delay="500"/>
                      </p:stCondLst>
                      <p:childTnLst>
                        <p:par>
                          <p:cTn id="84" fill="hold">
                            <p:stCondLst>
                              <p:cond delay="0"/>
                            </p:stCondLst>
                            <p:childTnLst>
                              <p:par>
                                <p:cTn id="85" presetID="10" presetClass="entr" presetSubtype="0" fill="hold" grpId="16" nodeType="afterEffect">
                                  <p:stCondLst>
                                    <p:cond delay="0"/>
                                  </p:stCondLst>
                                  <p:childTnLst>
                                    <p:set>
                                      <p:cBhvr>
                                        <p:cTn id="86" dur="1" fill="hold"/>
                                        <p:tgtEl>
                                          <p:spTgt spid="18"/>
                                        </p:tgtEl>
                                        <p:attrNameLst>
                                          <p:attrName>style.visibility</p:attrName>
                                        </p:attrNameLst>
                                      </p:cBhvr>
                                      <p:to>
                                        <p:strVal val="visible"/>
                                      </p:to>
                                    </p:set>
                                    <p:animEffect transition="in" filter="fade">
                                      <p:cBhvr>
                                        <p:cTn id="87" dur="400"/>
                                        <p:tgtEl>
                                          <p:spTgt spid="18"/>
                                        </p:tgtEl>
                                      </p:cBhvr>
                                    </p:animEffect>
                                  </p:childTnLst>
                                </p:cTn>
                              </p:par>
                            </p:childTnLst>
                          </p:cTn>
                        </p:par>
                      </p:childTnLst>
                    </p:cTn>
                  </p:par>
                  <p:par>
                    <p:cTn id="88" fill="hold">
                      <p:stCondLst>
                        <p:cond delay="500"/>
                      </p:stCondLst>
                      <p:childTnLst>
                        <p:par>
                          <p:cTn id="89" fill="hold">
                            <p:stCondLst>
                              <p:cond delay="0"/>
                            </p:stCondLst>
                            <p:childTnLst>
                              <p:par>
                                <p:cTn id="90" presetID="10" presetClass="entr" presetSubtype="0" fill="hold" grpId="17" nodeType="afterEffect">
                                  <p:stCondLst>
                                    <p:cond delay="0"/>
                                  </p:stCondLst>
                                  <p:childTnLst>
                                    <p:set>
                                      <p:cBhvr>
                                        <p:cTn id="91" dur="1" fill="hold"/>
                                        <p:tgtEl>
                                          <p:spTgt spid="19"/>
                                        </p:tgtEl>
                                        <p:attrNameLst>
                                          <p:attrName>style.visibility</p:attrName>
                                        </p:attrNameLst>
                                      </p:cBhvr>
                                      <p:to>
                                        <p:strVal val="visible"/>
                                      </p:to>
                                    </p:set>
                                    <p:animEffect transition="in" filter="fade">
                                      <p:cBhvr>
                                        <p:cTn id="92" dur="400"/>
                                        <p:tgtEl>
                                          <p:spTgt spid="19"/>
                                        </p:tgtEl>
                                      </p:cBhvr>
                                    </p:animEffect>
                                  </p:childTnLst>
                                </p:cTn>
                              </p:par>
                            </p:childTnLst>
                          </p:cTn>
                        </p:par>
                      </p:childTnLst>
                    </p:cTn>
                  </p:par>
                  <p:par>
                    <p:cTn id="93" fill="hold">
                      <p:stCondLst>
                        <p:cond delay="500"/>
                      </p:stCondLst>
                      <p:childTnLst>
                        <p:par>
                          <p:cTn id="94" fill="hold">
                            <p:stCondLst>
                              <p:cond delay="0"/>
                            </p:stCondLst>
                            <p:childTnLst>
                              <p:par>
                                <p:cTn id="95" presetID="10" presetClass="entr" presetSubtype="0" fill="hold" grpId="18" nodeType="afterEffect">
                                  <p:stCondLst>
                                    <p:cond delay="0"/>
                                  </p:stCondLst>
                                  <p:childTnLst>
                                    <p:set>
                                      <p:cBhvr>
                                        <p:cTn id="96" dur="1" fill="hold"/>
                                        <p:tgtEl>
                                          <p:spTgt spid="20"/>
                                        </p:tgtEl>
                                        <p:attrNameLst>
                                          <p:attrName>style.visibility</p:attrName>
                                        </p:attrNameLst>
                                      </p:cBhvr>
                                      <p:to>
                                        <p:strVal val="visible"/>
                                      </p:to>
                                    </p:set>
                                    <p:animEffect transition="in" filter="fade">
                                      <p:cBhvr>
                                        <p:cTn id="97" dur="400"/>
                                        <p:tgtEl>
                                          <p:spTgt spid="20"/>
                                        </p:tgtEl>
                                      </p:cBhvr>
                                    </p:animEffect>
                                  </p:childTnLst>
                                </p:cTn>
                              </p:par>
                            </p:childTnLst>
                          </p:cTn>
                        </p:par>
                      </p:childTnLst>
                    </p:cTn>
                  </p:par>
                  <p:par>
                    <p:cTn id="98" fill="hold">
                      <p:stCondLst>
                        <p:cond delay="500"/>
                      </p:stCondLst>
                      <p:childTnLst>
                        <p:par>
                          <p:cTn id="99" fill="hold">
                            <p:stCondLst>
                              <p:cond delay="0"/>
                            </p:stCondLst>
                            <p:childTnLst>
                              <p:par>
                                <p:cTn id="100" presetID="10" presetClass="entr" presetSubtype="0" fill="hold" grpId="19" nodeType="afterEffect">
                                  <p:stCondLst>
                                    <p:cond delay="0"/>
                                  </p:stCondLst>
                                  <p:childTnLst>
                                    <p:set>
                                      <p:cBhvr>
                                        <p:cTn id="101" dur="1" fill="hold"/>
                                        <p:tgtEl>
                                          <p:spTgt spid="21"/>
                                        </p:tgtEl>
                                        <p:attrNameLst>
                                          <p:attrName>style.visibility</p:attrName>
                                        </p:attrNameLst>
                                      </p:cBhvr>
                                      <p:to>
                                        <p:strVal val="visible"/>
                                      </p:to>
                                    </p:set>
                                    <p:animEffect transition="in" filter="fade">
                                      <p:cBhvr>
                                        <p:cTn id="102" dur="400"/>
                                        <p:tgtEl>
                                          <p:spTgt spid="21"/>
                                        </p:tgtEl>
                                      </p:cBhvr>
                                    </p:animEffect>
                                  </p:childTnLst>
                                </p:cTn>
                              </p:par>
                            </p:childTnLst>
                          </p:cTn>
                        </p:par>
                      </p:childTnLst>
                    </p:cTn>
                  </p:par>
                </p:childTnLst>
              </p:cTn>
              <p:prevCondLst>
                <p:cond evt="onPrevClick" delay="0">
                  <p:tn/>
                </p:cond>
              </p:prevCondLst>
            </p:seq>
          </p:childTnLst>
        </p:cTn>
      </p:par>
    </p:tnLst>
    <p:bldLst>
      <p:bldP spid="2" grpId="0" build="p"/>
      <p:bldP spid="3" grpId="1" build="p"/>
      <p:bldP spid="4" grpId="2" build="p"/>
      <p:bldP spid="5" grpId="3" build="p"/>
      <p:bldP spid="6" grpId="4" build="p"/>
      <p:bldP spid="7" grpId="5" build="p"/>
      <p:bldP spid="8" grpId="6" build="p"/>
      <p:bldP spid="9" grpId="7" build="p"/>
      <p:bldP spid="10" grpId="8" build="p"/>
      <p:bldP spid="11" grpId="9" build="p"/>
      <p:bldP spid="12" grpId="10" build="p"/>
      <p:bldP spid="13" grpId="11" build="p"/>
      <p:bldP spid="14" grpId="12" build="p"/>
      <p:bldP spid="15" grpId="13" build="p"/>
      <p:bldP spid="16" grpId="14" build="p"/>
      <p:bldP spid="17" grpId="15" build="p"/>
      <p:bldP spid="18" grpId="16" build="p"/>
      <p:bldP spid="19" grpId="17" build="p"/>
      <p:bldP spid="20" grpId="18" build="p"/>
      <p:bldP spid="21" grpId="19" build="p"/>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ADCFC"/>
          </a:solidFill>
          <a:ln/>
        </p:spPr>
      </p:sp>
      <p:sp>
        <p:nvSpPr>
          <p:cNvPr id="3" name="Text 1"/>
          <p:cNvSpPr/>
          <p:nvPr/>
        </p:nvSpPr>
        <p:spPr>
          <a:xfrm>
            <a:off x="640080" y="411480"/>
            <a:ext cx="7863840" cy="320040"/>
          </a:xfrm>
          <a:prstGeom prst="rect">
            <a:avLst/>
          </a:prstGeom>
          <a:noFill/>
          <a:ln/>
        </p:spPr>
        <p:txBody>
          <a:bodyPr wrap="square" rtlCol="0" anchor="ctr"/>
          <a:lstStyle/>
          <a:p>
            <a:pPr indent="0" marL="0">
              <a:buNone/>
            </a:pPr>
            <a:r>
              <a:rPr lang="en-US" sz="1300" b="1" spc="400" kern="0" dirty="0">
                <a:solidFill>
                  <a:srgbClr val="CADCFC"/>
                </a:solidFill>
                <a:latin typeface="Calibri" pitchFamily="34" charset="0"/>
                <a:ea typeface="Calibri" pitchFamily="34" charset="-122"/>
                <a:cs typeface="Calibri" pitchFamily="34" charset="-120"/>
              </a:rPr>
              <a:t>CONCLUSIONS</a:t>
            </a:r>
            <a:endParaRPr lang="en-US" sz="1300" dirty="0"/>
          </a:p>
        </p:txBody>
      </p:sp>
      <p:sp>
        <p:nvSpPr>
          <p:cNvPr id="4" name="Text 2"/>
          <p:cNvSpPr/>
          <p:nvPr/>
        </p:nvSpPr>
        <p:spPr>
          <a:xfrm>
            <a:off x="640080" y="777240"/>
            <a:ext cx="7863840" cy="868680"/>
          </a:xfrm>
          <a:prstGeom prst="rect">
            <a:avLst/>
          </a:prstGeom>
          <a:noFill/>
          <a:ln/>
        </p:spPr>
        <p:txBody>
          <a:bodyPr wrap="square" rtlCol="0" anchor="ctr"/>
          <a:lstStyle/>
          <a:p>
            <a:pPr indent="0" marL="0">
              <a:buNone/>
            </a:pPr>
            <a:r>
              <a:rPr lang="en-US" sz="2100" b="1" dirty="0">
                <a:solidFill>
                  <a:srgbClr val="FFFFFF"/>
                </a:solidFill>
                <a:latin typeface="Georgia" pitchFamily="34" charset="0"/>
                <a:ea typeface="Georgia" pitchFamily="34" charset="-122"/>
                <a:cs typeface="Georgia" pitchFamily="34" charset="-120"/>
              </a:rPr>
              <a:t>Misalignment, not model speed, is the real obstacle — </a:t>
            </a:r>
            <a:endParaRPr lang="en-US" sz="2100" dirty="0"/>
          </a:p>
          <a:p>
            <a:pPr indent="0" marL="0">
              <a:buNone/>
            </a:pPr>
            <a:r>
              <a:rPr lang="en-US" sz="2100" b="1" dirty="0">
                <a:solidFill>
                  <a:srgbClr val="CADCFC"/>
                </a:solidFill>
                <a:latin typeface="Georgia" pitchFamily="34" charset="0"/>
                <a:ea typeface="Georgia" pitchFamily="34" charset="-122"/>
                <a:cs typeface="Georgia" pitchFamily="34" charset="-120"/>
              </a:rPr>
              <a:t>and a vector sum removes it.</a:t>
            </a:r>
            <a:endParaRPr lang="en-US" sz="2100" dirty="0"/>
          </a:p>
        </p:txBody>
      </p:sp>
      <p:sp>
        <p:nvSpPr>
          <p:cNvPr id="5" name="Text 3"/>
          <p:cNvSpPr/>
          <p:nvPr/>
        </p:nvSpPr>
        <p:spPr>
          <a:xfrm>
            <a:off x="822960" y="1783080"/>
            <a:ext cx="7680960" cy="548640"/>
          </a:xfrm>
          <a:prstGeom prst="rect">
            <a:avLst/>
          </a:prstGeom>
          <a:noFill/>
          <a:ln/>
        </p:spPr>
        <p:txBody>
          <a:bodyPr wrap="square" rtlCol="0" anchor="ctr"/>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Analysed the prediction–execution misalignment of asynchronous VLA inference and the VLASH remedy.</a:t>
            </a:r>
            <a:endParaRPr lang="en-US" sz="1350" dirty="0"/>
          </a:p>
        </p:txBody>
      </p:sp>
      <p:sp>
        <p:nvSpPr>
          <p:cNvPr id="6" name="Text 4"/>
          <p:cNvSpPr/>
          <p:nvPr/>
        </p:nvSpPr>
        <p:spPr>
          <a:xfrm>
            <a:off x="822960" y="2350008"/>
            <a:ext cx="7680960" cy="548640"/>
          </a:xfrm>
          <a:prstGeom prst="rect">
            <a:avLst/>
          </a:prstGeom>
          <a:noFill/>
          <a:ln/>
        </p:spPr>
        <p:txBody>
          <a:bodyPr wrap="square" rtlCol="0" anchor="ctr"/>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Built an original, reproducible testbed: ε → 0, ~2× naive accuracy at Δ = 4, margin widening with task dynamics.</a:t>
            </a:r>
            <a:endParaRPr lang="en-US" sz="1350" dirty="0"/>
          </a:p>
        </p:txBody>
      </p:sp>
      <p:sp>
        <p:nvSpPr>
          <p:cNvPr id="7" name="Text 5"/>
          <p:cNvSpPr/>
          <p:nvPr/>
        </p:nvSpPr>
        <p:spPr>
          <a:xfrm>
            <a:off x="822960" y="2916936"/>
            <a:ext cx="7680960" cy="548640"/>
          </a:xfrm>
          <a:prstGeom prst="rect">
            <a:avLst/>
          </a:prstGeom>
          <a:noFill/>
          <a:ln/>
        </p:spPr>
        <p:txBody>
          <a:bodyPr wrap="square" rtlCol="0" anchor="ctr"/>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Contributed two new assumption stress-tests: robust to actuation noise (≤10% step) and to delay misestimation (±1 step ≈ 1 pt).</a:t>
            </a:r>
            <a:endParaRPr lang="en-US" sz="1350" dirty="0"/>
          </a:p>
        </p:txBody>
      </p:sp>
      <p:sp>
        <p:nvSpPr>
          <p:cNvPr id="8" name="Text 6"/>
          <p:cNvSpPr/>
          <p:nvPr/>
        </p:nvSpPr>
        <p:spPr>
          <a:xfrm>
            <a:off x="640080" y="3611880"/>
            <a:ext cx="7863840" cy="274320"/>
          </a:xfrm>
          <a:prstGeom prst="rect">
            <a:avLst/>
          </a:prstGeom>
          <a:noFill/>
          <a:ln/>
        </p:spPr>
        <p:txBody>
          <a:bodyPr wrap="square"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FUTURE WORK</a:t>
            </a:r>
            <a:endParaRPr lang="en-US" sz="1100" dirty="0"/>
          </a:p>
        </p:txBody>
      </p:sp>
      <p:sp>
        <p:nvSpPr>
          <p:cNvPr id="9" name="Text 7"/>
          <p:cNvSpPr/>
          <p:nvPr/>
        </p:nvSpPr>
        <p:spPr>
          <a:xfrm>
            <a:off x="640080" y="3913632"/>
            <a:ext cx="7863840" cy="5943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Visual-observation rollforward (close the residual gap) · transfer to GR00T / OpenVLA · QLoRA fine-tune of π0.5 on my RTX 3050 (6 GB) following the plan in Section 4.1</a:t>
            </a:r>
            <a:endParaRPr lang="en-US" sz="1250" dirty="0"/>
          </a:p>
        </p:txBody>
      </p:sp>
      <p:sp>
        <p:nvSpPr>
          <p:cNvPr id="10" name="Text 8"/>
          <p:cNvSpPr/>
          <p:nvPr/>
        </p:nvSpPr>
        <p:spPr>
          <a:xfrm>
            <a:off x="640080" y="4617720"/>
            <a:ext cx="7863840" cy="365760"/>
          </a:xfrm>
          <a:prstGeom prst="rect">
            <a:avLst/>
          </a:prstGeom>
          <a:noFill/>
          <a:ln/>
        </p:spPr>
        <p:txBody>
          <a:bodyPr wrap="square" rtlCol="0" anchor="ctr"/>
          <a:lstStyle/>
          <a:p>
            <a:pPr algn="ctr" indent="0" marL="0">
              <a:buNone/>
            </a:pPr>
            <a:r>
              <a:rPr lang="en-US" sz="1500" i="1" dirty="0">
                <a:solidFill>
                  <a:srgbClr val="FFFFFF"/>
                </a:solidFill>
                <a:latin typeface="Georgia" pitchFamily="34" charset="0"/>
                <a:ea typeface="Georgia" pitchFamily="34" charset="-122"/>
                <a:cs typeface="Georgia" pitchFamily="34" charset="-120"/>
              </a:rPr>
              <a:t>Thank you — I welcome your questions.</a:t>
            </a:r>
            <a:endParaRPr lang="en-US" sz="1500" dirty="0"/>
          </a:p>
        </p:txBody>
      </p:sp>
    </p:spTree>
  </p:cSld>
  <p:clrMapOvr>
    <a:masterClrMapping/>
  </p:clrMapOvr>
  <p:transition spd="med" dur="400">
    <p:fade/>
  </p:transition>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500"/>
                      </p:stCondLst>
                      <p:childTnLst>
                        <p:par>
                          <p:cTn id="9" fill="hold">
                            <p:stCondLst>
                              <p:cond delay="0"/>
                            </p:stCondLst>
                            <p:childTnLst>
                              <p:par>
                                <p:cTn id="10" presetID="10" presetClass="entr" presetSubtype="0" fill="hold" grpId="1" nodeType="afterEffect">
                                  <p:stCondLst>
                                    <p:cond delay="0"/>
                                  </p:stCondLst>
                                  <p:childTnLst>
                                    <p:set>
                                      <p:cBhvr>
                                        <p:cTn id="11" dur="1" fill="hold"/>
                                        <p:tgtEl>
                                          <p:spTgt spid="3"/>
                                        </p:tgtEl>
                                        <p:attrNameLst>
                                          <p:attrName>style.visibility</p:attrName>
                                        </p:attrNameLst>
                                      </p:cBhvr>
                                      <p:to>
                                        <p:strVal val="visible"/>
                                      </p:to>
                                    </p:set>
                                    <p:animEffect transition="in" filter="fade">
                                      <p:cBhvr>
                                        <p:cTn id="12" dur="400"/>
                                        <p:tgtEl>
                                          <p:spTgt spid="3"/>
                                        </p:tgtEl>
                                      </p:cBhvr>
                                    </p:animEffect>
                                  </p:childTnLst>
                                </p:cTn>
                              </p:par>
                            </p:childTnLst>
                          </p:cTn>
                        </p:par>
                      </p:childTnLst>
                    </p:cTn>
                  </p:par>
                  <p:par>
                    <p:cTn id="13" fill="hold">
                      <p:stCondLst>
                        <p:cond delay="500"/>
                      </p:stCondLst>
                      <p:childTnLst>
                        <p:par>
                          <p:cTn id="14" fill="hold">
                            <p:stCondLst>
                              <p:cond delay="0"/>
                            </p:stCondLst>
                            <p:childTnLst>
                              <p:par>
                                <p:cTn id="15" presetID="10" presetClass="entr" presetSubtype="0" fill="hold" grpId="2" nodeType="afterEffect">
                                  <p:stCondLst>
                                    <p:cond delay="0"/>
                                  </p:stCondLst>
                                  <p:childTnLst>
                                    <p:set>
                                      <p:cBhvr>
                                        <p:cTn id="16" dur="1" fill="hold"/>
                                        <p:tgtEl>
                                          <p:spTgt spid="4"/>
                                        </p:tgtEl>
                                        <p:attrNameLst>
                                          <p:attrName>style.visibility</p:attrName>
                                        </p:attrNameLst>
                                      </p:cBhvr>
                                      <p:to>
                                        <p:strVal val="visible"/>
                                      </p:to>
                                    </p:set>
                                    <p:animEffect transition="in" filter="fade">
                                      <p:cBhvr>
                                        <p:cTn id="17" dur="400"/>
                                        <p:tgtEl>
                                          <p:spTgt spid="4"/>
                                        </p:tgtEl>
                                      </p:cBhvr>
                                    </p:animEffect>
                                  </p:childTnLst>
                                </p:cTn>
                              </p:par>
                            </p:childTnLst>
                          </p:cTn>
                        </p:par>
                      </p:childTnLst>
                    </p:cTn>
                  </p:par>
                  <p:par>
                    <p:cTn id="18" fill="hold">
                      <p:stCondLst>
                        <p:cond delay="500"/>
                      </p:stCondLst>
                      <p:childTnLst>
                        <p:par>
                          <p:cTn id="19" fill="hold">
                            <p:stCondLst>
                              <p:cond delay="0"/>
                            </p:stCondLst>
                            <p:childTnLst>
                              <p:par>
                                <p:cTn id="20" presetID="10" presetClass="entr" presetSubtype="0" fill="hold" grpId="3" nodeType="afterEffect">
                                  <p:stCondLst>
                                    <p:cond delay="0"/>
                                  </p:stCondLst>
                                  <p:childTnLst>
                                    <p:set>
                                      <p:cBhvr>
                                        <p:cTn id="21" dur="1" fill="hold"/>
                                        <p:tgtEl>
                                          <p:spTgt spid="5"/>
                                        </p:tgtEl>
                                        <p:attrNameLst>
                                          <p:attrName>style.visibility</p:attrName>
                                        </p:attrNameLst>
                                      </p:cBhvr>
                                      <p:to>
                                        <p:strVal val="visible"/>
                                      </p:to>
                                    </p:set>
                                    <p:animEffect transition="in" filter="fade">
                                      <p:cBhvr>
                                        <p:cTn id="22" dur="400"/>
                                        <p:tgtEl>
                                          <p:spTgt spid="5"/>
                                        </p:tgtEl>
                                      </p:cBhvr>
                                    </p:animEffect>
                                  </p:childTnLst>
                                </p:cTn>
                              </p:par>
                            </p:childTnLst>
                          </p:cTn>
                        </p:par>
                      </p:childTnLst>
                    </p:cTn>
                  </p:par>
                  <p:par>
                    <p:cTn id="23" fill="hold">
                      <p:stCondLst>
                        <p:cond delay="500"/>
                      </p:stCondLst>
                      <p:childTnLst>
                        <p:par>
                          <p:cTn id="24" fill="hold">
                            <p:stCondLst>
                              <p:cond delay="0"/>
                            </p:stCondLst>
                            <p:childTnLst>
                              <p:par>
                                <p:cTn id="25" presetID="10" presetClass="entr" presetSubtype="0" fill="hold" grpId="4" nodeType="afterEffect">
                                  <p:stCondLst>
                                    <p:cond delay="0"/>
                                  </p:stCondLst>
                                  <p:childTnLst>
                                    <p:set>
                                      <p:cBhvr>
                                        <p:cTn id="26" dur="1" fill="hold"/>
                                        <p:tgtEl>
                                          <p:spTgt spid="6"/>
                                        </p:tgtEl>
                                        <p:attrNameLst>
                                          <p:attrName>style.visibility</p:attrName>
                                        </p:attrNameLst>
                                      </p:cBhvr>
                                      <p:to>
                                        <p:strVal val="visible"/>
                                      </p:to>
                                    </p:set>
                                    <p:animEffect transition="in" filter="fade">
                                      <p:cBhvr>
                                        <p:cTn id="27" dur="400"/>
                                        <p:tgtEl>
                                          <p:spTgt spid="6"/>
                                        </p:tgtEl>
                                      </p:cBhvr>
                                    </p:animEffect>
                                  </p:childTnLst>
                                </p:cTn>
                              </p:par>
                            </p:childTnLst>
                          </p:cTn>
                        </p:par>
                      </p:childTnLst>
                    </p:cTn>
                  </p:par>
                  <p:par>
                    <p:cTn id="28" fill="hold">
                      <p:stCondLst>
                        <p:cond delay="500"/>
                      </p:stCondLst>
                      <p:childTnLst>
                        <p:par>
                          <p:cTn id="29" fill="hold">
                            <p:stCondLst>
                              <p:cond delay="0"/>
                            </p:stCondLst>
                            <p:childTnLst>
                              <p:par>
                                <p:cTn id="30" presetID="10" presetClass="entr" presetSubtype="0" fill="hold" grpId="5" nodeType="afterEffect">
                                  <p:stCondLst>
                                    <p:cond delay="0"/>
                                  </p:stCondLst>
                                  <p:childTnLst>
                                    <p:set>
                                      <p:cBhvr>
                                        <p:cTn id="31" dur="1" fill="hold"/>
                                        <p:tgtEl>
                                          <p:spTgt spid="7"/>
                                        </p:tgtEl>
                                        <p:attrNameLst>
                                          <p:attrName>style.visibility</p:attrName>
                                        </p:attrNameLst>
                                      </p:cBhvr>
                                      <p:to>
                                        <p:strVal val="visible"/>
                                      </p:to>
                                    </p:set>
                                    <p:animEffect transition="in" filter="fade">
                                      <p:cBhvr>
                                        <p:cTn id="32" dur="400"/>
                                        <p:tgtEl>
                                          <p:spTgt spid="7"/>
                                        </p:tgtEl>
                                      </p:cBhvr>
                                    </p:animEffect>
                                  </p:childTnLst>
                                </p:cTn>
                              </p:par>
                            </p:childTnLst>
                          </p:cTn>
                        </p:par>
                      </p:childTnLst>
                    </p:cTn>
                  </p:par>
                  <p:par>
                    <p:cTn id="33" fill="hold">
                      <p:stCondLst>
                        <p:cond delay="500"/>
                      </p:stCondLst>
                      <p:childTnLst>
                        <p:par>
                          <p:cTn id="34" fill="hold">
                            <p:stCondLst>
                              <p:cond delay="0"/>
                            </p:stCondLst>
                            <p:childTnLst>
                              <p:par>
                                <p:cTn id="35" presetID="10" presetClass="entr" presetSubtype="0" fill="hold" grpId="6" nodeType="afterEffect">
                                  <p:stCondLst>
                                    <p:cond delay="0"/>
                                  </p:stCondLst>
                                  <p:childTnLst>
                                    <p:set>
                                      <p:cBhvr>
                                        <p:cTn id="36" dur="1" fill="hold"/>
                                        <p:tgtEl>
                                          <p:spTgt spid="8"/>
                                        </p:tgtEl>
                                        <p:attrNameLst>
                                          <p:attrName>style.visibility</p:attrName>
                                        </p:attrNameLst>
                                      </p:cBhvr>
                                      <p:to>
                                        <p:strVal val="visible"/>
                                      </p:to>
                                    </p:set>
                                    <p:animEffect transition="in" filter="fade">
                                      <p:cBhvr>
                                        <p:cTn id="37" dur="400"/>
                                        <p:tgtEl>
                                          <p:spTgt spid="8"/>
                                        </p:tgtEl>
                                      </p:cBhvr>
                                    </p:animEffect>
                                  </p:childTnLst>
                                </p:cTn>
                              </p:par>
                            </p:childTnLst>
                          </p:cTn>
                        </p:par>
                      </p:childTnLst>
                    </p:cTn>
                  </p:par>
                  <p:par>
                    <p:cTn id="38" fill="hold">
                      <p:stCondLst>
                        <p:cond delay="500"/>
                      </p:stCondLst>
                      <p:childTnLst>
                        <p:par>
                          <p:cTn id="39" fill="hold">
                            <p:stCondLst>
                              <p:cond delay="0"/>
                            </p:stCondLst>
                            <p:childTnLst>
                              <p:par>
                                <p:cTn id="40" presetID="10" presetClass="entr" presetSubtype="0" fill="hold" grpId="7" nodeType="afterEffect">
                                  <p:stCondLst>
                                    <p:cond delay="0"/>
                                  </p:stCondLst>
                                  <p:childTnLst>
                                    <p:set>
                                      <p:cBhvr>
                                        <p:cTn id="41" dur="1" fill="hold"/>
                                        <p:tgtEl>
                                          <p:spTgt spid="9"/>
                                        </p:tgtEl>
                                        <p:attrNameLst>
                                          <p:attrName>style.visibility</p:attrName>
                                        </p:attrNameLst>
                                      </p:cBhvr>
                                      <p:to>
                                        <p:strVal val="visible"/>
                                      </p:to>
                                    </p:set>
                                    <p:animEffect transition="in" filter="fade">
                                      <p:cBhvr>
                                        <p:cTn id="42" dur="400"/>
                                        <p:tgtEl>
                                          <p:spTgt spid="9"/>
                                        </p:tgtEl>
                                      </p:cBhvr>
                                    </p:animEffect>
                                  </p:childTnLst>
                                </p:cTn>
                              </p:par>
                            </p:childTnLst>
                          </p:cTn>
                        </p:par>
                      </p:childTnLst>
                    </p:cTn>
                  </p:par>
                  <p:par>
                    <p:cTn id="43" fill="hold">
                      <p:stCondLst>
                        <p:cond delay="500"/>
                      </p:stCondLst>
                      <p:childTnLst>
                        <p:par>
                          <p:cTn id="44" fill="hold">
                            <p:stCondLst>
                              <p:cond delay="0"/>
                            </p:stCondLst>
                            <p:childTnLst>
                              <p:par>
                                <p:cTn id="45" presetID="10" presetClass="entr" presetSubtype="0" fill="hold" grpId="8" nodeType="afterEffect">
                                  <p:stCondLst>
                                    <p:cond delay="0"/>
                                  </p:stCondLst>
                                  <p:childTnLst>
                                    <p:set>
                                      <p:cBhvr>
                                        <p:cTn id="46" dur="1" fill="hold"/>
                                        <p:tgtEl>
                                          <p:spTgt spid="10"/>
                                        </p:tgtEl>
                                        <p:attrNameLst>
                                          <p:attrName>style.visibility</p:attrName>
                                        </p:attrNameLst>
                                      </p:cBhvr>
                                      <p:to>
                                        <p:strVal val="visible"/>
                                      </p:to>
                                    </p:set>
                                    <p:animEffect transition="in" filter="fade">
                                      <p:cBhvr>
                                        <p:cTn id="47" dur="400"/>
                                        <p:tgtEl>
                                          <p:spTgt spid="10"/>
                                        </p:tgtEl>
                                      </p:cBhvr>
                                    </p:animEffect>
                                  </p:childTnLst>
                                </p:cTn>
                              </p:par>
                            </p:childTnLst>
                          </p:cTn>
                        </p:par>
                      </p:childTnLst>
                    </p:cTn>
                  </p:par>
                </p:childTnLst>
              </p:cTn>
              <p:prevCondLst>
                <p:cond evt="onPrevClick" delay="0">
                  <p:tn/>
                </p:cond>
              </p:prevCondLst>
            </p:seq>
          </p:childTnLst>
        </p:cTn>
      </p:par>
    </p:tnLst>
    <p:bldLst>
      <p:bldP spid="2" grpId="0" build="p"/>
      <p:bldP spid="3" grpId="1" build="p"/>
      <p:bldP spid="4" grpId="2" build="p"/>
      <p:bldP spid="5" grpId="3" build="p"/>
      <p:bldP spid="6" grpId="4" build="p"/>
      <p:bldP spid="7" grpId="5" build="p"/>
      <p:bldP spid="8" grpId="6" build="p"/>
      <p:bldP spid="9" grpId="7" build="p"/>
      <p:bldP spid="10" grpId="8"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VLA Inference for Reactive Robotics</dc:title>
  <dc:subject>PptxGenJS Presentation</dc:subject>
  <dc:creator>Duy Khanh Mac</dc:creator>
  <cp:lastModifiedBy>Duy Khanh Mac</cp:lastModifiedBy>
  <cp:revision>1</cp:revision>
  <dcterms:created xsi:type="dcterms:W3CDTF">2026-07-06T20:54:39Z</dcterms:created>
  <dcterms:modified xsi:type="dcterms:W3CDTF">2026-07-06T20:54:39Z</dcterms:modified>
</cp:coreProperties>
</file>