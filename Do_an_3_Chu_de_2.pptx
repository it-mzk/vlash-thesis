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</p:sldIdLst>
  <p:notesMasterIdLst>
    <p:notesMasterId r:id="rId10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notesMaster" Target="notesMasters/notesMaster1.xml"/><Relationship Id="rId103" Type="http://schemas.openxmlformats.org/officeDocument/2006/relationships/presProps" Target="presProps.xml"/><Relationship Id="rId104" Type="http://schemas.openxmlformats.org/officeDocument/2006/relationships/viewProps" Target="viewProps.xml"/><Relationship Id="rId105" Type="http://schemas.openxmlformats.org/officeDocument/2006/relationships/theme" Target="theme/theme1.xml"/><Relationship Id="rId10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5A3A22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5A3A22"/>
                </a:solidFill>
                <a:latin typeface="Cambria"/>
              </a:rPr>
              <a:t>Doanh thu theo tháng ($)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A5673A"/>
            </a:solidFill>
            <a:ln w="38100" cap="flat">
              <a:solidFill>
                <a:srgbClr val="A5673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5673A"/>
              </a:solidFill>
              <a:ln w="9525" cap="flat">
                <a:solidFill>
                  <a:srgbClr val="A5673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T1</c:v>
                  </c:pt>
                  <c:pt idx="1">
                    <c:v>T2</c:v>
                  </c:pt>
                  <c:pt idx="2">
                    <c:v>T3</c:v>
                  </c:pt>
                  <c:pt idx="3">
                    <c:v>T4</c:v>
                  </c:pt>
                  <c:pt idx="4">
                    <c:v>T5</c:v>
                  </c:pt>
                  <c:pt idx="5">
                    <c:v>T6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81678</c:v>
                </c:pt>
                <c:pt idx="1">
                  <c:v>76146</c:v>
                </c:pt>
                <c:pt idx="2">
                  <c:v>98834</c:v>
                </c:pt>
                <c:pt idx="3">
                  <c:v>118941</c:v>
                </c:pt>
                <c:pt idx="4">
                  <c:v>156728</c:v>
                </c:pt>
                <c:pt idx="5">
                  <c:v>166486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78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0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78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5A3A22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5A3A22"/>
                </a:solidFill>
                <a:latin typeface="Cambria"/>
              </a:rPr>
              <a:t>Doanh thu theo nhóm sản phẩm ($)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24646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Coffee</c:v>
                  </c:pt>
                  <c:pt idx="1">
                    <c:v>Tea</c:v>
                  </c:pt>
                  <c:pt idx="2">
                    <c:v>Bakery</c:v>
                  </c:pt>
                  <c:pt idx="3">
                    <c:v>Drk Choc</c:v>
                  </c:pt>
                  <c:pt idx="4">
                    <c:v>Beans</c:v>
                  </c:pt>
                  <c:pt idx="5">
                    <c:v>Others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269952</c:v>
                </c:pt>
                <c:pt idx="1">
                  <c:v>196406</c:v>
                </c:pt>
                <c:pt idx="2">
                  <c:v>82316</c:v>
                </c:pt>
                <c:pt idx="3">
                  <c:v>72416</c:v>
                </c:pt>
                <c:pt idx="4">
                  <c:v>40085</c:v>
                </c:pt>
                <c:pt idx="5">
                  <c:v>38000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78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0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78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5A3A22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5A3A22"/>
                </a:solidFill>
                <a:latin typeface="Cambria"/>
              </a:rPr>
              <a:t>Doanh thu theo chi nhánh ($)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A567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Hell's Kitchen</c:v>
                  </c:pt>
                  <c:pt idx="1">
                    <c:v>Astoria</c:v>
                  </c:pt>
                  <c:pt idx="2">
                    <c:v>Lower Manhattan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236511</c:v>
                </c:pt>
                <c:pt idx="1">
                  <c:v>232243</c:v>
                </c:pt>
                <c:pt idx="2">
                  <c:v>230057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78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0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78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5A3A22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5A3A22"/>
                </a:solidFill>
                <a:latin typeface="Cambria"/>
              </a:rPr>
              <a:t>Doanh thu theo giờ trong ngày ($)</a:t>
            </a:r>
          </a:p>
        </c:rich>
      </c:tx>
      <c:layout/>
      <c:overlay val="0"/>
    </c:title>
    <c:autoTitleDeleted val="0"/>
    <c:plotArea>
      <c:layout/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78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0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78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5A3A22"/>
                </a:solidFill>
                <a:latin typeface="Cambria"/>
              </a:defRPr>
            </a:pPr>
            <a:r>
              <a:rPr sz="1100" b="0" i="0" u="none" strike="noStrike">
                <a:solidFill>
                  <a:srgbClr val="5A3A22"/>
                </a:solidFill>
                <a:latin typeface="Cambria"/>
              </a:rPr>
              <a:t>Doanh thu theo tháng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</c:v>
                </c:pt>
              </c:strCache>
            </c:strRef>
          </c:tx>
          <c:spPr>
            <a:solidFill>
              <a:srgbClr val="A5673A"/>
            </a:solidFill>
            <a:ln w="31750" cap="flat">
              <a:solidFill>
                <a:srgbClr val="A5673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5673A"/>
              </a:solidFill>
              <a:ln w="9525" cap="flat">
                <a:solidFill>
                  <a:srgbClr val="A5673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T1</c:v>
                  </c:pt>
                  <c:pt idx="1">
                    <c:v>T2</c:v>
                  </c:pt>
                  <c:pt idx="2">
                    <c:v>T3</c:v>
                  </c:pt>
                  <c:pt idx="3">
                    <c:v>T4</c:v>
                  </c:pt>
                  <c:pt idx="4">
                    <c:v>T5</c:v>
                  </c:pt>
                  <c:pt idx="5">
                    <c:v>T6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81678</c:v>
                </c:pt>
                <c:pt idx="1">
                  <c:v>76146</c:v>
                </c:pt>
                <c:pt idx="2">
                  <c:v>98834</c:v>
                </c:pt>
                <c:pt idx="3">
                  <c:v>118941</c:v>
                </c:pt>
                <c:pt idx="4">
                  <c:v>156728</c:v>
                </c:pt>
                <c:pt idx="5">
                  <c:v>166486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78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4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78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5A3A22"/>
                </a:solidFill>
                <a:latin typeface="Cambria"/>
              </a:defRPr>
            </a:pPr>
            <a:r>
              <a:rPr sz="1100" b="0" i="0" u="none" strike="noStrike">
                <a:solidFill>
                  <a:srgbClr val="5A3A22"/>
                </a:solidFill>
                <a:latin typeface="Cambria"/>
              </a:rPr>
              <a:t>Doanh thu theo nhóm SP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</c:v>
                </c:pt>
              </c:strCache>
            </c:strRef>
          </c:tx>
          <c:spPr>
            <a:solidFill>
              <a:srgbClr val="24646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Coffee</c:v>
                  </c:pt>
                  <c:pt idx="1">
                    <c:v>Tea</c:v>
                  </c:pt>
                  <c:pt idx="2">
                    <c:v>Bakery</c:v>
                  </c:pt>
                  <c:pt idx="3">
                    <c:v>Drk Choc</c:v>
                  </c:pt>
                  <c:pt idx="4">
                    <c:v>Beans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269952</c:v>
                </c:pt>
                <c:pt idx="1">
                  <c:v>196406</c:v>
                </c:pt>
                <c:pt idx="2">
                  <c:v>82316</c:v>
                </c:pt>
                <c:pt idx="3">
                  <c:v>72416</c:v>
                </c:pt>
                <c:pt idx="4">
                  <c:v>40085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78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8E4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78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Chào thầy và các bạn. Nhóm em trình bày Đồ án 3 - Chủ đề 2: Data &amp; Analytics, đề tài hệ thống phân tích dữ liệu cho chuỗi quán cà phê, dùng SQL Server, ETL Python và Power BI.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Giới thiệu 2 thành viên và phân công: một bạn lo Data Warehouse + ETL, một bạn lo Power BI + báo cáo. Cả hai cùng hiểu toàn bộ luồng 4 bước OLTP - ETL - DW - Power BI.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Đây là 6 phần sẽ trình bày: lý thuyết nền tảng, bài toán &amp; dữ liệu, rồi lần lượt 3 bước làm thật, cuối cùng là demo và kết luận.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Đặt vấn đề: app cà phê ghi rất nhiều dữ liệu nhưng để thô. Quản lý cần câu trả lời nhanh nên nhóm xây kho +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Nêu 3 mục tiêu kỹ thuật và các câu hỏi kinh doanh mà dashboard phải trả lời.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Nhắc lại 3 sản phẩm phải nộp theo đề bài và 2 lưu ý: kiến thức mới cần tự học, và cấm sao chép.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Chuyển sang phần lý thuyết. Mục tiêu là hiểu vì sao cần Data Warehouse trước khi bắt tay làm.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Giải thích dữ liệu đang kẹt trong app: tốt cho vận hành nhưng tệ cho phân tích vì JOIN nặng và làm chậm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OLTP là hệ thống xử lý giao dịch - chính là database của app. Nhấn mạnh đặc điểm: ghi nhanh, chuẩn hóa, dữ liệu hiện tại.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OLAP là hệ thống phân tích - Data Warehouse phục vụ OLAP. Đặc điểm: đọc tổng hợp lớn, phi chuẩn hóa, dữ liệu lịch sử.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Bảng so sánh OLTP vs OLAP. Kết luận: không phân tích trực tiếp trên app mà sao chép sang kho.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5 lý do cụ thể không phân tích trực tiếp trên DB app: hiệu năng, cấu trúc khó, thiếu lịch sử, nhiều nguồn, chất lượng dữ liệu.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Định nghĩa Data Warehouse bằng ví dụ thư viện: gom dữ liệu, làm sạch, sắp xếp để tra cứu nhanh.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 đặc điểm kinh điển của Inmon: hướng chủ đề, tích hợp, biến thiên theo thời gian, ổn định.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Bức tranh tổng thể 4 khối: nguồn OLTP - ETL - Data Warehouse - Power BI. Các phần sau sẽ đào sâu từng khối.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Các tầng dữ liệu: staging, warehouse, data mart. Đồ án tập trung vào tầng warehouse (Star Schema).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Hai khái niệm cốt lõi: Fact chứa số đo (bao nhiêu), Dimension chứa ngữ cảnh (ai, gì, khi nào, ở đâu).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Đào sâu Fact Table: gồm khóa ngoại trỏ tới Dimension và các measure. Nhắc khái niệm grain.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Đào sâu Dimension: mọi câu hỏi 'theo...' đều dựa vào Dimension. Nêu 4 Dimension của đồ án.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Star Schema: Fact ở giữa, Dimension vây quanh như cánh sao, JOIN đơn giản nên nhanh.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 sánh Star vs Snowflake. Nhóm chọn Star vì đơn giản, nhanh và Power BI rất thích.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 thuật ngữ cần nhớ: grain (độ hạt), surrogate key (khóa thay thế), loại measure (additive hay không).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Chuyển sang phần bài toán và dữ liệu thật.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Giới thiệu chuỗi Maven Roasters 3 chi nhánh ở New York và dataset công khai nổi tiếng.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Tổng quan dataset: ~149.000 dòng (bản đầy đủ), 3 chi nhánh, 6 tháng, ~699K doanh thu. Bản nhóm dùng nhỏ hơn để chạy nhanh.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 dictionary: mô tả 11 cột gốc, sẽ tách thành 1 Fact + 4 Dimension.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Cho xem vài dòng dữ liệu thật. Chỉ ra dữ liệu trộn lẫn số đo và mô tả - lý do cần tách.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6 nhóm câu hỏi kinh doanh dashboard sẽ trả lời.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Cách phân loại: cột đo được thành Fact, cột mô tả thành Dimension. Đây là tư duy thiết kế.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Quyết định grain: 1 dòng Fact = 1 sản phẩm trong 1 hóa đơn. Giải thích vì sao chọn mức này.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6 KPI mục tiêu sẽ tính bằng DAX ở phần Power BI.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Bắt đầu Bước 1: xây Data Warehouse.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Tổng quan Bước 1: tạo 2 database, thiết kế Star Schema, viết SQL. Lưu ý tạo Dimension trước, Fact sau.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Thiết kế OLTP mô phỏng app: 4 bảng chuẩn hóa. transactions là đầu hóa đơn, transaction_items là các dòng sản phẩm.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Trình bày code SQL tạo OLTP. Đây là file 01_schema_oltp.sql trong dự án.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Tư duy chuyển từ OLTP chuẩn hóa sang Star Schema phẳng: gom số đo, thêm cột hữu ích như month_name, day_part.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Sơ đồ Star Schema đầy đủ của hệ thống: FactSales ở giữa, 4 Dimension vây quanh.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DimDate - chiều thời gian quan trọng nhất, nền tảng cho YTD và tăng trưởng.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Code tạo và sinh dữ liệu DimDate bằng vòng lặp ngày.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DimTime - chiều giờ trong ngày, có nhãn buổi day_part để phân tích giờ cao điểm.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DimProduct - 3 cấp phân loại category/type/detail. Dùng surrogate key, giữ natural key để đối chiếu.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DimStore - chiều chi nhánh, 3 bản ghi, có thể mở rộng thêm vùng/địa chỉ.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Code tạo DimProduct và DimStore. IDENTITY(1,1) sinh surrogate key tự động.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FactSales - bảng trung tâm: 4 khóa ngoại + transaction_id để đếm đơn + 3 measure.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Code tạo FactSales. Nhấn mạnh thứ tự: tạo Dimension trước rồi mới tạo Fact.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Giải thích 4 loại khóa: PK, FK, surrogate, natural - cách các bảng nối nhau.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Index giúp truy vấn nhanh hơn. Đánh index cho các khóa ngoại của Fact.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Hướng dẫn tạo DW trên SSMS theo 5 bước. Đây là phần thực hành trên máy.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Checklist sản phẩm Bước 1 - đối chiếu đã làm đủ chưa.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Bắt đầu Bước 2: viết ETL 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ETL gồm 3 bước Extract - Transform - Load. Giải thích từng chữ.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Vì sao cần ETL chứ không copy thẳng: dữ liệu bẩn, cấu trúc khác, cần tạo cột mới, sinh surrogate key, chạy lặp lại.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Kiến trúc ETL của nhóm: OLTP - extract - transform - load bằng pandas. Lưu ý nạp Dim trước Fact.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Các thư viện Python: pandas, SQLAlchemy, pyodbc, logging.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Lệnh pip cài thư viện và cần cài thêm ODBC Driver.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Code kết nối SQL Server từ Python - file db.py, chỉ cần sửa tên SERVER.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Code Extract: JOIN 4 bảng OLTP về 1 DataFrame bằng pandas.read_sql.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 profiling: soi lỗi dữ liệu thô trước khi xử lý - các lỗi thường gặp.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Code Transform bước 1: chuẩn hóa kiểu dữ liệu và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Code Transform bước 2: xử lý NULL và giá trị vô lý. Nguyên tắc thiếu khóa thì bỏ, thiếu số đo thì điền.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Code Transform bước 3: loại trùng lặp và tính total_amount, date_key, hour.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Code dựng DimDate trong Python bằng các thuộc tính .dt.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Code dựng DimTime và hàm day_part gán nhãn buổi.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Code dựng DimProduct và DimStore - loại trùng bằng drop_duplicates.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Code map natural key sang surrogate key bằng merge (giống VLOOKUP).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Code Load: nạp Dimension trước rồi nạp FactSales.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Khái niệm incremental load: dùng watermark để chỉ lấy dữ liệu mới, tránh nạp trùng.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Code incremental load bằng file watermark.txt.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Code logging và ví dụ output log - đáp ứng yêu cầu đề bài 'có log rõ ràng'.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Cấu trúc tổng thể file etl.py và checklist Bước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Bắt đầu Bước 3: dashboard Power BI.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Power BI là gì: Desktop để thiết kế, Service để chia sẻ, file .pbix là sản phẩm.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Hướng dẫn cài Power BI Desktop. Lưu ý chỉ chạy trên Windows.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Các bước kết nối Power BI vào Data Warehouse qua Get Data - SQL Server.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Import vs DirectQuery. Nhóm chọn Import vì nhanh và đủ dùng.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Model view: kiểm tra mô hình hình sao trong Power BI.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Thiết lập quan hệ 1-nhiều giữa mỗi Dimension và FactSales.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Đánh dấu DimDate là Date Table - bắt buộc để Time Intelligence chạy đúng.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DAX là gì: phân biệt Measure (động) và Calculated Column (tĩnh). Đề bài cần Measure.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Measure 1 Total Revenue bằng SUMX hoặc SUM. Giải thích kết quả ~699K.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Measure 2 Total Orders dùng DISTINCTCOUNT để đếm đúng số hóa đơn.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Measure 3 và 4: Total Quantity và Avg Order Value. AOV tái sử dụng 2 measure khác.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Measure 5 Growth%: dùng PREVIOUSMONTH và CALCULATE để so với tháng trước.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Measure 6 Revenue YTD bằng TOTALYTD - doanh thu lũy kế. Đã đủ 6 measure, vượt yêu cầu.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Một vài measure mở rộng để lấy điểm cộng.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Nguyên tắc thiết kế bố cục dashboard: KPI trên, chart giữa, slicer bên phải.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 thẻ KPI Card và cách tạo trong Power BI.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Chart 1 và 2: doanh thu theo tháng (tăng dần) và theo nhóm sản phẩm (Coffee, Tea dẫn đầu).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Chart 3 và 4: theo chi nhánh (khá đều) và theo giờ (cao điểm 8-10h sáng).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Year Slicer và lọc chéo - điểm nhấn tương tác khi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Dashboard hoàn chỉnh mô phỏng. Đây là kết quả cuối cùng của Bước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Phần cuối: demo và kết luận.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Tổng kết luồng end-to-end từ giao dịch đến quyết định.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Kịch bản demo 5 phút: mở SSMS, chạy etl.py, mở Power BI, tương tác, chốt insight.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Bảng đối chiếu kết quả với yêu cầu đề bài - tất cả đều đạt, có mục vượt.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Khó khăn gặp phải và cách khắc phục - cho thấy nhóm hiểu sâu.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Hướng phát triển: thêm DimCustomer, tự động hóa, cloud, dự báo.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Phân công và timeline tuần 7-9.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Tài liệu tham khảo.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Cảm ơn thầy và các bạn đã lắng nghe. Nhóm sẵn sàng trả lời câu hỏi.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8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chart" Target="..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chart" Target="..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1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2011680"/>
            <a:ext cx="5943600" cy="5943600"/>
          </a:xfrm>
          <a:prstGeom prst="ellipse">
            <a:avLst/>
          </a:prstGeom>
          <a:solidFill>
            <a:srgbClr val="3A2618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3108960"/>
            <a:ext cx="4937760" cy="4937760"/>
          </a:xfrm>
          <a:prstGeom prst="ellipse">
            <a:avLst/>
          </a:prstGeom>
          <a:solidFill>
            <a:srgbClr val="3A2618"/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0" y="-1280160"/>
            <a:ext cx="2194560" cy="2194560"/>
          </a:xfrm>
          <a:prstGeom prst="ellipse">
            <a:avLst/>
          </a:prstGeom>
          <a:solidFill>
            <a:srgbClr val="4A312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 ÁN 3 · DC2TX50 · 3 TÍN CHỈ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5544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Chủ đề 2 — Data &amp; Analytics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6D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dựng Data Warehouse, viết ETL và Dashboard Power BI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3291840"/>
            <a:ext cx="2377440" cy="0"/>
          </a:xfrm>
          <a:prstGeom prst="line">
            <a:avLst/>
          </a:prstGeom>
          <a:noFill/>
          <a:ln w="38100">
            <a:solidFill>
              <a:srgbClr val="C087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520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C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tài: Hệ thống phân tích dữ liệu cho chuỗi quán cà phê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4572000"/>
            <a:ext cx="2468880" cy="960120"/>
          </a:xfrm>
          <a:prstGeom prst="roundRect">
            <a:avLst>
              <a:gd name="adj" fmla="val 5714"/>
            </a:avLst>
          </a:prstGeom>
          <a:solidFill>
            <a:srgbClr val="3A2618"/>
          </a:solidFill>
          <a:ln w="12700">
            <a:solidFill>
              <a:srgbClr val="A567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47000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C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TRƯỜNG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87552" y="499262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ĐH Công nghệ GTVT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520440" y="4572000"/>
            <a:ext cx="2468880" cy="960120"/>
          </a:xfrm>
          <a:prstGeom prst="roundRect">
            <a:avLst>
              <a:gd name="adj" fmla="val 5714"/>
            </a:avLst>
          </a:prstGeom>
          <a:solidFill>
            <a:srgbClr val="3A2618"/>
          </a:solidFill>
          <a:ln w="12700">
            <a:solidFill>
              <a:srgbClr val="A567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85032" y="47000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C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KHOA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85032" y="499262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nghệ Thông tin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4572000"/>
            <a:ext cx="2468880" cy="960120"/>
          </a:xfrm>
          <a:prstGeom prst="roundRect">
            <a:avLst>
              <a:gd name="adj" fmla="val 5714"/>
            </a:avLst>
          </a:prstGeom>
          <a:solidFill>
            <a:srgbClr val="3A2618"/>
          </a:solidFill>
          <a:ln w="12700">
            <a:solidFill>
              <a:srgbClr val="A567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82512" y="47000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C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382512" y="499262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Shop Sales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915400" y="4572000"/>
            <a:ext cx="2468880" cy="960120"/>
          </a:xfrm>
          <a:prstGeom prst="roundRect">
            <a:avLst>
              <a:gd name="adj" fmla="val 5714"/>
            </a:avLst>
          </a:prstGeom>
          <a:solidFill>
            <a:srgbClr val="3A2618"/>
          </a:solidFill>
          <a:ln w="12700">
            <a:solidFill>
              <a:srgbClr val="A567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79992" y="47000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C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9079992" y="499262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SQL Server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đầu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6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GIỚI THIỆU NHÓM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Thành viên &amp; phân công công việc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đầu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600200"/>
            <a:ext cx="5212080" cy="1600200"/>
          </a:xfrm>
          <a:prstGeom prst="roundRect">
            <a:avLst>
              <a:gd name="adj" fmla="val 4571"/>
            </a:avLst>
          </a:prstGeom>
          <a:solidFill>
            <a:srgbClr val="FBF6E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87552" y="1874520"/>
            <a:ext cx="914400" cy="914400"/>
          </a:xfrm>
          <a:prstGeom prst="ellipse">
            <a:avLst/>
          </a:prstGeom>
          <a:solidFill>
            <a:srgbClr val="C0875A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87552" y="1874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057400" y="18288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Thành viên 1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057400" y="2194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 và tên · MSSV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057400" y="25146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Phụ trách: Data Warehouse + ETL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(thiết kế Star Schema, viết etl.py)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1600200"/>
            <a:ext cx="5212080" cy="1600200"/>
          </a:xfrm>
          <a:prstGeom prst="roundRect">
            <a:avLst>
              <a:gd name="adj" fmla="val 4571"/>
            </a:avLst>
          </a:prstGeom>
          <a:solidFill>
            <a:srgbClr val="FBF6E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19672" y="1874520"/>
            <a:ext cx="914400" cy="914400"/>
          </a:xfrm>
          <a:prstGeom prst="ellipse">
            <a:avLst/>
          </a:prstGeom>
          <a:solidFill>
            <a:srgbClr val="2F7E7C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19672" y="1874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7589520" y="18288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Thành viên 2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589520" y="2194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 và tên · MSSV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589520" y="25146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Phụ trách: Power BI + Báo cáo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(DAX measures, dashboard, slides)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31520" y="3429000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ý: Cả hai cùng hiểu toàn bộ pipeline để trình bày &amp; bảo vệ; phân công ở trên chỉ là người chịu trách nhiệm chính của từng phần.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31520" y="416052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5A3A22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2960" y="41605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OLTP (app cà phê)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063240" y="416052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3520440" y="416052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2A1A0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11880" y="41605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(Python)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852160" y="416052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6309360" y="416052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5A3A22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00800" y="41605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641080" y="416052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9098280" y="416052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2A1A0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189720" y="41605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31520" y="5257800"/>
            <a:ext cx="10927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 bộ đồ án xoay quanh luồng dữ liệu 4 bước này — mỗi phần sau sẽ đào sâu từng khối.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6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Nội dung trình bày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đầu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60020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60120" y="1892808"/>
            <a:ext cx="658368" cy="658368"/>
          </a:xfrm>
          <a:prstGeom prst="ellipse">
            <a:avLst/>
          </a:prstGeom>
          <a:solidFill>
            <a:srgbClr val="C0875A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18928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828800" y="178308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Nền tảng lý thuyết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828800" y="219456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OLTP vs OLAP, Data Warehouse, Star Schema, Fact &amp; Dimension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63640" y="160020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92240" y="1892808"/>
            <a:ext cx="658368" cy="658368"/>
          </a:xfrm>
          <a:prstGeom prst="ellipse">
            <a:avLst/>
          </a:prstGeom>
          <a:solidFill>
            <a:srgbClr val="2F7E7C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18928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360920" y="178308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Bài toán &amp; Dữ liệu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60920" y="219456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Chuỗi cà phê, dataset Coffee Shop Sales, KPI mục tiêu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301752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60120" y="3310128"/>
            <a:ext cx="658368" cy="658368"/>
          </a:xfrm>
          <a:prstGeom prst="ellipse">
            <a:avLst/>
          </a:prstGeom>
          <a:solidFill>
            <a:srgbClr val="5A3A22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60120" y="331012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828800" y="320040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Xây Data Warehouse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828800" y="361188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Star Schema + tạo bảng trên SQL Server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63640" y="301752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92240" y="3310128"/>
            <a:ext cx="658368" cy="658368"/>
          </a:xfrm>
          <a:prstGeom prst="ellipse">
            <a:avLst/>
          </a:prstGeom>
          <a:solidFill>
            <a:srgbClr val="A5673A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92240" y="331012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360920" y="320040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Viết ETL Script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360920" y="361188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đọc OLTP → làm sạch → load DW (incremental)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31520" y="443484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60120" y="4727448"/>
            <a:ext cx="658368" cy="658368"/>
          </a:xfrm>
          <a:prstGeom prst="ellipse">
            <a:avLst/>
          </a:prstGeom>
          <a:solidFill>
            <a:srgbClr val="246462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60120" y="47274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828800" y="461772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Power BI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828800" y="502920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nối DW, ≥5 DAX measures, KPI cards + charts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63640" y="443484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492240" y="4727448"/>
            <a:ext cx="658368" cy="658368"/>
          </a:xfrm>
          <a:prstGeom prst="ellipse">
            <a:avLst/>
          </a:prstGeom>
          <a:solidFill>
            <a:srgbClr val="7A5A3A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492240" y="47274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360920" y="461772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&amp; Kết luận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360920" y="502920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quả, khó khăn, hướng phát triển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6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BỐI CẢNH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Vì sao chuỗi quán cà phê cần phân tích dữ liệu?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đầu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60020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FBF6E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56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Tình huống thực tế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240280"/>
            <a:ext cx="5029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Roasters là chuỗi cà phê có 3 chi nhánh tại New York, bán hàng nghìn ly mỗi ngày.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bán hàng (POS) ghi lại MỌI giao dịch vào database — nhưng đó là dữ liệu “thô”, nằm rải rác.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muốn biết: chi nhánh nào doanh thu cao nhất? Sản phẩm nào bán chạy? Giờ nào đông khách?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 lời trực tiếp trên database app thì chậm, khó và dễ làm treo hệ thống bán hàng.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46520" y="1600200"/>
            <a:ext cx="521208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75120" y="1828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64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Giải pháp của nhóm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75120" y="224028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một Data Warehouse riêng để chứa dữ liệu đã được tổ chức cho phân tích.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Viết ETL tự động chuyển dữ liệu từ app sang kho, đồng thời làm sạch.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Power BI vẽ dashboard trực quan để quản lý ra quyết định trong vài giây.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b="1" dirty="0">
                <a:solidFill>
                  <a:srgbClr val="5A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quả: biến dữ liệu bán hàng thành thông tin kinh doanh (business insight).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6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Mục tiêu đề tài &amp; câu hỏi cần trả lời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đầu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56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mục tiêu kỹ thuật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1965960"/>
            <a:ext cx="5486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60120" y="2212848"/>
            <a:ext cx="566928" cy="566928"/>
          </a:xfrm>
          <a:prstGeom prst="ellipse">
            <a:avLst/>
          </a:prstGeom>
          <a:solidFill>
            <a:srgbClr val="2F7E7C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60120" y="22128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691640" y="213055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Thiết kế kho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691640" y="249631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chuẩn: 1 Fact + 4 Dimension Tables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200400"/>
            <a:ext cx="5486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60120" y="3447288"/>
            <a:ext cx="566928" cy="566928"/>
          </a:xfrm>
          <a:prstGeom prst="ellipse">
            <a:avLst/>
          </a:prstGeom>
          <a:solidFill>
            <a:srgbClr val="2F7E7C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60120" y="34472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691640" y="33649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Tự động hóa ETL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91640" y="373075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Python chạy được, có log, load incremental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4434840"/>
            <a:ext cx="5486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60120" y="4681728"/>
            <a:ext cx="566928" cy="566928"/>
          </a:xfrm>
          <a:prstGeom prst="ellipse">
            <a:avLst/>
          </a:prstGeom>
          <a:solidFill>
            <a:srgbClr val="2F7E7C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60120" y="46817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691640" y="459943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Trực quan hóa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691640" y="496519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Power BI tương tác, ≥5 DAX measures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46520" y="1600200"/>
            <a:ext cx="5212080" cy="4206240"/>
          </a:xfrm>
          <a:prstGeom prst="roundRect">
            <a:avLst>
              <a:gd name="adj" fmla="val 1739"/>
            </a:avLst>
          </a:prstGeom>
          <a:solidFill>
            <a:srgbClr val="FBF6E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675120" y="1828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56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Câu hỏi kinh doanh sẽ trả lời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675120" y="2286000"/>
            <a:ext cx="4754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doanh thu, số đơn, số ly bán ra là bao nhiêu?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Doanh thu tăng/giảm thế nào theo từng tháng?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nhánh nào hiệu quả nhất?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sản phẩm nào (Coffee, Tea, Bakery…) bán chạy?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Khung giờ nào là giờ cao điểm (peak hours)?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 trị trung bình mỗi đơn (AOV) là bao nhiêu?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6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YÊU CẦU ĐỀ BÀI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Sản phẩm cần nộp &amp; tiêu chí đánh giá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đầu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600200"/>
            <a:ext cx="347472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05840" y="1874520"/>
            <a:ext cx="777240" cy="777240"/>
          </a:xfrm>
          <a:prstGeom prst="ellipse">
            <a:avLst/>
          </a:prstGeom>
          <a:solidFill>
            <a:srgbClr val="C0875A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05840" y="184708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60120" y="27889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 Schema + DW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120" y="32004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Sơ đồ Star Schema và database Data Warehouse chạy được trên SQL Server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34840" y="1600200"/>
            <a:ext cx="347472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874520"/>
            <a:ext cx="777240" cy="777240"/>
          </a:xfrm>
          <a:prstGeom prst="ellipse">
            <a:avLst/>
          </a:prstGeom>
          <a:solidFill>
            <a:srgbClr val="2F7E7C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09160" y="184708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63440" y="27889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etl.py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663440" y="32004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Python chạy được, có log kết quả rõ ràng, load incremental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38160" y="1600200"/>
            <a:ext cx="347472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412480" y="1874520"/>
            <a:ext cx="777240" cy="777240"/>
          </a:xfrm>
          <a:prstGeom prst="ellipse">
            <a:avLst/>
          </a:prstGeom>
          <a:solidFill>
            <a:srgbClr val="5A3A22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412480" y="184708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366760" y="27889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.pbix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66760" y="32004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Power BI ≥ 4 visual, tương tác được, ≥5 DAX measures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1520" y="4343400"/>
            <a:ext cx="10927080" cy="1417320"/>
          </a:xfrm>
          <a:prstGeom prst="roundRect">
            <a:avLst>
              <a:gd name="adj" fmla="val 5161"/>
            </a:avLst>
          </a:prstGeom>
          <a:solidFill>
            <a:srgbClr val="2A1A0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60120" y="449884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8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 Lưu ý quan trọng từ đề bài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60120" y="486460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DB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 (DW + Power BI) là kiến thức MỚI — cần chủ động học thêm; thầy sẽ phát clip hướng dẫn.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DB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Nghiêm cấm sao chép: phát hiện 2 nhóm trùng nhau đều nhận điểm 0.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A1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4754880" cy="4754880"/>
          </a:xfrm>
          <a:prstGeom prst="ellipse">
            <a:avLst/>
          </a:prstGeom>
          <a:solidFill>
            <a:srgbClr val="3A2618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3291840" cy="3291840"/>
          </a:xfrm>
          <a:prstGeom prst="ellipse">
            <a:avLst/>
          </a:prstGeom>
          <a:solidFill>
            <a:srgbClr val="3A261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8686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Nền tảng lý thuyết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3832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8C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Hiểu “tại sao” trước khi làm “như thế nào”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114800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8D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OLTP vs OLAP — hai loại hệ thống dữ liệu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8D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 là gì và để làm gì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8D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Fact, Dimension, Star Schema — từ vựng cốt lõi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3246120"/>
            <a:ext cx="2011680" cy="0"/>
          </a:xfrm>
          <a:prstGeom prst="line">
            <a:avLst/>
          </a:prstGeom>
          <a:noFill/>
          <a:ln w="31750">
            <a:solidFill>
              <a:srgbClr val="C087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1 · Nền tảng lý thuyết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6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VẤN ĐỀ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Dữ liệu đang “mắc kẹt” trong app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1 · Nền tảng lý thuyết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600200"/>
            <a:ext cx="5440680" cy="4160520"/>
          </a:xfrm>
          <a:prstGeom prst="roundRect">
            <a:avLst>
              <a:gd name="adj" fmla="val 1758"/>
            </a:avLst>
          </a:prstGeom>
          <a:solidFill>
            <a:srgbClr val="FBF6E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56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của app (OLTP) được thiết kế để…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224028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nhận giao dịch thật nhanh: thêm 1 đơn hàng, cập nhật 1 dòng.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Tránh trùng lặp dữ liệu (chuẩn hóa — normalization) → nhiều bảng nhỏ nối nhau.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Phục vụ hàng trăm thao tác đọc/ghi mỗi giây của nhân viên thu ngân.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60120" y="50292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Rất tốt cho VẬN HÀNH, nhưng rất tệ cho PHÂN TÍCH.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0" y="1600200"/>
            <a:ext cx="525780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629400" y="1828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64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Khi sếp hỏi một câu phân tích…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629400" y="22402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“Doanh thu 3 chi nhánh 6 tháng qua, chia theo nhóm sản phẩm, so với cùng kỳ?”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629400" y="306324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Phải JOIN hàng chục bảng, quét hàng triệu dòng → truy vấn chạy hàng phút.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lệnh nặng làm CHẬM cả app bán hàng đang chạy thật.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có sẵn cột “tháng”, “quý”, “giờ cao điểm” để gom nhóm.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6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KHÁI NIỆM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OLTP là gì?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1 · Nền tảng lý thuyết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554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A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OLTP </a:t>
            </a:r>
            <a:pPr indent="0" marL="0">
              <a:buNone/>
            </a:pPr>
            <a:r>
              <a:rPr lang="en-US" sz="17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Online Transaction Processing — Hệ thống xử lý giao dịch trực tuyến.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Chính là cơ sở dữ liệu chạy phía sau app bán hàng của quán cà phê.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31520" y="2560320"/>
            <a:ext cx="521208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32688" y="267004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56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Mục đích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32688" y="299008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nhận hoạt động hằng ngày (thêm đơn, sửa kho)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63640" y="2560320"/>
            <a:ext cx="521208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64808" y="267004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56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Thao tác chính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64808" y="299008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/ UPDATE / DELETE — nhiều, nhỏ, rất nhanh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31520" y="3611880"/>
            <a:ext cx="521208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32688" y="372160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56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Thiết kế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32688" y="404164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hóa cao (nhiều bảng), tránh trùng dữ liệu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63640" y="3611880"/>
            <a:ext cx="521208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64808" y="372160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56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Dữ liệu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64808" y="404164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Hiện tại, chi tiết từng giao dịch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31520" y="4663440"/>
            <a:ext cx="521208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32688" y="477316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56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Người dùng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32688" y="509320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Nhân viên, hệ thống — hàng trăm người cùng lúc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63640" y="4663440"/>
            <a:ext cx="521208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64808" y="477316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56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Ví dụ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64808" y="509320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/ MySQL của app POS, app đặt hàng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6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KHÁI NIỆM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OLAP là gì?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1 · Nền tảng lý thuyết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554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6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OLAP </a:t>
            </a:r>
            <a:pPr indent="0" marL="0">
              <a:buNone/>
            </a:pPr>
            <a:r>
              <a:rPr lang="en-US" sz="17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Online Analytical Processing — Hệ thống xử lý phân tích trực tuyến.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 “bộ não phân tích”: tổng hợp, gom nhóm dữ liệu để trả lời câu hỏi kinh doanh. Data Warehouse phục vụ OLAP.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31520" y="2560320"/>
            <a:ext cx="5212080" cy="896112"/>
          </a:xfrm>
          <a:prstGeom prst="roundRect">
            <a:avLst>
              <a:gd name="adj" fmla="val 8163"/>
            </a:avLst>
          </a:prstGeom>
          <a:solidFill>
            <a:srgbClr val="FBF6E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32688" y="267004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64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Mục đích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32688" y="299008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tích, báo cáo, tìm xu hướng để ra quyết định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63640" y="2560320"/>
            <a:ext cx="5212080" cy="896112"/>
          </a:xfrm>
          <a:prstGeom prst="roundRect">
            <a:avLst>
              <a:gd name="adj" fmla="val 8163"/>
            </a:avLst>
          </a:prstGeom>
          <a:solidFill>
            <a:srgbClr val="FBF6E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64808" y="267004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64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Thao tác chính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64808" y="299008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tổng hợp (SUM, COUNT, AVG) trên dữ liệu lớn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31520" y="3611880"/>
            <a:ext cx="5212080" cy="896112"/>
          </a:xfrm>
          <a:prstGeom prst="roundRect">
            <a:avLst>
              <a:gd name="adj" fmla="val 8163"/>
            </a:avLst>
          </a:prstGeom>
          <a:solidFill>
            <a:srgbClr val="FBF6E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32688" y="372160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64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Thiết kế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32688" y="404164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 chuẩn hóa (denormalized) — Star Schema, ít bảng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63640" y="3611880"/>
            <a:ext cx="5212080" cy="896112"/>
          </a:xfrm>
          <a:prstGeom prst="roundRect">
            <a:avLst>
              <a:gd name="adj" fmla="val 8163"/>
            </a:avLst>
          </a:prstGeom>
          <a:solidFill>
            <a:srgbClr val="FBF6E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64808" y="372160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64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Dữ liệu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64808" y="404164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Lịch sử nhiều năm, đã được tổng hợp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31520" y="4663440"/>
            <a:ext cx="5212080" cy="896112"/>
          </a:xfrm>
          <a:prstGeom prst="roundRect">
            <a:avLst>
              <a:gd name="adj" fmla="val 8163"/>
            </a:avLst>
          </a:prstGeom>
          <a:solidFill>
            <a:srgbClr val="FBF6E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32688" y="477316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64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Người dùng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32688" y="509320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lý, BI analyst — ít người, truy vấn nặng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63640" y="4663440"/>
            <a:ext cx="5212080" cy="896112"/>
          </a:xfrm>
          <a:prstGeom prst="roundRect">
            <a:avLst>
              <a:gd name="adj" fmla="val 8163"/>
            </a:avLst>
          </a:prstGeom>
          <a:solidFill>
            <a:srgbClr val="FBF6E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64808" y="477316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64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Ví dụ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64808" y="509320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 + Power BI / Tableau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6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SÁNH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OLTP vs OLAP — bảng so sánh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1 · Nền tảng lý thuyết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91640"/>
          <a:ext cx="109270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023360"/>
                <a:gridCol w="41605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Tiêu chí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A0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OLTP (app)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67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OLAP (Data Warehouse)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646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Mục tiêu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Vận hành hằng ngày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Phân tích &amp; báo cáo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Câu lệnh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INSERT/UPDATE/DELETE nhỏ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 tổng hợp lớn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Thiết kế CSDL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Chuẩn hóa (nhiều bảng)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 Schema (ít bảng)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Dữ liệu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Hiện tại, chi tiết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Lịch sử, đã tổng hợp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Tốc độ tối ưu cho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Ghi nhanh từng dòng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Đọc &amp; gom nhóm hàng triệu dòng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Người dùng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Nhân viên, khách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Quản lý, BI analyst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Trong đồ án này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 app cà phê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Kho ta sắp xây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731520" y="5715000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5A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luận: ta KHÔNG phân tích trực tiếp trên OLTP — ta sao chép dữ liệu sang OLAP (Data Warehouse) để phân tích an toàn.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6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 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lý do không phân tích trực tiếp trên DB app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1 · Nền tảng lý thuyết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109270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1792224"/>
            <a:ext cx="457200" cy="457200"/>
          </a:xfrm>
          <a:prstGeom prst="ellipse">
            <a:avLst/>
          </a:prstGeom>
          <a:solidFill>
            <a:srgbClr val="C0875A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1792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554480" y="17373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Hiệu năng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206240" y="17373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Truy vấn phân tích nặng làm chậm/treo app bán hàng thật.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2487168"/>
            <a:ext cx="10927080" cy="731520"/>
          </a:xfrm>
          <a:prstGeom prst="roundRect">
            <a:avLst>
              <a:gd name="adj" fmla="val 10000"/>
            </a:avLst>
          </a:prstGeom>
          <a:solidFill>
            <a:srgbClr val="FBF6E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14400" y="2633472"/>
            <a:ext cx="457200" cy="457200"/>
          </a:xfrm>
          <a:prstGeom prst="ellipse">
            <a:avLst/>
          </a:prstGeom>
          <a:solidFill>
            <a:srgbClr val="2F7E7C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2633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54480" y="257860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Cấu trúc khó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206240" y="257860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rải rác nhiều bảng chuẩn hóa, JOIN phức tạp.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3328416"/>
            <a:ext cx="109270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14400" y="3474720"/>
            <a:ext cx="457200" cy="457200"/>
          </a:xfrm>
          <a:prstGeom prst="ellipse">
            <a:avLst/>
          </a:prstGeom>
          <a:solidFill>
            <a:srgbClr val="C0875A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1440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554480" y="341985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Thiếu lịch sử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206240" y="3419856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thường chỉ giữ dữ liệu gần đây; kho giữ nhiều năm.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31520" y="4169664"/>
            <a:ext cx="10927080" cy="731520"/>
          </a:xfrm>
          <a:prstGeom prst="roundRect">
            <a:avLst>
              <a:gd name="adj" fmla="val 10000"/>
            </a:avLst>
          </a:prstGeom>
          <a:solidFill>
            <a:srgbClr val="FBF6E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14400" y="4315968"/>
            <a:ext cx="457200" cy="457200"/>
          </a:xfrm>
          <a:prstGeom prst="ellipse">
            <a:avLst/>
          </a:prstGeom>
          <a:solidFill>
            <a:srgbClr val="2F7E7C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14400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554480" y="4261104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Nhiều nguồn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4206240" y="426110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thể gộp dữ liệu từ nhiều app/chi nhánh vào một kho.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31520" y="5010912"/>
            <a:ext cx="109270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14400" y="5157216"/>
            <a:ext cx="457200" cy="457200"/>
          </a:xfrm>
          <a:prstGeom prst="ellipse">
            <a:avLst/>
          </a:prstGeom>
          <a:solidFill>
            <a:srgbClr val="C0875A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14400" y="5157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554480" y="510235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Chất lượng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4206240" y="510235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thô có NULL, sai kiểu — cần làm sạch trước khi phân tích.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6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KHÁI NIỆM CỐT LÕI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Warehouse là gì?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1 · Nền tảng lý thuyết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600200"/>
            <a:ext cx="10927080" cy="1371600"/>
          </a:xfrm>
          <a:prstGeom prst="roundRect">
            <a:avLst>
              <a:gd name="adj" fmla="val 5333"/>
            </a:avLst>
          </a:prstGeom>
          <a:solidFill>
            <a:srgbClr val="2A1A0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" y="17830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2E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“Một kho dữ liệu tập trung, được tổ chức để phục vụ phân tích và báo cáo — nơi gom dữ liệu từ các hệ thống vận hành (OLTP) về một chỗ, đã làm sạch và sắp xếp.”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3200400"/>
            <a:ext cx="109270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60120" y="331927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56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Ví dụ dễ hiểu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520440" y="3291840"/>
            <a:ext cx="7955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Giống như một THƯ VIỆN: sách (dữ liệu) từ khắp nơi được mang về, phân loại, dán nhãn, xếp kệ gọn gàng để ai cũng tra cứu nhanh.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1520" y="4096512"/>
            <a:ext cx="109270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60120" y="4215384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56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Khác với DB app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520440" y="4187952"/>
            <a:ext cx="7955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app = cuốn sổ ghi chép bận rộn; Data Warehouse = thư viện ngăn nắp để đọc &amp; phân tích.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31520" y="4992624"/>
            <a:ext cx="109270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60120" y="511149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56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Trong đồ án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520440" y="5084064"/>
            <a:ext cx="7955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tạo database tên coffeeshop_dw trên SQL Server, theo mô hình Star Schema.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6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ĐẶC ĐIỂM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đặc điểm của Data Warehouse (Bill Inmon)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1 · Nền tảng lý thuyết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52120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87552" y="1901952"/>
            <a:ext cx="502920" cy="502920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9" name="Text 7"/>
          <p:cNvSpPr/>
          <p:nvPr/>
        </p:nvSpPr>
        <p:spPr>
          <a:xfrm>
            <a:off x="987552" y="18836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45920" y="1874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Subject-Oriented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645920" y="222199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chủ đề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265176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 chức theo chủ đề kinh doanh (bán hàng, khách hàng) thay vì theo chức năng app.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1645920"/>
            <a:ext cx="5212080" cy="1874520"/>
          </a:xfrm>
          <a:prstGeom prst="roundRect">
            <a:avLst>
              <a:gd name="adj" fmla="val 3902"/>
            </a:avLst>
          </a:prstGeom>
          <a:solidFill>
            <a:srgbClr val="FBF6E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19672" y="1901952"/>
            <a:ext cx="502920" cy="502920"/>
          </a:xfrm>
          <a:prstGeom prst="ellipse">
            <a:avLst/>
          </a:prstGeom>
          <a:solidFill>
            <a:srgbClr val="2F7E7C"/>
          </a:solidFill>
          <a:ln/>
        </p:spPr>
      </p:sp>
      <p:sp>
        <p:nvSpPr>
          <p:cNvPr id="15" name="Text 13"/>
          <p:cNvSpPr/>
          <p:nvPr/>
        </p:nvSpPr>
        <p:spPr>
          <a:xfrm>
            <a:off x="6519672" y="18836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178040" y="1874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Integrated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7178040" y="222199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hợp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37960" y="265176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Gom &amp; thống nhất dữ liệu từ nhiều nguồn về một định dạng chuẩn (vd: đơn vị tiền, mã sản phẩm).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31520" y="3703320"/>
            <a:ext cx="52120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87552" y="3959352"/>
            <a:ext cx="502920" cy="502920"/>
          </a:xfrm>
          <a:prstGeom prst="ellipse">
            <a:avLst/>
          </a:prstGeom>
          <a:solidFill>
            <a:srgbClr val="5A3A22"/>
          </a:solidFill>
          <a:ln/>
        </p:spPr>
      </p:sp>
      <p:sp>
        <p:nvSpPr>
          <p:cNvPr id="21" name="Text 19"/>
          <p:cNvSpPr/>
          <p:nvPr/>
        </p:nvSpPr>
        <p:spPr>
          <a:xfrm>
            <a:off x="987552" y="39410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45920" y="39319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Time-Variant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645920" y="427939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Biến thiên theo thời gian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05840" y="470916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lịch sử nhiều năm để so sánh xu hướng theo thời gian (tháng này vs cùng kỳ).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263640" y="3703320"/>
            <a:ext cx="5212080" cy="1874520"/>
          </a:xfrm>
          <a:prstGeom prst="roundRect">
            <a:avLst>
              <a:gd name="adj" fmla="val 3902"/>
            </a:avLst>
          </a:prstGeom>
          <a:solidFill>
            <a:srgbClr val="FBF6E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519672" y="3959352"/>
            <a:ext cx="502920" cy="502920"/>
          </a:xfrm>
          <a:prstGeom prst="ellipse">
            <a:avLst/>
          </a:prstGeom>
          <a:solidFill>
            <a:srgbClr val="A5673A"/>
          </a:solidFill>
          <a:ln/>
        </p:spPr>
      </p:sp>
      <p:sp>
        <p:nvSpPr>
          <p:cNvPr id="27" name="Text 25"/>
          <p:cNvSpPr/>
          <p:nvPr/>
        </p:nvSpPr>
        <p:spPr>
          <a:xfrm>
            <a:off x="6519672" y="39410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178040" y="39319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Non-Volatile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7178040" y="427939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Ổn định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537960" y="470916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đã nạp thì không sửa/xóa liên tục — chỉ đọc và thêm mới, đảm bảo nhất quán báo cáo.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6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Bức tranh tổng thể: từ App đến Dashboard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1 · Nền tảng lý thuyết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286000"/>
            <a:ext cx="24688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5A3A2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286000"/>
            <a:ext cx="2468880" cy="457200"/>
          </a:xfrm>
          <a:prstGeom prst="rect">
            <a:avLst/>
          </a:prstGeom>
          <a:solidFill>
            <a:srgbClr val="5A3A2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286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 dữ liệu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834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OLTP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32918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app cà phê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(SQL Server)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090672" y="2286000"/>
            <a:ext cx="457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3520440" y="2286000"/>
            <a:ext cx="24688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A567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520440" y="2286000"/>
            <a:ext cx="2468880" cy="457200"/>
          </a:xfrm>
          <a:prstGeom prst="rect">
            <a:avLst/>
          </a:prstGeom>
          <a:solidFill>
            <a:srgbClr val="A5673A"/>
          </a:solidFill>
          <a:ln/>
        </p:spPr>
      </p:sp>
      <p:sp>
        <p:nvSpPr>
          <p:cNvPr id="15" name="Text 13"/>
          <p:cNvSpPr/>
          <p:nvPr/>
        </p:nvSpPr>
        <p:spPr>
          <a:xfrm>
            <a:off x="3520440" y="2286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Trích &amp; biến đổi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20440" y="2834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56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611880" y="32918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 extract,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transform, load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971032" y="2286000"/>
            <a:ext cx="457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6400800" y="2286000"/>
            <a:ext cx="24688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24646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0" y="2286000"/>
            <a:ext cx="2468880" cy="457200"/>
          </a:xfrm>
          <a:prstGeom prst="rect">
            <a:avLst/>
          </a:prstGeom>
          <a:solidFill>
            <a:srgbClr val="246462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2286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 phân tích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0" y="2834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64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Warehouse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92240" y="32918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(coffeeshop_dw)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851392" y="2286000"/>
            <a:ext cx="457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25" name="Shape 23"/>
          <p:cNvSpPr/>
          <p:nvPr/>
        </p:nvSpPr>
        <p:spPr>
          <a:xfrm>
            <a:off x="9281160" y="2286000"/>
            <a:ext cx="24688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2A1A0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281160" y="2286000"/>
            <a:ext cx="2468880" cy="457200"/>
          </a:xfrm>
          <a:prstGeom prst="rect">
            <a:avLst/>
          </a:prstGeom>
          <a:solidFill>
            <a:srgbClr val="2A1A0F"/>
          </a:solidFill>
          <a:ln/>
        </p:spPr>
      </p:sp>
      <p:sp>
        <p:nvSpPr>
          <p:cNvPr id="27" name="Text 25"/>
          <p:cNvSpPr/>
          <p:nvPr/>
        </p:nvSpPr>
        <p:spPr>
          <a:xfrm>
            <a:off x="9281160" y="2286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Trực quan hóa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281160" y="2834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1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372600" y="32918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KPI, charts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31520" y="4754880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3 xây khối Data Warehouse · Phần 4 xây khối ETL · Phần 5 xây khối Power BI.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731520" y="5212080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mũi tên = một lần dữ liệu “chảy” và được biến đổi để ngày càng sẵn sàng cho phân tích.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6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TẦNG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Các tầng dữ liệu trong một Data Warehouse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1 · Nền tảng lý thuyết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691640"/>
            <a:ext cx="10927080" cy="1143000"/>
          </a:xfrm>
          <a:prstGeom prst="roundRect">
            <a:avLst>
              <a:gd name="adj" fmla="val 6400"/>
            </a:avLst>
          </a:prstGeom>
          <a:solidFill>
            <a:srgbClr val="FBF6E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60120" y="1993392"/>
            <a:ext cx="548640" cy="548640"/>
          </a:xfrm>
          <a:prstGeom prst="ellipse">
            <a:avLst/>
          </a:prstGeom>
          <a:solidFill>
            <a:srgbClr val="A5673A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9751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737360" y="18745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Staging (tạm)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94960" y="187452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Vùng đệm chứa dữ liệu thô vừa lấy từ app, CHƯA làm sạch. Giống “bàn sơ chế”.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017520"/>
            <a:ext cx="10927080" cy="1143000"/>
          </a:xfrm>
          <a:prstGeom prst="roundRect">
            <a:avLst>
              <a:gd name="adj" fmla="val 6400"/>
            </a:avLst>
          </a:prstGeom>
          <a:solidFill>
            <a:srgbClr val="F2E7D6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60120" y="3319272"/>
            <a:ext cx="548640" cy="548640"/>
          </a:xfrm>
          <a:prstGeom prst="ellipse">
            <a:avLst/>
          </a:prstGeom>
          <a:solidFill>
            <a:srgbClr val="246462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33009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737360" y="32004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Warehouse (kho lõi)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394960" y="320040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đã làm sạch, tổ chức theo Star Schema. Đây là phần chính ta xây.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4343400"/>
            <a:ext cx="10927080" cy="1143000"/>
          </a:xfrm>
          <a:prstGeom prst="roundRect">
            <a:avLst>
              <a:gd name="adj" fmla="val 6400"/>
            </a:avLst>
          </a:prstGeom>
          <a:solidFill>
            <a:srgbClr val="FBF6E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60120" y="4645152"/>
            <a:ext cx="548640" cy="548640"/>
          </a:xfrm>
          <a:prstGeom prst="ellipse">
            <a:avLst/>
          </a:prstGeom>
          <a:solidFill>
            <a:srgbClr val="5A3A22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46268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737360" y="4526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Mart (kệ chuyên đề)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94960" y="452628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kho nhỏ phục vụ một bộ phận (vd: chỉ doanh thu) để báo cáo nhanh hơn.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" y="5715000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Trong đồ án sinh viên, ta tập trung vào tầng Warehouse (Star Schema). Staging có thể đơn giản là DataFrame trong Python khi chạy ETL.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6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VỰNG CỐT LÕI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 và Dimension — trái tim của Data Warehouse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1 · Nền tảng lý thuyết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600200"/>
            <a:ext cx="544068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60120" y="1828800"/>
            <a:ext cx="640080" cy="640080"/>
          </a:xfrm>
          <a:prstGeom prst="ellipse">
            <a:avLst/>
          </a:prstGeom>
          <a:solidFill>
            <a:srgbClr val="2F7E7C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8105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737360" y="18745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64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 TABLE — Bảng sự kiện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2606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Chứa các CON SỐ đo lường được (measures) — “bao nhiêu?”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3108960"/>
            <a:ext cx="5029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dòng = một sự kiện (1 sản phẩm trong 1 giao dịch).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Cột số: quantity, unit_price, total_amount.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Rất NHIỀU dòng (hàng trăm nghìn → triệu).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Chứa các khóa ngoại (FK) trỏ tới Dimension.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1600200"/>
            <a:ext cx="5257800" cy="4160520"/>
          </a:xfrm>
          <a:prstGeom prst="roundRect">
            <a:avLst>
              <a:gd name="adj" fmla="val 1758"/>
            </a:avLst>
          </a:prstGeom>
          <a:solidFill>
            <a:srgbClr val="FBF6E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629400" y="1828800"/>
            <a:ext cx="640080" cy="640080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15" name="Text 13"/>
          <p:cNvSpPr/>
          <p:nvPr/>
        </p:nvSpPr>
        <p:spPr>
          <a:xfrm>
            <a:off x="6629400" y="18105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406640" y="18745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56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DIMENSION — Bảng chiều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29400" y="26060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Chứa NGỮ CẢNH mô tả — “ai, cái gì, khi nào, ở đâu?”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29400" y="3108960"/>
            <a:ext cx="4846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dòng = một đối tượng (1 sản phẩm, 1 ngày, 1 chi nhánh).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Cột mô tả: tên sản phẩm, nhóm hàng, tháng, quý, địa điểm.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Ít dòng hơn nhiều, nhưng nhiều cột mô tả.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để LỌC và GOM NHÓM dữ liệu trong Fact.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6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ĐÀO SÂU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 Table — bảng sự kiện chi tiết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1 · Nền tảng lý thuyết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5544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5A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thần chú: “Fact = động từ (đã bán) · Dimension = trả lời câu hỏi quanh động từ đó.”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194560"/>
            <a:ext cx="3840480" cy="219456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9050">
            <a:solidFill>
              <a:srgbClr val="24646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212848"/>
            <a:ext cx="3840480" cy="329184"/>
          </a:xfrm>
          <a:prstGeom prst="rect">
            <a:avLst/>
          </a:prstGeom>
          <a:solidFill>
            <a:srgbClr val="246462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21284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FactSales (ví dụ)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41248" y="2560320"/>
            <a:ext cx="36576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A567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</a:t>
            </a:r>
            <a:pPr algn="l" indent="0" marL="0">
              <a:buNone/>
            </a:pPr>
            <a:r>
              <a:rPr lang="en-US" sz="9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sales_key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41248" y="2784348"/>
            <a:ext cx="36576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F7E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</a:t>
            </a:r>
            <a:pPr algn="l" indent="0" marL="0">
              <a:buNone/>
            </a:pPr>
            <a:r>
              <a:rPr lang="en-US" sz="950" i="1" dirty="0">
                <a:solidFill>
                  <a:srgbClr val="246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date_key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41248" y="3008376"/>
            <a:ext cx="36576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F7E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</a:t>
            </a:r>
            <a:pPr algn="l" indent="0" marL="0">
              <a:buNone/>
            </a:pPr>
            <a:r>
              <a:rPr lang="en-US" sz="950" i="1" dirty="0">
                <a:solidFill>
                  <a:srgbClr val="246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time_key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41248" y="3232404"/>
            <a:ext cx="36576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F7E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</a:t>
            </a:r>
            <a:pPr algn="l" indent="0" marL="0">
              <a:buNone/>
            </a:pPr>
            <a:r>
              <a:rPr lang="en-US" sz="950" i="1" dirty="0">
                <a:solidFill>
                  <a:srgbClr val="246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product_key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41248" y="3456432"/>
            <a:ext cx="36576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F7E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</a:t>
            </a:r>
            <a:pPr algn="l" indent="0" marL="0">
              <a:buNone/>
            </a:pPr>
            <a:r>
              <a:rPr lang="en-US" sz="950" i="1" dirty="0">
                <a:solidFill>
                  <a:srgbClr val="246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store_key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41248" y="3680460"/>
            <a:ext cx="36576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  (measure)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41248" y="3904488"/>
            <a:ext cx="36576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unit_price (measure)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41248" y="4128516"/>
            <a:ext cx="36576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total_amount (measure)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937760" y="2194560"/>
            <a:ext cx="672084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166360" y="23774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64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Hai loại cột trong Fact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166360" y="2788920"/>
            <a:ext cx="6263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5A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Khóa ngoại (Foreign Keys): nối tới các Dimension — cho biết sự kiện này thuộc ngày nào, sản phẩm nào, chi nhánh nào.</a:t>
            </a:r>
            <a:endParaRPr lang="en-US" sz="1300" dirty="0"/>
          </a:p>
          <a:p>
            <a:pPr lvl="1" marL="4064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date_key, time_key, product_key, store_key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5A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đo (Measures): các con số ta sẽ cộng/đếm/trung bình khi phân tích.</a:t>
            </a:r>
            <a:endParaRPr lang="en-US" sz="1300" dirty="0"/>
          </a:p>
          <a:p>
            <a:pPr lvl="1" marL="4064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(số ly), unit_price (đơn giá), total_amount (thành tiền)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166360" y="5074920"/>
            <a:ext cx="6263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 (độ hạt): 1 dòng Fact = 1 dòng sản phẩm trong 1 hóa đơn. Đây là quyết định thiết kế quan trọng nhất.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6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ĐÀO SÂU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Dimension Table — bảng chiều mô tả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1 · Nền tảng lý thuyết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600200"/>
            <a:ext cx="658368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178308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56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Vì sao Dimension quan trọng?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2194560"/>
            <a:ext cx="61264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Mọi câu hỏi “theo …” đều dựa vào Dimension: doanh thu THEO THÁNG (DimDate), THEO SẢN PHẨM (DimProduct), THEO CHI NHÁNH (DimStore).</a:t>
            </a:r>
            <a:endParaRPr lang="en-US" sz="128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 cung cấp các cột mô tả đẹp để hiển thị trên dashboard (tên tháng, tên nhóm hàng).</a:t>
            </a:r>
            <a:endParaRPr lang="en-US" sz="128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DimDate là “ngôi sao” đặc biệt: gần như Data Warehouse nào cũng có, giúp phân tích theo thời gian (YTD, cùng kỳ…).</a:t>
            </a:r>
            <a:endParaRPr lang="en-US" sz="128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80" b="1" dirty="0">
                <a:solidFill>
                  <a:srgbClr val="5A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Bốn Dimension của đồ án: DimDate, DimTime, DimProduct, DimStore.</a:t>
            </a:r>
            <a:endParaRPr lang="en-US" sz="1280" dirty="0"/>
          </a:p>
        </p:txBody>
      </p:sp>
      <p:sp>
        <p:nvSpPr>
          <p:cNvPr id="10" name="Shape 8"/>
          <p:cNvSpPr/>
          <p:nvPr/>
        </p:nvSpPr>
        <p:spPr>
          <a:xfrm>
            <a:off x="7589520" y="2103120"/>
            <a:ext cx="4023360" cy="1746504"/>
          </a:xfrm>
          <a:prstGeom prst="roundRect">
            <a:avLst>
              <a:gd name="adj" fmla="val 2618"/>
            </a:avLst>
          </a:prstGeom>
          <a:solidFill>
            <a:srgbClr val="FFFFFF"/>
          </a:solidFill>
          <a:ln w="19050">
            <a:solidFill>
              <a:srgbClr val="A567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589520" y="2121408"/>
            <a:ext cx="4023360" cy="329184"/>
          </a:xfrm>
          <a:prstGeom prst="rect">
            <a:avLst/>
          </a:prstGeom>
          <a:solidFill>
            <a:srgbClr val="A5673A"/>
          </a:solidFill>
          <a:ln/>
        </p:spPr>
      </p:sp>
      <p:sp>
        <p:nvSpPr>
          <p:cNvPr id="12" name="Text 10"/>
          <p:cNvSpPr/>
          <p:nvPr/>
        </p:nvSpPr>
        <p:spPr>
          <a:xfrm>
            <a:off x="7589520" y="212140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DimProduct (ví dụ)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699248" y="2468880"/>
            <a:ext cx="384048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A567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</a:t>
            </a:r>
            <a:pPr algn="l" indent="0" marL="0">
              <a:buNone/>
            </a:pPr>
            <a:r>
              <a:rPr lang="en-US" sz="9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product_key (surrogate)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699248" y="2692908"/>
            <a:ext cx="384048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product_id (natural key)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699248" y="2916936"/>
            <a:ext cx="384048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product_category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699248" y="3140964"/>
            <a:ext cx="384048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product_type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699248" y="3364992"/>
            <a:ext cx="384048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product_detail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699248" y="3589020"/>
            <a:ext cx="384048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unit_price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6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 Schema — sơ đồ hình ngôi sao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1 · Nền tảng lý thuyết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Fact ở giữa, các Dimension vây quanh như cánh sao → JOIN đơn giản, truy vấn nhanh.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 flipV="1">
            <a:off x="5989320" y="2423160"/>
            <a:ext cx="0" cy="1463040"/>
          </a:xfrm>
          <a:prstGeom prst="line">
            <a:avLst/>
          </a:prstGeom>
          <a:noFill/>
          <a:ln w="19050">
            <a:solidFill>
              <a:srgbClr val="C087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 flipV="1">
            <a:off x="2286000" y="3703320"/>
            <a:ext cx="3703320" cy="182880"/>
          </a:xfrm>
          <a:prstGeom prst="line">
            <a:avLst/>
          </a:prstGeom>
          <a:noFill/>
          <a:ln w="19050">
            <a:solidFill>
              <a:srgbClr val="C087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5989320" y="3703320"/>
            <a:ext cx="3611880" cy="182880"/>
          </a:xfrm>
          <a:prstGeom prst="line">
            <a:avLst/>
          </a:prstGeom>
          <a:noFill/>
          <a:ln w="19050">
            <a:solidFill>
              <a:srgbClr val="C087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89320" y="3886200"/>
            <a:ext cx="0" cy="1645920"/>
          </a:xfrm>
          <a:prstGeom prst="line">
            <a:avLst/>
          </a:prstGeom>
          <a:noFill/>
          <a:ln w="19050">
            <a:solidFill>
              <a:srgbClr val="C0875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83480" y="338328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246462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83480" y="33832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FactSales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83480" y="38862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(measures)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74920" y="210312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C0875A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74920" y="21031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DimDate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1371600" y="338328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C0875A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371600" y="33832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DimTime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686800" y="338328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C0875A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686800" y="33832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DimProduct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074920" y="521208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C0875A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74920" y="52120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DimStore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731520" y="5806440"/>
            <a:ext cx="10927080" cy="0"/>
          </a:xfrm>
          <a:prstGeom prst="roundRect">
            <a:avLst>
              <a:gd name="adj" fmla="val Infinity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6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SÁNH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 Schema vs Snowflake Schema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1 · Nền tảng lý thuyết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5440680" cy="4023360"/>
          </a:xfrm>
          <a:prstGeom prst="roundRect">
            <a:avLst>
              <a:gd name="adj" fmla="val 1818"/>
            </a:avLst>
          </a:prstGeom>
          <a:solidFill>
            <a:srgbClr val="FBF6E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18288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56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⭐  Star Schema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2286000"/>
            <a:ext cx="5029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 để “phẳng” (denormalized), không tách nhỏ thêm.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Ít bảng, JOIN ít → truy vấn nhanh, dễ hiểu.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Hơi dư thừa dữ liệu một chút — chấp nhận được.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5A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rất thích mô hình này.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246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Nhóm CHỌN Star Schema cho đồ án.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0" y="1645920"/>
            <a:ext cx="52578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29400" y="18288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64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❄  Snowflake Schema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629400" y="228600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 được tách nhỏ tiếp (normalized) thành nhiều bảng con.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VD: DimProduct → tách thêm bảng Category riêng.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Tiết kiệm dung lượng nhưng JOIN nhiều hơn → chậm &amp; phức tạp hơn.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Phù hợp kho rất lớn, đội ngũ chuyên nghiệp.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i="1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Quá phức tạp cho phạm vi đồ án.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6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THUẬT NGỮ CẦN NHỚ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Grain · Surrogate Key · Loại Measure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1 · Nền tảng lý thuyết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691640"/>
            <a:ext cx="109270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60120" y="1938528"/>
            <a:ext cx="2331720" cy="640080"/>
          </a:xfrm>
          <a:prstGeom prst="roundRect">
            <a:avLst>
              <a:gd name="adj" fmla="val 8571"/>
            </a:avLst>
          </a:prstGeom>
          <a:solidFill>
            <a:srgbClr val="C0875A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93852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Grain (độ hạt)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66160" y="1856232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Mức chi tiết của 1 dòng Fact. Đồ án: 1 dòng = 1 sản phẩm trong 1 hóa đơn. Phải xác định ĐẦU TIÊN khi thiết kế.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017520"/>
            <a:ext cx="10927080" cy="1143000"/>
          </a:xfrm>
          <a:prstGeom prst="roundRect">
            <a:avLst>
              <a:gd name="adj" fmla="val 6400"/>
            </a:avLst>
          </a:prstGeom>
          <a:solidFill>
            <a:srgbClr val="FBF6E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60120" y="3264408"/>
            <a:ext cx="2331720" cy="640080"/>
          </a:xfrm>
          <a:prstGeom prst="roundRect">
            <a:avLst>
              <a:gd name="adj" fmla="val 8571"/>
            </a:avLst>
          </a:prstGeom>
          <a:solidFill>
            <a:srgbClr val="2F7E7C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326440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Surrogate Key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66160" y="3182112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Khóa thay thế do kho TỰ sinh (1,2,3…) làm PK cho Dimension, thay vì dùng mã gốc từ app (natural key). Ổn định &amp; nhanh hơn.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4343400"/>
            <a:ext cx="109270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60120" y="4590288"/>
            <a:ext cx="2331720" cy="640080"/>
          </a:xfrm>
          <a:prstGeom prst="roundRect">
            <a:avLst>
              <a:gd name="adj" fmla="val 8571"/>
            </a:avLst>
          </a:prstGeom>
          <a:solidFill>
            <a:srgbClr val="5A3A22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459028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Loại Measure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566160" y="4507992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Additive: cộng được theo mọi chiều (quantity, total_amount). Non/Semi-additive: không cộng tùy tiện (vd: đơn giá, % — phải AVG).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A1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4754880" cy="4754880"/>
          </a:xfrm>
          <a:prstGeom prst="ellipse">
            <a:avLst/>
          </a:prstGeom>
          <a:solidFill>
            <a:srgbClr val="3A2618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3291840" cy="3291840"/>
          </a:xfrm>
          <a:prstGeom prst="ellipse">
            <a:avLst/>
          </a:prstGeom>
          <a:solidFill>
            <a:srgbClr val="3A261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8686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Bài toán &amp; Dữ liệu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3832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8C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dữ liệu thật để xây kho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114800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8D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Chuỗi cà phê Maven Roasters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8D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Coffee Shop Sales (~149.000 dòng)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8D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định Fact, Dimension, Grain &amp; KPI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3246120"/>
            <a:ext cx="2011680" cy="0"/>
          </a:xfrm>
          <a:prstGeom prst="line">
            <a:avLst/>
          </a:prstGeom>
          <a:noFill/>
          <a:ln w="31750">
            <a:solidFill>
              <a:srgbClr val="C087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2 · Bài toán &amp; Dữ liệu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6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TÀI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Chuỗi cà phê Maven Roasters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2 · Bài toán &amp; Dữ liệu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600200"/>
            <a:ext cx="6126480" cy="4160520"/>
          </a:xfrm>
          <a:prstGeom prst="roundRect">
            <a:avLst>
              <a:gd name="adj" fmla="val 1758"/>
            </a:avLst>
          </a:prstGeom>
          <a:solidFill>
            <a:srgbClr val="FBF6E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17830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56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Câu chuyện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2240280"/>
            <a:ext cx="5669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Roasters là chuỗi cà phê (giả định mô phỏng) có 3 chi nhánh tại New York.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Bán cà phê, trà, bánh, sô-cô-la, cà phê hạt… cho khách mua mang đi.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POS ghi lại từng dòng sản phẩm trong mỗi hóa đơn, kèm ngày–giờ và chi nhánh.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b="1" dirty="0">
                <a:solidFill>
                  <a:srgbClr val="5A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Đây là dataset CÔNG KHAI rất nổi tiếng để học Data Warehouse &amp; Power BI.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17804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64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chi nhánh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040880" y="2240280"/>
            <a:ext cx="46177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269480" y="2487168"/>
            <a:ext cx="457200" cy="457200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13" name="Text 11"/>
          <p:cNvSpPr/>
          <p:nvPr/>
        </p:nvSpPr>
        <p:spPr>
          <a:xfrm>
            <a:off x="7909560" y="2386584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Lower Manhattan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909560" y="27706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#5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040880" y="3383280"/>
            <a:ext cx="46177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269480" y="3630168"/>
            <a:ext cx="457200" cy="457200"/>
          </a:xfrm>
          <a:prstGeom prst="ellipse">
            <a:avLst/>
          </a:prstGeom>
          <a:solidFill>
            <a:srgbClr val="2F7E7C"/>
          </a:solidFill>
          <a:ln/>
        </p:spPr>
      </p:sp>
      <p:sp>
        <p:nvSpPr>
          <p:cNvPr id="17" name="Text 15"/>
          <p:cNvSpPr/>
          <p:nvPr/>
        </p:nvSpPr>
        <p:spPr>
          <a:xfrm>
            <a:off x="7909560" y="3529584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Hell's Kitchen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909560" y="39136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#8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040880" y="4526280"/>
            <a:ext cx="46177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269480" y="4773168"/>
            <a:ext cx="457200" cy="457200"/>
          </a:xfrm>
          <a:prstGeom prst="ellipse">
            <a:avLst/>
          </a:prstGeom>
          <a:solidFill>
            <a:srgbClr val="5A3A22"/>
          </a:solidFill>
          <a:ln/>
        </p:spPr>
      </p:sp>
      <p:sp>
        <p:nvSpPr>
          <p:cNvPr id="21" name="Text 19"/>
          <p:cNvSpPr/>
          <p:nvPr/>
        </p:nvSpPr>
        <p:spPr>
          <a:xfrm>
            <a:off x="7909560" y="4672584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Astoria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909560" y="50566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#3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6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Dataset: Coffee Shop Sales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2 · Bài toán &amp; Dữ liệu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60020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17830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8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~149.000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822960" y="24688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dòng giao dịch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520440" y="160020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11880" y="17830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F7E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611880" y="24688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nhánh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0" y="160020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0" y="17830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tháng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400800" y="24688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01–06/2023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098280" y="160020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89720" y="17830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56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~$699K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189720" y="24688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doanh thu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3337560"/>
            <a:ext cx="10927080" cy="2423160"/>
          </a:xfrm>
          <a:prstGeom prst="roundRect">
            <a:avLst>
              <a:gd name="adj" fmla="val 3019"/>
            </a:avLst>
          </a:prstGeom>
          <a:solidFill>
            <a:srgbClr val="FBF6E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60120" y="3520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56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Nguồn &amp; đặc điểm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60120" y="3931920"/>
            <a:ext cx="10424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Nguồn: Maven Analytics (mục Data Playground) — tải miễn phí dạng Excel/CSV; cũng có trên Kaggle với tên “Coffee Shop Sales”.</a:t>
            </a:r>
            <a:endParaRPr lang="en-US" sz="128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 dạng: một bảng phẳng (flat table) — mỗi dòng là một sản phẩm trong một giao dịch.</a:t>
            </a:r>
            <a:endParaRPr lang="en-US" sz="128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Vì sao chọn: dữ liệu sạch, đủ lớn để thấy xu hướng, có sẵn thời gian/sản phẩm/chi nhánh → hợp hoàn hảo với Star Schema.</a:t>
            </a:r>
            <a:endParaRPr lang="en-US" sz="128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Trong đồ án: ta sẽ nạp dataset này vào DB OLTP mô phỏng, rồi ETL sang Data Warehouse.</a:t>
            </a:r>
            <a:endParaRPr lang="en-US" sz="128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6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ĐIỂN DỮ LIỆU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Các cột trong dataset (Data Dictionary)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2 · Bài toán &amp; Dữ liệu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9270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828800"/>
                <a:gridCol w="617220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Cột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A0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Kiểu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A0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Ý nghĩa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A0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transaction_id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Mã hóa đơn (có thể lặp nếu 1 hóa đơn nhiều sản phẩm)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transaction_date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Ngày giao dịch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transaction_time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Giờ giao dịch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transaction_qty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Số lượng sản phẩm bán trong dòng này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store_id / store_location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 / text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Mã &amp; tên chi nhánh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product_id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Mã sản phẩm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unit_price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decimal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Đơn giá một sản phẩm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product_category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Nhóm hàng: Coffee, Tea, Bakery…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product_type / product_detail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Loại &amp; mô tả chi tiết sản phẩm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731520" y="5806440"/>
            <a:ext cx="10927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cột gốc này sẽ được “tách” thành 1 Fact + 4 Dimension ở phần thiết kế kho.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6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MẪU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Vài dòng dữ liệu thật trông như thế nào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2 · Bài toán &amp; Dữ liệu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91640"/>
          <a:ext cx="1092708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234440"/>
                <a:gridCol w="1005840"/>
                <a:gridCol w="731520"/>
                <a:gridCol w="1417320"/>
                <a:gridCol w="2377440"/>
                <a:gridCol w="960120"/>
                <a:gridCol w="20574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trans_id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64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date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64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time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64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qty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64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store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64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product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64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price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64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category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646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01/01/23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07:06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Astoria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Brewed Chai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01/01/23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07:08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Astoria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Coffee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01/01/23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07:14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Astoria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Croissant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Bakery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01/01/23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07:20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Astoria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 Chocolate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Drinking Chocolate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01/01/23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07:22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Astoria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Espresso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Coffee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31520" y="4572000"/>
            <a:ext cx="10927080" cy="1188720"/>
          </a:xfrm>
          <a:prstGeom prst="roundRect">
            <a:avLst>
              <a:gd name="adj" fmla="val 6154"/>
            </a:avLst>
          </a:prstGeom>
          <a:solidFill>
            <a:srgbClr val="FBF6E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60120" y="47091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56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 sát quan trọng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960120" y="502920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dòng đã trộn lẫn cả số đo (qty, price) lẫn mô tả (store, product, category) — đây chính là lý do cần tách ra Fact &amp; Dimension.</a:t>
            </a:r>
            <a:endParaRPr lang="en-US" sz="12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thành tiền = qty × unit_price (vd dòng 2: 2 × 4.50 = 9.00) → ta sẽ tính sẵn cột total_amount trong Fact.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6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 PHÂN TÍCH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sẽ trả lời những câu hỏi gì?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2 · Bài toán &amp; Dữ liệu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34747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87552" y="2011680"/>
            <a:ext cx="640080" cy="640080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9" name="Text 7"/>
          <p:cNvSpPr/>
          <p:nvPr/>
        </p:nvSpPr>
        <p:spPr>
          <a:xfrm>
            <a:off x="987552" y="19933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783080" y="2103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Doanh thu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269748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doanh thu &amp; xu hướng theo tháng?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434840" y="1737360"/>
            <a:ext cx="34747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90872" y="2011680"/>
            <a:ext cx="640080" cy="640080"/>
          </a:xfrm>
          <a:prstGeom prst="ellipse">
            <a:avLst/>
          </a:prstGeom>
          <a:solidFill>
            <a:srgbClr val="2F7E7C"/>
          </a:solidFill>
          <a:ln/>
        </p:spPr>
      </p:sp>
      <p:sp>
        <p:nvSpPr>
          <p:cNvPr id="14" name="Text 12"/>
          <p:cNvSpPr/>
          <p:nvPr/>
        </p:nvSpPr>
        <p:spPr>
          <a:xfrm>
            <a:off x="4690872" y="19933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486400" y="2103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Sản phẩm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709160" y="269748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Nhóm/loại sản phẩm nào bán chạy nhất?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38160" y="1737360"/>
            <a:ext cx="34747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94192" y="2011680"/>
            <a:ext cx="640080" cy="640080"/>
          </a:xfrm>
          <a:prstGeom prst="ellipse">
            <a:avLst/>
          </a:prstGeom>
          <a:solidFill>
            <a:srgbClr val="5A3A22"/>
          </a:solidFill>
          <a:ln/>
        </p:spPr>
      </p:sp>
      <p:sp>
        <p:nvSpPr>
          <p:cNvPr id="19" name="Text 17"/>
          <p:cNvSpPr/>
          <p:nvPr/>
        </p:nvSpPr>
        <p:spPr>
          <a:xfrm>
            <a:off x="8394192" y="19933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189720" y="2103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 nhánh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412480" y="269748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nhánh nào doanh thu cao nhất?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31520" y="3657600"/>
            <a:ext cx="34747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87552" y="3931920"/>
            <a:ext cx="640080" cy="640080"/>
          </a:xfrm>
          <a:prstGeom prst="ellipse">
            <a:avLst/>
          </a:prstGeom>
          <a:solidFill>
            <a:srgbClr val="A5673A"/>
          </a:solidFill>
          <a:ln/>
        </p:spPr>
      </p:sp>
      <p:sp>
        <p:nvSpPr>
          <p:cNvPr id="24" name="Text 22"/>
          <p:cNvSpPr/>
          <p:nvPr/>
        </p:nvSpPr>
        <p:spPr>
          <a:xfrm>
            <a:off x="987552" y="39136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783080" y="4023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Thời gian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05840" y="461772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Giờ nào, thứ mấy là cao điểm?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434840" y="3657600"/>
            <a:ext cx="34747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90872" y="3931920"/>
            <a:ext cx="640080" cy="640080"/>
          </a:xfrm>
          <a:prstGeom prst="ellipse">
            <a:avLst/>
          </a:prstGeom>
          <a:solidFill>
            <a:srgbClr val="246462"/>
          </a:solidFill>
          <a:ln/>
        </p:spPr>
      </p:sp>
      <p:sp>
        <p:nvSpPr>
          <p:cNvPr id="29" name="Text 27"/>
          <p:cNvSpPr/>
          <p:nvPr/>
        </p:nvSpPr>
        <p:spPr>
          <a:xfrm>
            <a:off x="4690872" y="39136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486400" y="4023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Đơn hàng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709160" y="461772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Bao nhiêu đơn, giá trị TB mỗi đơn?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138160" y="3657600"/>
            <a:ext cx="34747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394192" y="3931920"/>
            <a:ext cx="640080" cy="640080"/>
          </a:xfrm>
          <a:prstGeom prst="ellipse">
            <a:avLst/>
          </a:prstGeom>
          <a:solidFill>
            <a:srgbClr val="7A5A3A"/>
          </a:solidFill>
          <a:ln/>
        </p:spPr>
      </p:sp>
      <p:sp>
        <p:nvSpPr>
          <p:cNvPr id="34" name="Text 32"/>
          <p:cNvSpPr/>
          <p:nvPr/>
        </p:nvSpPr>
        <p:spPr>
          <a:xfrm>
            <a:off x="8394192" y="39136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9189720" y="4023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Tăng trưởng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412480" y="461772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Tháng này tăng/giảm so tháng trước?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6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TƯ DUY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Từ dataset → đâu là Fact, đâu là Dimension?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2 · Bài toán &amp; Dữ liệu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5A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Mẹo: cột nào ĐO ĐƯỢC &amp; cộng được → Fact. Cột nào MÔ TẢ / dùng để lọc-nhóm → Dimension.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103120"/>
            <a:ext cx="10927080" cy="658368"/>
          </a:xfrm>
          <a:prstGeom prst="roundRect">
            <a:avLst>
              <a:gd name="adj" fmla="val 11111"/>
            </a:avLst>
          </a:prstGeom>
          <a:solidFill>
            <a:srgbClr val="F2E7D6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210312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0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transaction_qty, unit_price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577840" y="210312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Measures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0" y="2221992"/>
            <a:ext cx="3200400" cy="420624"/>
          </a:xfrm>
          <a:prstGeom prst="roundRect">
            <a:avLst>
              <a:gd name="adj" fmla="val 13043"/>
            </a:avLst>
          </a:prstGeom>
          <a:solidFill>
            <a:srgbClr val="246462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0" y="2221992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FactSales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2871216"/>
            <a:ext cx="109270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60120" y="2871216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0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transaction_date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577840" y="2871216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chiều thời gian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0" y="2990088"/>
            <a:ext cx="3200400" cy="420624"/>
          </a:xfrm>
          <a:prstGeom prst="roundRect">
            <a:avLst>
              <a:gd name="adj" fmla="val 13043"/>
            </a:avLst>
          </a:prstGeom>
          <a:solidFill>
            <a:srgbClr val="A5673A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0" y="2990088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DimDate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" y="3639312"/>
            <a:ext cx="109270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60120" y="3639312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0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transaction_time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577840" y="363931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chiều giờ trong ngày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229600" y="3758184"/>
            <a:ext cx="3200400" cy="420624"/>
          </a:xfrm>
          <a:prstGeom prst="roundRect">
            <a:avLst>
              <a:gd name="adj" fmla="val 13043"/>
            </a:avLst>
          </a:prstGeom>
          <a:solidFill>
            <a:srgbClr val="A5673A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0" y="3758184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DimTime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31520" y="4407408"/>
            <a:ext cx="109270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60120" y="4407408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0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product_id, category, type…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577840" y="440740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chiều sản phẩm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229600" y="4526280"/>
            <a:ext cx="3200400" cy="420624"/>
          </a:xfrm>
          <a:prstGeom prst="roundRect">
            <a:avLst>
              <a:gd name="adj" fmla="val 13043"/>
            </a:avLst>
          </a:prstGeom>
          <a:solidFill>
            <a:srgbClr val="A5673A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0" y="4526280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DimProduct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31520" y="5175504"/>
            <a:ext cx="109270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60120" y="5175504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0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store_id, store_location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577840" y="5175504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chiều chi nhánh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8229600" y="5294376"/>
            <a:ext cx="3200400" cy="420624"/>
          </a:xfrm>
          <a:prstGeom prst="roundRect">
            <a:avLst>
              <a:gd name="adj" fmla="val 13043"/>
            </a:avLst>
          </a:prstGeom>
          <a:solidFill>
            <a:srgbClr val="A5673A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0" y="5294376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DimStore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6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QUYẾT ĐỊNH THEN CHỐT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Xác định Grain (độ hạt) của Fact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2 · Bài toán &amp; Dữ liệu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691640"/>
            <a:ext cx="10927080" cy="1097280"/>
          </a:xfrm>
          <a:prstGeom prst="roundRect">
            <a:avLst>
              <a:gd name="adj" fmla="val 6667"/>
            </a:avLst>
          </a:prstGeom>
          <a:solidFill>
            <a:srgbClr val="2A1A0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" y="169164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2E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 đã chọn: “Một dòng FactSales = một dòng sản phẩm trong một hóa đơn.”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3063240"/>
            <a:ext cx="544068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60120" y="3246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64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Vì sao chọn mức này?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60120" y="365760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Đúng bằng mức chi tiết của dataset gốc → không mất thông tin.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 phép phân tích sâu: tới từng sản phẩm, từng giờ.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Vẫn dễ tổng hợp lên mức ngày/tháng khi cần.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55080" y="3063240"/>
            <a:ext cx="5303520" cy="2697480"/>
          </a:xfrm>
          <a:prstGeom prst="roundRect">
            <a:avLst>
              <a:gd name="adj" fmla="val 2712"/>
            </a:avLst>
          </a:prstGeom>
          <a:solidFill>
            <a:srgbClr val="FBF6E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83680" y="3246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56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Hệ quả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583680" y="365760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sẽ rất nhiều dòng (~149.000) — bình thường với DW.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dòng có đủ 4 FK (date, time, product, store) + 3 measure.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 muốn “gọn” hơn có thể gộp theo hóa đơn, nhưng sẽ mất chi tiết sản phẩm.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6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SỐ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KPI mục tiêu sẽ tính bằng DAX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2 · Bài toán &amp; Dữ liệu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34747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193852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Revenue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960120" y="239572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doanh thu = Σ(qty × price)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60120" y="3017520"/>
            <a:ext cx="2011680" cy="310896"/>
          </a:xfrm>
          <a:prstGeom prst="roundRect">
            <a:avLst>
              <a:gd name="adj" fmla="val 14706"/>
            </a:avLst>
          </a:prstGeom>
          <a:solidFill>
            <a:srgbClr val="C0875A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0175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434840" y="1737360"/>
            <a:ext cx="34747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193852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Orders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663440" y="239572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đơn (đếm hóa đơn duy nhất)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3017520"/>
            <a:ext cx="2011680" cy="310896"/>
          </a:xfrm>
          <a:prstGeom prst="roundRect">
            <a:avLst>
              <a:gd name="adj" fmla="val 14706"/>
            </a:avLst>
          </a:prstGeom>
          <a:solidFill>
            <a:srgbClr val="2F7E7C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30175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DISTINCTCOUNT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138160" y="1737360"/>
            <a:ext cx="34747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366760" y="193852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Quantity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366760" y="239572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số sản phẩm bán ra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366760" y="3017520"/>
            <a:ext cx="2011680" cy="310896"/>
          </a:xfrm>
          <a:prstGeom prst="roundRect">
            <a:avLst>
              <a:gd name="adj" fmla="val 14706"/>
            </a:avLst>
          </a:prstGeom>
          <a:solidFill>
            <a:srgbClr val="5A3A22"/>
          </a:solidFill>
          <a:ln/>
        </p:spPr>
      </p:sp>
      <p:sp>
        <p:nvSpPr>
          <p:cNvPr id="21" name="Text 19"/>
          <p:cNvSpPr/>
          <p:nvPr/>
        </p:nvSpPr>
        <p:spPr>
          <a:xfrm>
            <a:off x="8366760" y="30175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31520" y="3703320"/>
            <a:ext cx="34747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60120" y="390448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Avg Order Value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960120" y="436168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 trị TB mỗi đơn = Revenue/Orders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60120" y="4983480"/>
            <a:ext cx="2011680" cy="310896"/>
          </a:xfrm>
          <a:prstGeom prst="roundRect">
            <a:avLst>
              <a:gd name="adj" fmla="val 14706"/>
            </a:avLst>
          </a:prstGeom>
          <a:solidFill>
            <a:srgbClr val="A5673A"/>
          </a:solidFill>
          <a:ln/>
        </p:spPr>
      </p:sp>
      <p:sp>
        <p:nvSpPr>
          <p:cNvPr id="26" name="Text 24"/>
          <p:cNvSpPr/>
          <p:nvPr/>
        </p:nvSpPr>
        <p:spPr>
          <a:xfrm>
            <a:off x="960120" y="498348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434840" y="3703320"/>
            <a:ext cx="34747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663440" y="390448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 % (MoM)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4663440" y="436168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tăng/giảm so với tháng trước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63440" y="4983480"/>
            <a:ext cx="2011680" cy="310896"/>
          </a:xfrm>
          <a:prstGeom prst="roundRect">
            <a:avLst>
              <a:gd name="adj" fmla="val 14706"/>
            </a:avLst>
          </a:prstGeom>
          <a:solidFill>
            <a:srgbClr val="246462"/>
          </a:solidFill>
          <a:ln/>
        </p:spPr>
      </p:sp>
      <p:sp>
        <p:nvSpPr>
          <p:cNvPr id="31" name="Text 29"/>
          <p:cNvSpPr/>
          <p:nvPr/>
        </p:nvSpPr>
        <p:spPr>
          <a:xfrm>
            <a:off x="4663440" y="498348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138160" y="3703320"/>
            <a:ext cx="34747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366760" y="390448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YTD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8366760" y="436168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Doanh thu lũy kế từ đầu năm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366760" y="4983480"/>
            <a:ext cx="2011680" cy="310896"/>
          </a:xfrm>
          <a:prstGeom prst="roundRect">
            <a:avLst>
              <a:gd name="adj" fmla="val 14706"/>
            </a:avLst>
          </a:prstGeom>
          <a:solidFill>
            <a:srgbClr val="7A5A3A"/>
          </a:solidFill>
          <a:ln/>
        </p:spPr>
      </p:sp>
      <p:sp>
        <p:nvSpPr>
          <p:cNvPr id="36" name="Text 34"/>
          <p:cNvSpPr/>
          <p:nvPr/>
        </p:nvSpPr>
        <p:spPr>
          <a:xfrm>
            <a:off x="8366760" y="498348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TOTALYTD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2A1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4754880" cy="4754880"/>
          </a:xfrm>
          <a:prstGeom prst="ellipse">
            <a:avLst/>
          </a:prstGeom>
          <a:solidFill>
            <a:srgbClr val="3A2618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3291840" cy="3291840"/>
          </a:xfrm>
          <a:prstGeom prst="ellipse">
            <a:avLst/>
          </a:prstGeom>
          <a:solidFill>
            <a:srgbClr val="3A261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8686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Xây Data Warehouse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3832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8C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1 trong 3 bước của Chủ đề 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114800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8D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OLTP mô phỏng app cà phê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8D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Star Schema: 1 Fact + 4 Dimension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8D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Viết SQL tạo bảng trên SQL Server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3246120"/>
            <a:ext cx="2011680" cy="0"/>
          </a:xfrm>
          <a:prstGeom prst="line">
            <a:avLst/>
          </a:prstGeom>
          <a:noFill/>
          <a:ln w="31750">
            <a:solidFill>
              <a:srgbClr val="C087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3 · Data Warehouse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6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QUAN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Bước 1 cần làm gì?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3 · Data Warehouse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5440680" cy="4114800"/>
          </a:xfrm>
          <a:prstGeom prst="roundRect">
            <a:avLst>
              <a:gd name="adj" fmla="val 1778"/>
            </a:avLst>
          </a:prstGeom>
          <a:solidFill>
            <a:srgbClr val="FBF6E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56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Mục tiêu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2240280"/>
            <a:ext cx="5029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2 database trên SQL Server:</a:t>
            </a:r>
            <a:endParaRPr lang="en-US" sz="1300" dirty="0"/>
          </a:p>
          <a:p>
            <a:pPr lvl="1" marL="4064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coffeeshop_oltp — mô phỏng DB của app (nguồn)</a:t>
            </a:r>
            <a:endParaRPr lang="en-US" sz="1300" dirty="0"/>
          </a:p>
          <a:p>
            <a:pPr lvl="1" marL="4064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coffeeshop_dw — kho phân tích (đích)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Star Schema cho kho: 1 FactSales + DimDate, DimTime, DimProduct, DimStore.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Viết các câu lệnh SQL CREATE TABLE để dựng cấu trúc kho.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55080" y="1645920"/>
            <a:ext cx="530352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0" y="1828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64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Sản phẩm nộp của bước này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0" y="224028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Sơ đồ Star Schema (hình ngôi sao) rõ ràng.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coffeeshop_dw chạy được, có đủ bảng &amp; quan hệ khóa.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SQL tạo bảng (file .sql) để chấm &amp; tái lập.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83680" y="4297680"/>
            <a:ext cx="4846320" cy="1280160"/>
          </a:xfrm>
          <a:prstGeom prst="roundRect">
            <a:avLst>
              <a:gd name="adj" fmla="val 5714"/>
            </a:avLst>
          </a:prstGeom>
          <a:solidFill>
            <a:srgbClr val="2A1A0F"/>
          </a:solidFill>
          <a:ln/>
        </p:spPr>
      </p:sp>
      <p:sp>
        <p:nvSpPr>
          <p:cNvPr id="14" name="Text 12"/>
          <p:cNvSpPr/>
          <p:nvPr/>
        </p:nvSpPr>
        <p:spPr>
          <a:xfrm>
            <a:off x="6812280" y="44348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8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Thứ tự tạo bảng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12280" y="475488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ADB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các Dimension TRƯỚC → tạo Fact SAU (vì Fact tham chiếu khóa của Dimension).</a:t>
            </a:r>
            <a:endParaRPr lang="en-US" sz="12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6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NGUỒN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Thiết kế CSDL OLTP mô phỏng app (chuẩn hóa)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3 · Data Warehouse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463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POS sẽ tách dữ liệu thành 4 bảng chuẩn hóa, nối nhau bằng khóa ngoại: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2103120"/>
            <a:ext cx="2468880" cy="107442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9050">
            <a:solidFill>
              <a:srgbClr val="5A3A2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2121408"/>
            <a:ext cx="2468880" cy="329184"/>
          </a:xfrm>
          <a:prstGeom prst="rect">
            <a:avLst/>
          </a:prstGeom>
          <a:solidFill>
            <a:srgbClr val="5A3A22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12140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32688" y="2468880"/>
            <a:ext cx="2286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A567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</a:t>
            </a:r>
            <a:pPr algn="l" indent="0" marL="0">
              <a:buNone/>
            </a:pPr>
            <a:r>
              <a:rPr lang="en-US" sz="9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store_id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932688" y="2692908"/>
            <a:ext cx="2286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store_name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32688" y="2916936"/>
            <a:ext cx="2286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22960" y="3931920"/>
            <a:ext cx="2468880" cy="1298448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 w="19050">
            <a:solidFill>
              <a:srgbClr val="5A3A2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3950208"/>
            <a:ext cx="2468880" cy="329184"/>
          </a:xfrm>
          <a:prstGeom prst="rect">
            <a:avLst/>
          </a:prstGeom>
          <a:solidFill>
            <a:srgbClr val="5A3A22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95020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32688" y="4297680"/>
            <a:ext cx="2286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A567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</a:t>
            </a:r>
            <a:pPr algn="l" indent="0" marL="0">
              <a:buNone/>
            </a:pPr>
            <a:r>
              <a:rPr lang="en-US" sz="9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product_id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932688" y="4521708"/>
            <a:ext cx="2286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32688" y="4745736"/>
            <a:ext cx="2286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/ detail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32688" y="4969764"/>
            <a:ext cx="2286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unit_price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46320" y="2103120"/>
            <a:ext cx="2743200" cy="1298448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 w="19050">
            <a:solidFill>
              <a:srgbClr val="A567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2121408"/>
            <a:ext cx="2743200" cy="329184"/>
          </a:xfrm>
          <a:prstGeom prst="rect">
            <a:avLst/>
          </a:prstGeom>
          <a:solidFill>
            <a:srgbClr val="A5673A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212140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956048" y="2468880"/>
            <a:ext cx="25603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A567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</a:t>
            </a:r>
            <a:pPr algn="l" indent="0" marL="0">
              <a:buNone/>
            </a:pPr>
            <a:r>
              <a:rPr lang="en-US" sz="9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transaction_id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956048" y="2692908"/>
            <a:ext cx="25603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transaction_date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956048" y="2916936"/>
            <a:ext cx="25603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transaction_time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956048" y="3140964"/>
            <a:ext cx="25603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F7E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</a:t>
            </a:r>
            <a:pPr algn="l" indent="0" marL="0">
              <a:buNone/>
            </a:pPr>
            <a:r>
              <a:rPr lang="en-US" sz="950" i="1" dirty="0">
                <a:solidFill>
                  <a:srgbClr val="246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store_id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8869680" y="3200400"/>
            <a:ext cx="2743200" cy="1298448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 w="19050">
            <a:solidFill>
              <a:srgbClr val="24646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869680" y="3218688"/>
            <a:ext cx="2743200" cy="329184"/>
          </a:xfrm>
          <a:prstGeom prst="rect">
            <a:avLst/>
          </a:prstGeom>
          <a:solidFill>
            <a:srgbClr val="246462"/>
          </a:solidFill>
          <a:ln/>
        </p:spPr>
      </p:sp>
      <p:sp>
        <p:nvSpPr>
          <p:cNvPr id="30" name="Text 28"/>
          <p:cNvSpPr/>
          <p:nvPr/>
        </p:nvSpPr>
        <p:spPr>
          <a:xfrm>
            <a:off x="8869680" y="32186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transaction_items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979408" y="3566160"/>
            <a:ext cx="25603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A567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</a:t>
            </a:r>
            <a:pPr algn="l" indent="0" marL="0">
              <a:buNone/>
            </a:pPr>
            <a:r>
              <a:rPr lang="en-US" sz="9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item_id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979408" y="3790188"/>
            <a:ext cx="25603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F7E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</a:t>
            </a:r>
            <a:pPr algn="l" indent="0" marL="0">
              <a:buNone/>
            </a:pPr>
            <a:r>
              <a:rPr lang="en-US" sz="950" i="1" dirty="0">
                <a:solidFill>
                  <a:srgbClr val="246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transaction_id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8979408" y="4014216"/>
            <a:ext cx="25603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F7E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</a:t>
            </a:r>
            <a:pPr algn="l" indent="0" marL="0">
              <a:buNone/>
            </a:pPr>
            <a:r>
              <a:rPr lang="en-US" sz="950" i="1" dirty="0">
                <a:solidFill>
                  <a:srgbClr val="246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product_id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8979408" y="4238244"/>
            <a:ext cx="25603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91840" y="2640330"/>
            <a:ext cx="1554480" cy="11430"/>
          </a:xfrm>
          <a:prstGeom prst="line">
            <a:avLst/>
          </a:prstGeom>
          <a:noFill/>
          <a:ln w="19050">
            <a:solidFill>
              <a:srgbClr val="C0875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589520" y="2752344"/>
            <a:ext cx="1280160" cy="905256"/>
          </a:xfrm>
          <a:prstGeom prst="line">
            <a:avLst/>
          </a:prstGeom>
          <a:noFill/>
          <a:ln w="19050">
            <a:solidFill>
              <a:srgbClr val="C0875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V="1">
            <a:off x="3291840" y="4114800"/>
            <a:ext cx="5577840" cy="466344"/>
          </a:xfrm>
          <a:prstGeom prst="line">
            <a:avLst/>
          </a:prstGeom>
          <a:noFill/>
          <a:ln w="19050">
            <a:solidFill>
              <a:srgbClr val="C0875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1520" y="5852160"/>
            <a:ext cx="10927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= phần “đầu” hóa đơn · transaction_items = các dòng sản phẩm trong hóa đơn. Đây là kiểu thiết kế OLTP điển hình.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6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· OLTP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Code: tạo bảng cho database OLTP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3 · Data Warehouse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10927080" cy="4297680"/>
          </a:xfrm>
          <a:prstGeom prst="roundRect">
            <a:avLst>
              <a:gd name="adj" fmla="val 1277"/>
            </a:avLst>
          </a:prstGeom>
          <a:solidFill>
            <a:srgbClr val="1C140E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96112" y="1682496"/>
            <a:ext cx="10597896" cy="4041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8FB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Tạo database nguồn (mô phỏng app cà phê)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0A8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DATABASE coffeeshop_oltp;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coffeeshop_oltp;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0A8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stores (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store_id   INT PRIMARY KEY,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store_name NVARCHAR(100),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location   NVARCHAR(100) );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0A8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products (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product_id       INT PRIMARY KEY,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product_category NVARCHAR(50),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product_type     NVARCHAR(50),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product_detail   NVARCHAR(100),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unit_price       DECIMAL(10,2) );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0A8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transactions (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transaction_id   INT PRIMARY KEY,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transaction_date DATE,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transaction_time TIME,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store_id INT FOREIGN KEY REFERENCES stores(store_id) );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0A8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transaction_items (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item_id INT IDENTITY(1,1) PRIMARY KEY,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transaction_id INT FOREIGN KEY REFERENCES transactions(transaction_id),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product_id     INT FOREIGN KEY REFERENCES products(product_id),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quantity       INT );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6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TƯ DUY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Từ OLTP (chuẩn hóa) → Star Schema (phẳng)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3 · Data Warehouse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544068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56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OLTP nghĩ kiểu “tiết kiệm”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224028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Tách nhỏ để tránh lặp dữ liệu (4 bảng nối khóa).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Tốt cho ghi nhanh, nhưng phải JOIN nhiều khi đọc.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có cột “tháng”, “quý”, “buổi sáng/chiều”.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60120" y="4206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Câu hỏi thiết kế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60120" y="45720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“Người phân tích muốn lọc-nhóm theo những chiều nào?” → mỗi chiều thành một Dimension.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55080" y="1645920"/>
            <a:ext cx="5303520" cy="4114800"/>
          </a:xfrm>
          <a:prstGeom prst="roundRect">
            <a:avLst>
              <a:gd name="adj" fmla="val 1778"/>
            </a:avLst>
          </a:prstGeom>
          <a:solidFill>
            <a:srgbClr val="FBF6E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83680" y="1828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64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 Schema nghĩ kiểu “dễ đọc”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83680" y="224028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Gom các số đo vào MỘT bảng Fact ở giữa.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chiều mô tả thành một Dimension phẳng vây quanh.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Thêm sẵn các cột hữu ích: month_name, quarter, day_part…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tối đa 4 lần (Fact ↔ 4 Dim) → nhanh &amp; dễ hiểu.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i="1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Đổi lại: chấp nhận dư thừa dữ liệu một chút.</a:t>
            </a:r>
            <a:endParaRPr lang="en-US" sz="1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6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SƠ ĐỒ CHÍNH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 Schema của hệ thống (sơ đồ đầy đủ)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3 · Data Warehouse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800600" y="1554480"/>
            <a:ext cx="2468880" cy="1298448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 w="19050">
            <a:solidFill>
              <a:srgbClr val="A567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00600" y="1572768"/>
            <a:ext cx="2468880" cy="329184"/>
          </a:xfrm>
          <a:prstGeom prst="rect">
            <a:avLst/>
          </a:prstGeom>
          <a:solidFill>
            <a:srgbClr val="A5673A"/>
          </a:solidFill>
          <a:ln/>
        </p:spPr>
      </p:sp>
      <p:sp>
        <p:nvSpPr>
          <p:cNvPr id="9" name="Text 7"/>
          <p:cNvSpPr/>
          <p:nvPr/>
        </p:nvSpPr>
        <p:spPr>
          <a:xfrm>
            <a:off x="4800600" y="157276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DimDate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910328" y="1920240"/>
            <a:ext cx="2286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A567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</a:t>
            </a:r>
            <a:pPr algn="l" indent="0" marL="0">
              <a:buNone/>
            </a:pPr>
            <a:r>
              <a:rPr lang="en-US" sz="9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date_key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910328" y="2144268"/>
            <a:ext cx="2286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full_date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910328" y="2368296"/>
            <a:ext cx="2286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/ year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910328" y="2592324"/>
            <a:ext cx="2286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day_part…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22960" y="3200400"/>
            <a:ext cx="2468880" cy="107442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9050">
            <a:solidFill>
              <a:srgbClr val="A567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3218688"/>
            <a:ext cx="2468880" cy="329184"/>
          </a:xfrm>
          <a:prstGeom prst="rect">
            <a:avLst/>
          </a:prstGeom>
          <a:solidFill>
            <a:srgbClr val="A5673A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21868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DimTime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32688" y="3566160"/>
            <a:ext cx="2286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A567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</a:t>
            </a:r>
            <a:pPr algn="l" indent="0" marL="0">
              <a:buNone/>
            </a:pPr>
            <a:r>
              <a:rPr lang="en-US" sz="9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time_key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932688" y="3790188"/>
            <a:ext cx="2286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32688" y="4014216"/>
            <a:ext cx="2286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day_part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869680" y="3108960"/>
            <a:ext cx="2651760" cy="1298448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 w="19050">
            <a:solidFill>
              <a:srgbClr val="A567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869680" y="3127248"/>
            <a:ext cx="2651760" cy="329184"/>
          </a:xfrm>
          <a:prstGeom prst="rect">
            <a:avLst/>
          </a:prstGeom>
          <a:solidFill>
            <a:srgbClr val="A5673A"/>
          </a:solidFill>
          <a:ln/>
        </p:spPr>
      </p:sp>
      <p:sp>
        <p:nvSpPr>
          <p:cNvPr id="22" name="Text 20"/>
          <p:cNvSpPr/>
          <p:nvPr/>
        </p:nvSpPr>
        <p:spPr>
          <a:xfrm>
            <a:off x="8869680" y="312724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DimProduct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979408" y="3474720"/>
            <a:ext cx="246888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A567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</a:t>
            </a:r>
            <a:pPr algn="l" indent="0" marL="0">
              <a:buNone/>
            </a:pPr>
            <a:r>
              <a:rPr lang="en-US" sz="9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product_key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979408" y="3698748"/>
            <a:ext cx="246888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product_id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979408" y="3922776"/>
            <a:ext cx="246888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category/type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979408" y="4146804"/>
            <a:ext cx="246888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unit_price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00600" y="5349240"/>
            <a:ext cx="2468880" cy="107442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9050">
            <a:solidFill>
              <a:srgbClr val="A567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00600" y="5367528"/>
            <a:ext cx="2468880" cy="329184"/>
          </a:xfrm>
          <a:prstGeom prst="rect">
            <a:avLst/>
          </a:prstGeom>
          <a:solidFill>
            <a:srgbClr val="A5673A"/>
          </a:solidFill>
          <a:ln/>
        </p:spPr>
      </p:sp>
      <p:sp>
        <p:nvSpPr>
          <p:cNvPr id="29" name="Text 27"/>
          <p:cNvSpPr/>
          <p:nvPr/>
        </p:nvSpPr>
        <p:spPr>
          <a:xfrm>
            <a:off x="4800600" y="536752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DimStore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910328" y="5715000"/>
            <a:ext cx="2286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A567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</a:t>
            </a:r>
            <a:pPr algn="l" indent="0" marL="0">
              <a:buNone/>
            </a:pPr>
            <a:r>
              <a:rPr lang="en-US" sz="9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store_key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910328" y="5939028"/>
            <a:ext cx="2286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store_id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910328" y="6163056"/>
            <a:ext cx="2286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 flipV="1">
            <a:off x="5989320" y="2852928"/>
            <a:ext cx="45720" cy="1124712"/>
          </a:xfrm>
          <a:prstGeom prst="line">
            <a:avLst/>
          </a:prstGeom>
          <a:noFill/>
          <a:ln w="19050">
            <a:solidFill>
              <a:srgbClr val="C0875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H="1" flipV="1">
            <a:off x="3291840" y="3737610"/>
            <a:ext cx="2697480" cy="240030"/>
          </a:xfrm>
          <a:prstGeom prst="line">
            <a:avLst/>
          </a:prstGeom>
          <a:noFill/>
          <a:ln w="19050">
            <a:solidFill>
              <a:srgbClr val="C0875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V="1">
            <a:off x="5989320" y="3758184"/>
            <a:ext cx="2880360" cy="219456"/>
          </a:xfrm>
          <a:prstGeom prst="line">
            <a:avLst/>
          </a:prstGeom>
          <a:noFill/>
          <a:ln w="19050">
            <a:solidFill>
              <a:srgbClr val="C0875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89320" y="3977640"/>
            <a:ext cx="45720" cy="1371600"/>
          </a:xfrm>
          <a:prstGeom prst="line">
            <a:avLst/>
          </a:prstGeom>
          <a:noFill/>
          <a:ln w="19050">
            <a:solidFill>
              <a:srgbClr val="C0875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0" y="320040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246462"/>
          </a:solidFill>
          <a:ln w="19050">
            <a:solidFill>
              <a:srgbClr val="15403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754880" y="32644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FactSales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800600" y="3721608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FE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FK: date, time,
product, store
</a:t>
            </a:r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 · price · total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6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DimDate — chiều thời gian (quan trọng nhất)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3 · Data Warehouse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5943600" cy="4114800"/>
          </a:xfrm>
          <a:prstGeom prst="roundRect">
            <a:avLst>
              <a:gd name="adj" fmla="val 1778"/>
            </a:avLst>
          </a:prstGeom>
          <a:solidFill>
            <a:srgbClr val="FBF6E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56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Vì sao gần như kho nào cũng có DimDate?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60120" y="2240280"/>
            <a:ext cx="5486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dòng = một NGÀY trong lịch, có sẵn mọi thuộc tính thời gian.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 phép gom nhóm theo tháng, quý, năm, thứ trong tuần mà không cần tính lại.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 nền tảng cho các phép Time Intelligence trong Power BI: YTD, cùng kỳ, tăng trưởng MoM.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dữ liệu cho mọi ngày trong khoảng 01/2023–06/2023 (kể cả ngày không bán).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949440" y="2011680"/>
            <a:ext cx="4663440" cy="219456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9050">
            <a:solidFill>
              <a:srgbClr val="A567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949440" y="2029968"/>
            <a:ext cx="4663440" cy="329184"/>
          </a:xfrm>
          <a:prstGeom prst="rect">
            <a:avLst/>
          </a:prstGeom>
          <a:solidFill>
            <a:srgbClr val="A5673A"/>
          </a:solidFill>
          <a:ln/>
        </p:spPr>
      </p:sp>
      <p:sp>
        <p:nvSpPr>
          <p:cNvPr id="12" name="Text 10"/>
          <p:cNvSpPr/>
          <p:nvPr/>
        </p:nvSpPr>
        <p:spPr>
          <a:xfrm>
            <a:off x="6949440" y="2029968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DimDate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059168" y="2377440"/>
            <a:ext cx="448056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A567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</a:t>
            </a:r>
            <a:pPr algn="l" indent="0" marL="0">
              <a:buNone/>
            </a:pPr>
            <a:r>
              <a:rPr lang="en-US" sz="9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date_key  (vd 20230115)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059168" y="2601468"/>
            <a:ext cx="448056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full_date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059168" y="2825496"/>
            <a:ext cx="448056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059168" y="3049524"/>
            <a:ext cx="448056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/ month_name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059168" y="3273552"/>
            <a:ext cx="448056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059168" y="3497580"/>
            <a:ext cx="448056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059168" y="3721608"/>
            <a:ext cx="448056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day_of_week / weekday_name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059168" y="3945636"/>
            <a:ext cx="448056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is_weekend (0/1)</a:t>
            </a:r>
            <a:endParaRPr lang="en-US" sz="9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6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· DIMENSION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Code: tạo &amp; nạp DimDate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3 · Data Warehouse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5852160" cy="4297680"/>
          </a:xfrm>
          <a:prstGeom prst="roundRect">
            <a:avLst>
              <a:gd name="adj" fmla="val 1277"/>
            </a:avLst>
          </a:prstGeom>
          <a:solidFill>
            <a:srgbClr val="1C140E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96112" y="1682496"/>
            <a:ext cx="5522976" cy="4041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0A8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DimDate (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date_key     INT PRIMARY KEY,  -- yyyymmdd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full_date    DATE,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day          INT,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month        INT,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month_name   NVARCHAR(20),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quarter      INT,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year         INT,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day_of_week  INT,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weekday_name NVARCHAR(20),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is_weekend   BIT );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720840" y="1554480"/>
            <a:ext cx="4937760" cy="4297680"/>
          </a:xfrm>
          <a:prstGeom prst="roundRect">
            <a:avLst>
              <a:gd name="adj" fmla="val 1277"/>
            </a:avLst>
          </a:prstGeom>
          <a:solidFill>
            <a:srgbClr val="1C140E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85432" y="1682496"/>
            <a:ext cx="4608576" cy="4041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8FB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Sinh ngày bằng vòng lặp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DECLARE @d DATE = '2023-01-01';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@d &lt;= '2023-06-30'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0A8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INSERT INTO DimDate VALUES (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YEAR(@d)*10000+MONTH(@d)*100+DAY(@d),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@d, DAY(@d), MONTH(@d),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DATENAME(MONTH,@d),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DATEPART(QUARTER,@d), YEAR(@d),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DATEPART(WEEKDAY,@d),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DATENAME(WEEKDAY,@d),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IIF(DATEPART(WEEKDAY,@d) IN (1,7),1,0) );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 @d = DATEADD(DAY,1,@d);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6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DimTime — chiều giờ trong ngày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3 · Data Warehouse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594360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64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Ý tưởng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60120" y="2240280"/>
            <a:ext cx="5486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Tách giờ ra một chiều riêng để phân tích “giờ cao điểm”.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Đơn giản nhất: mỗi dòng = 1 giờ (0–23), kèm nhãn buổi (day_part).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day_part: 6–11 Sáng · 11–14 Trưa · 14–17 Chiều · 17–21 Tối.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Giúp trả lời: quán đông nhất lúc mấy giờ? (thường 7–10h sáng).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949440" y="2194560"/>
            <a:ext cx="2743200" cy="107442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9050">
            <a:solidFill>
              <a:srgbClr val="A567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949440" y="2212848"/>
            <a:ext cx="2743200" cy="329184"/>
          </a:xfrm>
          <a:prstGeom prst="rect">
            <a:avLst/>
          </a:prstGeom>
          <a:solidFill>
            <a:srgbClr val="A5673A"/>
          </a:solidFill>
          <a:ln/>
        </p:spPr>
      </p:sp>
      <p:sp>
        <p:nvSpPr>
          <p:cNvPr id="12" name="Text 10"/>
          <p:cNvSpPr/>
          <p:nvPr/>
        </p:nvSpPr>
        <p:spPr>
          <a:xfrm>
            <a:off x="6949440" y="221284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DimTime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059168" y="2560320"/>
            <a:ext cx="25603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A567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</a:t>
            </a:r>
            <a:pPr algn="l" indent="0" marL="0">
              <a:buNone/>
            </a:pPr>
            <a:r>
              <a:rPr lang="en-US" sz="9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time_key (0..23)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059168" y="2784348"/>
            <a:ext cx="25603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059168" y="3008376"/>
            <a:ext cx="25603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day_part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966960" y="2194560"/>
            <a:ext cx="1691640" cy="2011680"/>
          </a:xfrm>
          <a:prstGeom prst="roundRect">
            <a:avLst>
              <a:gd name="adj" fmla="val 4324"/>
            </a:avLst>
          </a:prstGeom>
          <a:solidFill>
            <a:srgbClr val="FBF6E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966960" y="23317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56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day_part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195560" y="2697480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Sáng</a:t>
            </a:r>
            <a:endParaRPr lang="en-US" sz="11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Trưa</a:t>
            </a:r>
            <a:endParaRPr lang="en-US" sz="11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Chiều</a:t>
            </a:r>
            <a:endParaRPr lang="en-US" sz="11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Tối</a:t>
            </a:r>
            <a:endParaRPr lang="en-US" sz="11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6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DimProduct — chiều sản phẩm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3 · Data Warehouse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5943600" cy="4114800"/>
          </a:xfrm>
          <a:prstGeom prst="roundRect">
            <a:avLst>
              <a:gd name="adj" fmla="val 1778"/>
            </a:avLst>
          </a:prstGeom>
          <a:solidFill>
            <a:srgbClr val="FBF6E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56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Vai trò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60120" y="2240280"/>
            <a:ext cx="5486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dòng = một sản phẩm duy nhất, mô tả đầy đủ.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cấp phân loại: category (Coffee) → type (Latte) → detail (Latte Lg).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 phép phân tích doanh thu theo nhóm/loại sản phẩm.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product_key (surrogate) làm PK; product_id là natural key giữ lại để đối chiếu.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949440" y="2011680"/>
            <a:ext cx="4663440" cy="1746504"/>
          </a:xfrm>
          <a:prstGeom prst="roundRect">
            <a:avLst>
              <a:gd name="adj" fmla="val 2618"/>
            </a:avLst>
          </a:prstGeom>
          <a:solidFill>
            <a:srgbClr val="FFFFFF"/>
          </a:solidFill>
          <a:ln w="19050">
            <a:solidFill>
              <a:srgbClr val="A567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949440" y="2029968"/>
            <a:ext cx="4663440" cy="329184"/>
          </a:xfrm>
          <a:prstGeom prst="rect">
            <a:avLst/>
          </a:prstGeom>
          <a:solidFill>
            <a:srgbClr val="A5673A"/>
          </a:solidFill>
          <a:ln/>
        </p:spPr>
      </p:sp>
      <p:sp>
        <p:nvSpPr>
          <p:cNvPr id="12" name="Text 10"/>
          <p:cNvSpPr/>
          <p:nvPr/>
        </p:nvSpPr>
        <p:spPr>
          <a:xfrm>
            <a:off x="6949440" y="2029968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DimProduct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059168" y="2377440"/>
            <a:ext cx="448056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A567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</a:t>
            </a:r>
            <a:pPr algn="l" indent="0" marL="0">
              <a:buNone/>
            </a:pPr>
            <a:r>
              <a:rPr lang="en-US" sz="9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product_key (surrogate)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059168" y="2601468"/>
            <a:ext cx="448056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product_id (natural)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059168" y="2825496"/>
            <a:ext cx="448056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product_category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059168" y="3049524"/>
            <a:ext cx="448056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product_type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059168" y="3273552"/>
            <a:ext cx="448056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product_detail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059168" y="3497580"/>
            <a:ext cx="448056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unit_price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949440" y="4526280"/>
            <a:ext cx="46634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132320" y="464515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64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nhóm hàng chính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132320" y="493776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· Tea · Bakery · Drinking Chocolate · Coffee Beans · Branded · Loose Tea · Flavours · Packaged Chocolate</a:t>
            </a:r>
            <a:endParaRPr lang="en-US" sz="1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6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DimStore — chiều chi nhánh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3 · Data Warehouse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594360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64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Vai trò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60120" y="2240280"/>
            <a:ext cx="5486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dòng = một chi nhánh (3 cửa hàng).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 phép so sánh doanh thu giữa các chi nhánh.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thể mở rộng thêm: địa chỉ, vùng (region), ngày khai trương.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store_key (surrogate) làm PK; store_id giữ lại để map từ nguồn.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949440" y="2194560"/>
            <a:ext cx="4663440" cy="1298448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 w="19050">
            <a:solidFill>
              <a:srgbClr val="A567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949440" y="2212848"/>
            <a:ext cx="4663440" cy="329184"/>
          </a:xfrm>
          <a:prstGeom prst="rect">
            <a:avLst/>
          </a:prstGeom>
          <a:solidFill>
            <a:srgbClr val="A5673A"/>
          </a:solidFill>
          <a:ln/>
        </p:spPr>
      </p:sp>
      <p:sp>
        <p:nvSpPr>
          <p:cNvPr id="12" name="Text 10"/>
          <p:cNvSpPr/>
          <p:nvPr/>
        </p:nvSpPr>
        <p:spPr>
          <a:xfrm>
            <a:off x="6949440" y="2212848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DimStore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059168" y="2560320"/>
            <a:ext cx="448056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A567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</a:t>
            </a:r>
            <a:pPr algn="l" indent="0" marL="0">
              <a:buNone/>
            </a:pPr>
            <a:r>
              <a:rPr lang="en-US" sz="9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store_key (surrogate)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059168" y="2784348"/>
            <a:ext cx="448056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store_id (natural)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059168" y="3008376"/>
            <a:ext cx="448056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store_name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059168" y="3232404"/>
            <a:ext cx="448056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949440" y="4160520"/>
            <a:ext cx="4663440" cy="1600200"/>
          </a:xfrm>
          <a:prstGeom prst="roundRect">
            <a:avLst>
              <a:gd name="adj" fmla="val 4571"/>
            </a:avLst>
          </a:prstGeom>
          <a:solidFill>
            <a:srgbClr val="FBF6E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132320" y="427939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56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bản ghi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132320" y="457200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Lower Manhattan</a:t>
            </a:r>
            <a:endParaRPr lang="en-US" sz="12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Hell's Kitchen</a:t>
            </a:r>
            <a:endParaRPr lang="en-US" sz="12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Astoria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6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· DIMENSION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Code: tạo DimProduct &amp; DimStore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3 · Data Warehouse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5486400" cy="4297680"/>
          </a:xfrm>
          <a:prstGeom prst="roundRect">
            <a:avLst>
              <a:gd name="adj" fmla="val 1277"/>
            </a:avLst>
          </a:prstGeom>
          <a:solidFill>
            <a:srgbClr val="1C140E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96112" y="1682496"/>
            <a:ext cx="5157216" cy="4041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0A8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DimProduct (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product_key  INT IDENTITY(1,1) PRIMARY KEY,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product_id   INT,            -- natural key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product_category NVARCHAR(50),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product_type     NVARCHAR(50),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product_detail   NVARCHAR(100),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unit_price       DECIMAL(10,2)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55080" y="1554480"/>
            <a:ext cx="5303520" cy="4297680"/>
          </a:xfrm>
          <a:prstGeom prst="roundRect">
            <a:avLst>
              <a:gd name="adj" fmla="val 1277"/>
            </a:avLst>
          </a:prstGeom>
          <a:solidFill>
            <a:srgbClr val="1C140E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19672" y="1682496"/>
            <a:ext cx="4974336" cy="4041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0A8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DimStore (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store_key  INT IDENTITY(1,1) PRIMARY KEY,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store_id   INT,        -- natural key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store_name NVARCHAR(100),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location   NVARCHAR(100)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8FB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IDENTITY(1,1): SQL Server tự tăng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8FB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khóa 1,2,3... =&gt; surrogate key</a:t>
            </a:r>
            <a:endParaRPr lang="en-US" sz="11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6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FactSales — bảng trung tâm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3 · Data Warehouse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3657600" cy="2418588"/>
          </a:xfrm>
          <a:prstGeom prst="roundRect">
            <a:avLst>
              <a:gd name="adj" fmla="val 1890"/>
            </a:avLst>
          </a:prstGeom>
          <a:solidFill>
            <a:srgbClr val="FFFFFF"/>
          </a:solidFill>
          <a:ln w="19050">
            <a:solidFill>
              <a:srgbClr val="24646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847088"/>
            <a:ext cx="3657600" cy="329184"/>
          </a:xfrm>
          <a:prstGeom prst="rect">
            <a:avLst/>
          </a:prstGeom>
          <a:solidFill>
            <a:srgbClr val="24646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84708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FactSales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41248" y="2194560"/>
            <a:ext cx="34747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A567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</a:t>
            </a:r>
            <a:pPr algn="l" indent="0" marL="0">
              <a:buNone/>
            </a:pPr>
            <a:r>
              <a:rPr lang="en-US" sz="9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sales_key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41248" y="2418588"/>
            <a:ext cx="34747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F7E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</a:t>
            </a:r>
            <a:pPr algn="l" indent="0" marL="0">
              <a:buNone/>
            </a:pPr>
            <a:r>
              <a:rPr lang="en-US" sz="950" i="1" dirty="0">
                <a:solidFill>
                  <a:srgbClr val="246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date_key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41248" y="2642616"/>
            <a:ext cx="34747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F7E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</a:t>
            </a:r>
            <a:pPr algn="l" indent="0" marL="0">
              <a:buNone/>
            </a:pPr>
            <a:r>
              <a:rPr lang="en-US" sz="950" i="1" dirty="0">
                <a:solidFill>
                  <a:srgbClr val="246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time_key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41248" y="2866644"/>
            <a:ext cx="34747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F7E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</a:t>
            </a:r>
            <a:pPr algn="l" indent="0" marL="0">
              <a:buNone/>
            </a:pPr>
            <a:r>
              <a:rPr lang="en-US" sz="950" i="1" dirty="0">
                <a:solidFill>
                  <a:srgbClr val="246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product_key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41248" y="3090672"/>
            <a:ext cx="34747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F7E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</a:t>
            </a:r>
            <a:pPr algn="l" indent="0" marL="0">
              <a:buNone/>
            </a:pPr>
            <a:r>
              <a:rPr lang="en-US" sz="950" i="1" dirty="0">
                <a:solidFill>
                  <a:srgbClr val="246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store_key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41248" y="3314700"/>
            <a:ext cx="34747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transaction_id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41248" y="3538728"/>
            <a:ext cx="34747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41248" y="3762756"/>
            <a:ext cx="34747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unit_price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41248" y="3986784"/>
            <a:ext cx="34747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total_amount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1828800"/>
            <a:ext cx="6903720" cy="3749040"/>
          </a:xfrm>
          <a:prstGeom prst="roundRect">
            <a:avLst>
              <a:gd name="adj" fmla="val 1951"/>
            </a:avLst>
          </a:prstGeom>
          <a:solidFill>
            <a:srgbClr val="FBF6E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83480" y="2011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64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Giải thích từng nhóm cột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983480" y="2423160"/>
            <a:ext cx="6400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sales_key — surrogate PK của chính Fact (IDENTITY).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khóa ngoại — nối tới 4 Dimension (cánh sao).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transaction_id — giữ lại để ĐẾM số đơn (DISTINCTCOUNT).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quantity, unit_price — số đo gốc.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5A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total_amount = quantity × unit_price — tính sẵn để cộng doanh thu siêu nhanh.</a:t>
            </a:r>
            <a:endParaRPr lang="en-US" sz="13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6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· FACT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Code: tạo bảng FactSales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3 · Data Warehouse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10927080" cy="4297680"/>
          </a:xfrm>
          <a:prstGeom prst="roundRect">
            <a:avLst>
              <a:gd name="adj" fmla="val 1277"/>
            </a:avLst>
          </a:prstGeom>
          <a:solidFill>
            <a:srgbClr val="1C140E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96112" y="1682496"/>
            <a:ext cx="10597896" cy="4041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0A8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FactSales (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sales_key      BIGINT IDENTITY(1,1) PRIMARY KEY,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date_key       INT  FOREIGN KEY REFERENCES DimDate(date_key),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time_key       INT  FOREIGN KEY REFERENCES DimTime(time_key),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product_key    INT  FOREIGN KEY REFERENCES DimProduct(product_key),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store_key      INT  FOREIGN KEY REFERENCES DimStore(store_key),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transaction_id INT,                 -- để đếm số đơn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quantity       INT,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unit_price     DECIMAL(10,2),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total_amount   DECIMAL(12,2)        -- = quantity * unit_price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8FB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Lưu ý thứ tự: tạo 4 Dimension TRƯỚC, rồi mới tạo FactSales,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8FB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vì FactSales tham chiếu (REFERENCES) khóa của các Dimension.</a:t>
            </a:r>
            <a:endParaRPr lang="en-US"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6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KHÓA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PK · FK · Surrogate Key — cách các bảng nối nhau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3 · Data Warehouse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691640"/>
            <a:ext cx="52120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60120" y="1920240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C0875A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920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926080" y="194767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 Key (PK)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78408" y="256032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Khóa chính — định danh duy nhất mỗi dòng trong một bảng. VD: product_key trong DimProduct.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63640" y="1691640"/>
            <a:ext cx="5212080" cy="1828800"/>
          </a:xfrm>
          <a:prstGeom prst="roundRect">
            <a:avLst>
              <a:gd name="adj" fmla="val 4000"/>
            </a:avLst>
          </a:prstGeom>
          <a:solidFill>
            <a:srgbClr val="FBF6E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92240" y="1920240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2F7E7C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920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58200" y="194767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Foreign Key (FK)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510528" y="256032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Khóa ngoại — cột trong Fact trỏ tới PK của Dimension, tạo nên “cánh sao”. VD: FactSales.product_key.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31520" y="3703320"/>
            <a:ext cx="52120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60120" y="3931920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5A3A22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3931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926080" y="395935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Surrogate Key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978408" y="457200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Khóa thay thế do kho tự sinh (IDENTITY 1,2,3…). Dùng làm PK của Dimension thay cho mã gốc của app.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63640" y="3703320"/>
            <a:ext cx="5212080" cy="1828800"/>
          </a:xfrm>
          <a:prstGeom prst="roundRect">
            <a:avLst>
              <a:gd name="adj" fmla="val 4000"/>
            </a:avLst>
          </a:prstGeom>
          <a:solidFill>
            <a:srgbClr val="FBF6E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92240" y="3931920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A5673A"/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0" y="3931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NK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458200" y="395935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 Key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510528" y="457200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gốc từ nguồn (product_id, store_id). Giữ lại trong Dimension để ETL map dữ liệu, nhưng KHÔNG dùng làm PK.</a:t>
            </a:r>
            <a:endParaRPr lang="en-US" sz="12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6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TỐI ƯU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 &amp; vài lưu ý tối ưu cho kho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3 · Data Warehouse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10927080" cy="1828800"/>
          </a:xfrm>
          <a:prstGeom prst="roundRect">
            <a:avLst>
              <a:gd name="adj" fmla="val 4000"/>
            </a:avLst>
          </a:prstGeom>
          <a:solidFill>
            <a:srgbClr val="FBF6E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181051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56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 (chỉ mục) là gì?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60120" y="21945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Giống “mục lục” của cuốn sách — giúp SQL Server tìm dòng cần thiết nhanh hơn nhiều, thay vì quét cả bảng. Rất hữu ích cho các cột khóa ngoại trong Fact (thường xuyên JOIN).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611880"/>
            <a:ext cx="6400800" cy="2194560"/>
          </a:xfrm>
          <a:prstGeom prst="roundRect">
            <a:avLst>
              <a:gd name="adj" fmla="val 2500"/>
            </a:avLst>
          </a:prstGeom>
          <a:solidFill>
            <a:srgbClr val="1C140E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96112" y="3739896"/>
            <a:ext cx="6071616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8FB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Đánh index cho các khóa ngoại của Fact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0A8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INDEX ix_fact_date    ON FactSales(date_key);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0A8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INDEX ix_fact_product ON FactSales(product_key);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0A8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INDEX ix_fact_store   ON FactSales(store_key);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269480" y="3611880"/>
            <a:ext cx="43891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498080" y="37490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64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Lưu ý thêm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498080" y="4069080"/>
            <a:ext cx="4023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sẵn total_amount để khỏi nhân lại khi báo cáo.</a:t>
            </a:r>
            <a:endParaRPr lang="en-US" sz="12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Kiểu DECIMAL cho tiền (không dùng FLOAT).</a:t>
            </a:r>
            <a:endParaRPr lang="en-US" sz="12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tên bảng/cột nhất quán, dễ đọc.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6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DẪN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Tạo Data Warehouse trên SQL Server (SSMS)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3 · Data Warehouse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109270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1792224"/>
            <a:ext cx="457200" cy="457200"/>
          </a:xfrm>
          <a:prstGeom prst="ellipse">
            <a:avLst/>
          </a:prstGeom>
          <a:solidFill>
            <a:srgbClr val="C0875A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1792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554480" y="17373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Cài đặt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0" y="17373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Cài SQL Server Express (miễn phí) + SQL Server Management Studio (SSMS) trên Windows.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1520" y="2487168"/>
            <a:ext cx="10927080" cy="731520"/>
          </a:xfrm>
          <a:prstGeom prst="roundRect">
            <a:avLst>
              <a:gd name="adj" fmla="val 10000"/>
            </a:avLst>
          </a:prstGeom>
          <a:solidFill>
            <a:srgbClr val="FBF6E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14400" y="2633472"/>
            <a:ext cx="457200" cy="457200"/>
          </a:xfrm>
          <a:prstGeom prst="ellipse">
            <a:avLst/>
          </a:prstGeom>
          <a:solidFill>
            <a:srgbClr val="2F7E7C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2633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54480" y="257860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nối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57600" y="257860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SSMS → Connect → Server name: localhost\SQLEXPRESS → Connect.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31520" y="3328416"/>
            <a:ext cx="109270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14400" y="3474720"/>
            <a:ext cx="457200" cy="457200"/>
          </a:xfrm>
          <a:prstGeom prst="ellipse">
            <a:avLst/>
          </a:prstGeom>
          <a:solidFill>
            <a:srgbClr val="C0875A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1440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554480" y="3419856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Tạo DB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657600" y="3419856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Chuột phải Databases → New Database → đặt tên coffeeshop_dw.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31520" y="4169664"/>
            <a:ext cx="10927080" cy="731520"/>
          </a:xfrm>
          <a:prstGeom prst="roundRect">
            <a:avLst>
              <a:gd name="adj" fmla="val 10000"/>
            </a:avLst>
          </a:prstGeom>
          <a:solidFill>
            <a:srgbClr val="FBF6E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14400" y="4315968"/>
            <a:ext cx="457200" cy="457200"/>
          </a:xfrm>
          <a:prstGeom prst="ellipse">
            <a:avLst/>
          </a:prstGeom>
          <a:solidFill>
            <a:srgbClr val="2F7E7C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14400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554480" y="4261104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Chạy SQL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657600" y="4261104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New Query → dán script CREATE TABLE → bấm Execute (F5).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31520" y="5010912"/>
            <a:ext cx="109270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14400" y="5157216"/>
            <a:ext cx="457200" cy="457200"/>
          </a:xfrm>
          <a:prstGeom prst="ellipse">
            <a:avLst/>
          </a:prstGeom>
          <a:solidFill>
            <a:srgbClr val="C0875A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14400" y="5157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554480" y="510235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Kiểm tra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657600" y="510235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→ mở mục Tables, thấy đủ DimDate, DimTime, DimProduct, DimStore, FactSales.</a:t>
            </a:r>
            <a:endParaRPr lang="en-US" sz="12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6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KẾT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Checklist sản phẩm Bước 1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3 · Data Warehouse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783080"/>
            <a:ext cx="52120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87552" y="2084832"/>
            <a:ext cx="457200" cy="457200"/>
          </a:xfrm>
          <a:prstGeom prst="ellipse">
            <a:avLst/>
          </a:prstGeom>
          <a:solidFill>
            <a:srgbClr val="4E8E5A"/>
          </a:solidFill>
          <a:ln/>
        </p:spPr>
      </p:sp>
      <p:sp>
        <p:nvSpPr>
          <p:cNvPr id="9" name="Text 7"/>
          <p:cNvSpPr/>
          <p:nvPr/>
        </p:nvSpPr>
        <p:spPr>
          <a:xfrm>
            <a:off x="987552" y="2066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45920" y="192024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Sơ đồ Star Schema 1 Fact + 4 Dimension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63640" y="1783080"/>
            <a:ext cx="52120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19672" y="2084832"/>
            <a:ext cx="457200" cy="457200"/>
          </a:xfrm>
          <a:prstGeom prst="ellipse">
            <a:avLst/>
          </a:prstGeom>
          <a:solidFill>
            <a:srgbClr val="4E8E5A"/>
          </a:solidFill>
          <a:ln/>
        </p:spPr>
      </p:sp>
      <p:sp>
        <p:nvSpPr>
          <p:cNvPr id="13" name="Text 11"/>
          <p:cNvSpPr/>
          <p:nvPr/>
        </p:nvSpPr>
        <p:spPr>
          <a:xfrm>
            <a:off x="6519672" y="2066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178040" y="192024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coffeeshop_dw tạo được trên SQL Server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31520" y="3017520"/>
            <a:ext cx="52120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87552" y="3319272"/>
            <a:ext cx="457200" cy="457200"/>
          </a:xfrm>
          <a:prstGeom prst="ellipse">
            <a:avLst/>
          </a:prstGeom>
          <a:solidFill>
            <a:srgbClr val="4E8E5A"/>
          </a:solidFill>
          <a:ln/>
        </p:spPr>
      </p:sp>
      <p:sp>
        <p:nvSpPr>
          <p:cNvPr id="17" name="Text 15"/>
          <p:cNvSpPr/>
          <p:nvPr/>
        </p:nvSpPr>
        <p:spPr>
          <a:xfrm>
            <a:off x="987552" y="3300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45920" y="315468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Đủ 5 bảng với PK/FK đúng quan hệ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63640" y="3017520"/>
            <a:ext cx="52120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19672" y="3319272"/>
            <a:ext cx="457200" cy="457200"/>
          </a:xfrm>
          <a:prstGeom prst="ellipse">
            <a:avLst/>
          </a:prstGeom>
          <a:solidFill>
            <a:srgbClr val="4E8E5A"/>
          </a:solidFill>
          <a:ln/>
        </p:spPr>
      </p:sp>
      <p:sp>
        <p:nvSpPr>
          <p:cNvPr id="21" name="Text 19"/>
          <p:cNvSpPr/>
          <p:nvPr/>
        </p:nvSpPr>
        <p:spPr>
          <a:xfrm>
            <a:off x="6519672" y="3300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78040" y="315468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DimDate đã sinh đủ ngày 01–06/2023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731520" y="4251960"/>
            <a:ext cx="52120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87552" y="4553712"/>
            <a:ext cx="457200" cy="457200"/>
          </a:xfrm>
          <a:prstGeom prst="ellipse">
            <a:avLst/>
          </a:prstGeom>
          <a:solidFill>
            <a:srgbClr val="4E8E5A"/>
          </a:solidFill>
          <a:ln/>
        </p:spPr>
      </p:sp>
      <p:sp>
        <p:nvSpPr>
          <p:cNvPr id="25" name="Text 23"/>
          <p:cNvSpPr/>
          <p:nvPr/>
        </p:nvSpPr>
        <p:spPr>
          <a:xfrm>
            <a:off x="987552" y="4535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645920" y="438912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.sql lưu lại để tái lập &amp; nộp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263640" y="4251960"/>
            <a:ext cx="52120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519672" y="4553712"/>
            <a:ext cx="457200" cy="457200"/>
          </a:xfrm>
          <a:prstGeom prst="ellipse">
            <a:avLst/>
          </a:prstGeom>
          <a:solidFill>
            <a:srgbClr val="4E8E5A"/>
          </a:solidFill>
          <a:ln/>
        </p:spPr>
      </p:sp>
      <p:sp>
        <p:nvSpPr>
          <p:cNvPr id="29" name="Text 27"/>
          <p:cNvSpPr/>
          <p:nvPr/>
        </p:nvSpPr>
        <p:spPr>
          <a:xfrm>
            <a:off x="6519672" y="4535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178040" y="438912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cho các khóa ngoại của Fact</a:t>
            </a:r>
            <a:endParaRPr lang="en-US" sz="13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2A1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4754880" cy="4754880"/>
          </a:xfrm>
          <a:prstGeom prst="ellipse">
            <a:avLst/>
          </a:prstGeom>
          <a:solidFill>
            <a:srgbClr val="3A2618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3291840" cy="3291840"/>
          </a:xfrm>
          <a:prstGeom prst="ellipse">
            <a:avLst/>
          </a:prstGeom>
          <a:solidFill>
            <a:srgbClr val="3A261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8686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Viết ETL Script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3832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8C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2: tự động chuyển dữ liệu từ app sang kho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114800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8D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– Transform – Load bằng Python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8D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Làm sạch: kiểu dữ liệu, NULL, trùng lặp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8D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load + ghi log rõ ràng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3246120"/>
            <a:ext cx="2011680" cy="0"/>
          </a:xfrm>
          <a:prstGeom prst="line">
            <a:avLst/>
          </a:prstGeom>
          <a:noFill/>
          <a:ln w="31750">
            <a:solidFill>
              <a:srgbClr val="C087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4 · ETL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6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KHÁI NIỆM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ETL là gì? — Extract, Transform, Load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4 · ETL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691640"/>
            <a:ext cx="347472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965960" y="1965960"/>
            <a:ext cx="1005840" cy="1005840"/>
          </a:xfrm>
          <a:prstGeom prst="ellipse">
            <a:avLst/>
          </a:prstGeom>
          <a:solidFill>
            <a:srgbClr val="C0875A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965960" y="1947672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822960" y="3063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22960" y="34290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Trích xuất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05840" y="37947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dữ liệu thô từ nguồn (DB OLTP của app).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187952" y="1691640"/>
            <a:ext cx="457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4434840" y="1691640"/>
            <a:ext cx="347472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69280" y="1965960"/>
            <a:ext cx="1005840" cy="1005840"/>
          </a:xfrm>
          <a:prstGeom prst="ellipse">
            <a:avLst/>
          </a:prstGeom>
          <a:solidFill>
            <a:srgbClr val="2F7E7C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69280" y="1947672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4526280" y="3063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526280" y="34290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Biến đổi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709160" y="37947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Làm sạch &amp; định hình: chuẩn kiểu, xử lý NULL, dựng Dimension, tính measure.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891272" y="1691640"/>
            <a:ext cx="457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21" name="Shape 19"/>
          <p:cNvSpPr/>
          <p:nvPr/>
        </p:nvSpPr>
        <p:spPr>
          <a:xfrm>
            <a:off x="8138160" y="1691640"/>
            <a:ext cx="347472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372600" y="1965960"/>
            <a:ext cx="1005840" cy="1005840"/>
          </a:xfrm>
          <a:prstGeom prst="ellipse">
            <a:avLst/>
          </a:prstGeom>
          <a:solidFill>
            <a:srgbClr val="5A3A22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372600" y="1947672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8229600" y="3063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229600" y="34290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Nạp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412480" y="37947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dữ liệu đã xử lý vào Data Warehouse (các bảng Dim &amp; Fact).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31520" y="5029200"/>
            <a:ext cx="10927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là “dây chuyền” đưa dữ liệu từ trạng thái thô → sẵn sàng phân tích. File etl.py của nhóm thực hiện đúng 3 bước này.</a:t>
            </a:r>
            <a:endParaRPr lang="en-US" sz="13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6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 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Vì sao không copy thẳng mà phải có ETL?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4 · ETL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691640"/>
            <a:ext cx="109270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1828800"/>
            <a:ext cx="438912" cy="438912"/>
          </a:xfrm>
          <a:prstGeom prst="ellipse">
            <a:avLst/>
          </a:prstGeom>
          <a:solidFill>
            <a:srgbClr val="C0875A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18288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554480" y="177393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Dữ liệu thô bẩn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1773936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NULL, sai kiểu, khoảng trắng thừa, chữ hoa/thường lẫn lộn — cần làm sạch.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1520" y="2514600"/>
            <a:ext cx="10927080" cy="713232"/>
          </a:xfrm>
          <a:prstGeom prst="roundRect">
            <a:avLst>
              <a:gd name="adj" fmla="val 10256"/>
            </a:avLst>
          </a:prstGeom>
          <a:solidFill>
            <a:srgbClr val="FBF6E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14400" y="2651760"/>
            <a:ext cx="438912" cy="438912"/>
          </a:xfrm>
          <a:prstGeom prst="ellipse">
            <a:avLst/>
          </a:prstGeom>
          <a:solidFill>
            <a:srgbClr val="2F7E7C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26517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54480" y="259689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Cấu trúc khác nhau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0" y="2596896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OLTP nhiều bảng chuẩn hóa ≠ Star Schema. ETL “tái cấu trúc” cho đúng mô hình kho.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31520" y="3337560"/>
            <a:ext cx="109270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14400" y="3474720"/>
            <a:ext cx="438912" cy="438912"/>
          </a:xfrm>
          <a:prstGeom prst="ellipse">
            <a:avLst/>
          </a:prstGeom>
          <a:solidFill>
            <a:srgbClr val="C0875A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14400" y="34747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554480" y="341985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Cần tạo cột mới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0" y="3419856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month_name, quarter, day_part, total_amount… không có sẵn ở nguồn.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31520" y="4160520"/>
            <a:ext cx="10927080" cy="713232"/>
          </a:xfrm>
          <a:prstGeom prst="roundRect">
            <a:avLst>
              <a:gd name="adj" fmla="val 10256"/>
            </a:avLst>
          </a:prstGeom>
          <a:solidFill>
            <a:srgbClr val="FBF6E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14400" y="4297680"/>
            <a:ext cx="438912" cy="438912"/>
          </a:xfrm>
          <a:prstGeom prst="ellipse">
            <a:avLst/>
          </a:prstGeom>
          <a:solidFill>
            <a:srgbClr val="2F7E7C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14400" y="4297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554480" y="424281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Sinh surrogate key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0" y="4242816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mã gốc (product_id) → khóa kho (product_key).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31520" y="4983480"/>
            <a:ext cx="109270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14400" y="5120640"/>
            <a:ext cx="438912" cy="438912"/>
          </a:xfrm>
          <a:prstGeom prst="ellipse">
            <a:avLst/>
          </a:prstGeom>
          <a:solidFill>
            <a:srgbClr val="C0875A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14400" y="51206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554480" y="506577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Lặp lại tự động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72000" y="5065776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ngày dữ liệu mới sinh ra — ETL chạy lại để cập nhật kho (incremental).</a:t>
            </a:r>
            <a:endParaRPr lang="en-US" sz="12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6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Luồng ETL của nhóm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4 · ETL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194560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25400">
            <a:solidFill>
              <a:srgbClr val="5A3A2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194560"/>
            <a:ext cx="2468880" cy="502920"/>
          </a:xfrm>
          <a:prstGeom prst="rect">
            <a:avLst/>
          </a:prstGeom>
          <a:solidFill>
            <a:srgbClr val="5A3A2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1945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OLTP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8346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coffeeshop_oltp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(SQL Server)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090672" y="2194560"/>
            <a:ext cx="457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3520440" y="2194560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25400">
            <a:solidFill>
              <a:srgbClr val="A567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20440" y="2194560"/>
            <a:ext cx="2468880" cy="502920"/>
          </a:xfrm>
          <a:prstGeom prst="rect">
            <a:avLst/>
          </a:prstGeom>
          <a:solidFill>
            <a:srgbClr val="A5673A"/>
          </a:solidFill>
          <a:ln/>
        </p:spPr>
      </p:sp>
      <p:sp>
        <p:nvSpPr>
          <p:cNvPr id="14" name="Text 12"/>
          <p:cNvSpPr/>
          <p:nvPr/>
        </p:nvSpPr>
        <p:spPr>
          <a:xfrm>
            <a:off x="3520440" y="21945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11880" y="28346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pandas.read_sql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DataFrame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971032" y="2194560"/>
            <a:ext cx="457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6400800" y="2194560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25400">
            <a:solidFill>
              <a:srgbClr val="24646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0" y="2194560"/>
            <a:ext cx="2468880" cy="502920"/>
          </a:xfrm>
          <a:prstGeom prst="rect">
            <a:avLst/>
          </a:prstGeom>
          <a:solidFill>
            <a:srgbClr val="246462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21945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92240" y="28346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làm sạch + dựng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 &amp; Fact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851392" y="2194560"/>
            <a:ext cx="457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9281160" y="2194560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25400">
            <a:solidFill>
              <a:srgbClr val="2A1A0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281160" y="2194560"/>
            <a:ext cx="2468880" cy="502920"/>
          </a:xfrm>
          <a:prstGeom prst="rect">
            <a:avLst/>
          </a:prstGeom>
          <a:solidFill>
            <a:srgbClr val="2A1A0F"/>
          </a:solidFill>
          <a:ln/>
        </p:spPr>
      </p:sp>
      <p:sp>
        <p:nvSpPr>
          <p:cNvPr id="24" name="Text 22"/>
          <p:cNvSpPr/>
          <p:nvPr/>
        </p:nvSpPr>
        <p:spPr>
          <a:xfrm>
            <a:off x="9281160" y="21945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372600" y="28346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to_sql →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coffeeshop_dw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31520" y="4343400"/>
            <a:ext cx="10927080" cy="1417320"/>
          </a:xfrm>
          <a:prstGeom prst="roundRect">
            <a:avLst>
              <a:gd name="adj" fmla="val 5161"/>
            </a:avLst>
          </a:prstGeom>
          <a:solidFill>
            <a:srgbClr val="FBF6E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60120" y="44805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56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Điểm mấu chốt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960120" y="48006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 bộ xử lý nằm trong bộ nhớ bằng pandas DataFrame → nhanh, dễ kiểm soát.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Thứ tự LOAD: nạp 4 Dimension trước, lấy surrogate key, rồi mới nạp FactSales.</a:t>
            </a:r>
            <a:endParaRPr lang="en-US" sz="12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6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CỤ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Thư viện Python dùng trong ETL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4 · ETL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52120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60120" y="2011680"/>
            <a:ext cx="1737360" cy="548640"/>
          </a:xfrm>
          <a:prstGeom prst="roundRect">
            <a:avLst>
              <a:gd name="adj" fmla="val 8333"/>
            </a:avLst>
          </a:prstGeom>
          <a:solidFill>
            <a:srgbClr val="C0875A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0116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pandas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78408" y="265176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Đọc, làm sạch, biến đổi dữ liệu dạng bảng (DataFrame). “Excel trong code”.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1737360"/>
            <a:ext cx="5212080" cy="1691640"/>
          </a:xfrm>
          <a:prstGeom prst="roundRect">
            <a:avLst>
              <a:gd name="adj" fmla="val 4324"/>
            </a:avLst>
          </a:prstGeom>
          <a:solidFill>
            <a:srgbClr val="FBF6E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92240" y="2011680"/>
            <a:ext cx="1737360" cy="548640"/>
          </a:xfrm>
          <a:prstGeom prst="roundRect">
            <a:avLst>
              <a:gd name="adj" fmla="val 8333"/>
            </a:avLst>
          </a:prstGeom>
          <a:solidFill>
            <a:srgbClr val="2F7E7C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20116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SQLAlchemy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510528" y="265176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“cầu nối” (engine) tới SQL Server để đọc/ghi dữ liệu.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3657600"/>
            <a:ext cx="52120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60120" y="3931920"/>
            <a:ext cx="1737360" cy="548640"/>
          </a:xfrm>
          <a:prstGeom prst="roundRect">
            <a:avLst>
              <a:gd name="adj" fmla="val 8333"/>
            </a:avLst>
          </a:prstGeom>
          <a:solidFill>
            <a:srgbClr val="5A3A22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39319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pyodbc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78408" y="457200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giúp Python nói chuyện được với SQL Server qua ODBC.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63640" y="3657600"/>
            <a:ext cx="5212080" cy="1691640"/>
          </a:xfrm>
          <a:prstGeom prst="roundRect">
            <a:avLst>
              <a:gd name="adj" fmla="val 4324"/>
            </a:avLst>
          </a:prstGeom>
          <a:solidFill>
            <a:srgbClr val="FBF6E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0" y="3931920"/>
            <a:ext cx="1737360" cy="548640"/>
          </a:xfrm>
          <a:prstGeom prst="roundRect">
            <a:avLst>
              <a:gd name="adj" fmla="val 8333"/>
            </a:avLst>
          </a:prstGeom>
          <a:solidFill>
            <a:srgbClr val="A5673A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39319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logging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510528" y="457200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Thư viện chuẩn của Python để ghi log tiến trình ra màn hình &amp; file.</a:t>
            </a:r>
            <a:endParaRPr lang="en-US" sz="13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6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CÀI ĐẶT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Cài thư viện cần thiết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4 · ETL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10927080" cy="1554480"/>
          </a:xfrm>
          <a:prstGeom prst="roundRect">
            <a:avLst>
              <a:gd name="adj" fmla="val 3529"/>
            </a:avLst>
          </a:prstGeom>
          <a:solidFill>
            <a:srgbClr val="1C140E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96112" y="1773936"/>
            <a:ext cx="1059789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8FB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Mở Terminal / CMD và chạy:</a:t>
            </a:r>
            <a:endParaRPr lang="en-US" sz="13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pandas sqlalchemy pyodbc openpyxl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383280"/>
            <a:ext cx="10927080" cy="2377440"/>
          </a:xfrm>
          <a:prstGeom prst="roundRect">
            <a:avLst>
              <a:gd name="adj" fmla="val 3077"/>
            </a:avLst>
          </a:prstGeom>
          <a:solidFill>
            <a:srgbClr val="FBF6E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60120" y="35478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56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Cần thêm: ODBC Driver for SQL Server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60120" y="3931920"/>
            <a:ext cx="10424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Tải “ODBC Driver 17 (hoặc 18) for SQL Server” từ trang Microsoft và cài đặt — đây là phần giúp pyodbc kết nối được.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openpyxl dùng để đọc file Excel gốc của dataset (nếu nạp từ .xlsx).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cài đặt: chạy python -c "import pandas, sqlalchemy, pyodbc" — không báo lỗi là OK.</a:t>
            </a:r>
            <a:endParaRPr lang="en-US" sz="13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6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· KẾT NỐI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nối SQL Server từ Python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4 · ETL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10927080" cy="4297680"/>
          </a:xfrm>
          <a:prstGeom prst="roundRect">
            <a:avLst>
              <a:gd name="adj" fmla="val 1277"/>
            </a:avLst>
          </a:prstGeom>
          <a:solidFill>
            <a:srgbClr val="1C140E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96112" y="1682496"/>
            <a:ext cx="10597896" cy="4041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0A8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0A8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sqlalchemy import create_engine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0A8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urllib, logging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8FB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Chuỗi kết nối tới SQL Server (Windows Authentication)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params = urllib.parse.quote_plus(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'DRIVER={ODBC Driver 17 for SQL Server};'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'SERVER=localhost\\SQLEXPRESS;'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'DATABASE=coffeeshop_oltp;'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'Trusted_Connection=yes;')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src_engine = create_engine(f'mssql+pyodbc:///?odbc_connect={params}')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8FB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Engine cho kho đích (đổi DATABASE=coffeeshop_dw)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dw_params = params.replace('coffeeshop_oltp','coffeeshop_dw')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dw_engine = create_engine(f'mssql+pyodbc:///?odbc_connect={dw_params}')</a:t>
            </a:r>
            <a:endParaRPr lang="en-US" sz="12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6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· EXTRACT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 — đọc dữ liệu từ OLTP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4 · ETL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6766560" cy="4297680"/>
          </a:xfrm>
          <a:prstGeom prst="roundRect">
            <a:avLst>
              <a:gd name="adj" fmla="val 1277"/>
            </a:avLst>
          </a:prstGeom>
          <a:solidFill>
            <a:srgbClr val="1C140E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96112" y="1682496"/>
            <a:ext cx="6437376" cy="4041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8FB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Đọc &amp; JOIN dữ liệu từ DB app về 1 DataFrame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 = '''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0A8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t.transaction_id, t.transaction_date,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t.transaction_time, ti.quantity,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s.store_id, s.store_name, s.location,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p.product_id, p.product_category,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p.product_type, p.product_detail, p.unit_price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0A8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transaction_items ti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0A8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transactions t ON ti.transaction_id=t.transaction_id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0A8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stores  s ON t.store_id   = s.store_id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0A8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products p ON ti.product_id= p.product_id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'''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pd.read_sql(query, src_engine)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logging.info(f'Extract: {len(df)} dòng')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635240" y="1554480"/>
            <a:ext cx="4023360" cy="4297680"/>
          </a:xfrm>
          <a:prstGeom prst="roundRect">
            <a:avLst>
              <a:gd name="adj" fmla="val 1818"/>
            </a:avLst>
          </a:prstGeom>
          <a:solidFill>
            <a:srgbClr val="FBF6E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863840" y="1737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56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Đang xảy ra gì?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863840" y="2148840"/>
            <a:ext cx="3657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Gộp 4 bảng OLTP về 1 bảng phẳng giống dataset gốc.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pd.read_sql trả về một DataFrame trong bộ nhớ.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log số dòng để biết đã lấy đúng dữ liệu.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i="1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Đây là “nguyên liệu thô” cho bước Transform.</a:t>
            </a:r>
            <a:endParaRPr lang="en-US" sz="12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6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KHẢO SÁT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profiling — soi lỗi dữ liệu thô trước khi xử lý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4 · ETL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600200"/>
            <a:ext cx="5120640" cy="2926080"/>
          </a:xfrm>
          <a:prstGeom prst="roundRect">
            <a:avLst>
              <a:gd name="adj" fmla="val 1875"/>
            </a:avLst>
          </a:prstGeom>
          <a:solidFill>
            <a:srgbClr val="1C140E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96112" y="1728216"/>
            <a:ext cx="4791456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df.info()       # kiểu dữ liệu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df.isnull().sum()  # đếm NULL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df.duplicated().sum()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df.describe()   # min/max/mean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df['product_category'].unique()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600200"/>
            <a:ext cx="562356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63640" y="17830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64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Các lỗi thường gặp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263640" y="2194560"/>
            <a:ext cx="5120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Cột ngày/giờ bị đọc thành text thay vì date/time.</a:t>
            </a:r>
            <a:endParaRPr lang="en-US" sz="128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unit_price hoặc quantity có giá trị NULL hoặc ≤ 0.</a:t>
            </a:r>
            <a:endParaRPr lang="en-US" sz="128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Tên sản phẩm/category dính khoảng trắng thừa, hoa-thường lẫn lộn.</a:t>
            </a:r>
            <a:endParaRPr lang="en-US" sz="128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Dòng trùng lặp hoàn toàn.</a:t>
            </a:r>
            <a:endParaRPr lang="en-US" sz="128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(id) bị thiếu → không map được sang Dimension.</a:t>
            </a:r>
            <a:endParaRPr lang="en-US" sz="1280" dirty="0"/>
          </a:p>
        </p:txBody>
      </p:sp>
      <p:sp>
        <p:nvSpPr>
          <p:cNvPr id="12" name="Shape 10"/>
          <p:cNvSpPr/>
          <p:nvPr/>
        </p:nvSpPr>
        <p:spPr>
          <a:xfrm>
            <a:off x="731520" y="4709160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FBF6E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48463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Profiling = “khám bệnh” cho dữ liệu trước khi “chữa” ở bước Transform.</a:t>
            </a:r>
            <a:endParaRPr lang="en-US" sz="12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6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· TRANSFORM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 (1) — chuẩn hóa kiểu dữ liệu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4 · ETL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6766560" cy="4297680"/>
          </a:xfrm>
          <a:prstGeom prst="roundRect">
            <a:avLst>
              <a:gd name="adj" fmla="val 1277"/>
            </a:avLst>
          </a:prstGeom>
          <a:solidFill>
            <a:srgbClr val="1C140E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96112" y="1682496"/>
            <a:ext cx="6437376" cy="4041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8FB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Ép đúng kiểu dữ liệu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df['transaction_date'] = pd.to_datetime(df['transaction_date'])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df['transaction_time'] = pd.to_datetime(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df['transaction_time'], format='%H:%M:%S').dt.time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df['quantity']   = pd.to_numeric(df['quantity'],  errors='coerce')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df['unit_price'] = pd.to_numeric(df['unit_price'],errors='coerce')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8FB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Chuẩn hóa text: bỏ khoảng trắng thừa, viết hoa đầu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0A8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c in ['product_category','product_type',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'product_detail','store_name','location']: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df[c] = df[c].astype(str).str.strip()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635240" y="1554480"/>
            <a:ext cx="4023360" cy="4297680"/>
          </a:xfrm>
          <a:prstGeom prst="roundRect">
            <a:avLst>
              <a:gd name="adj" fmla="val 1818"/>
            </a:avLst>
          </a:prstGeom>
          <a:solidFill>
            <a:srgbClr val="FBF6E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863840" y="1737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56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Vì sao quan trọng?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863840" y="2148840"/>
            <a:ext cx="3657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to_datetime giúp tách được năm/tháng/ngày sau này.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errors='coerce' biến giá trị lỗi thành NaN để xử lý tiếp.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str.strip() loại bỏ khoảng trắng làm “Coffee ” ≠ “Coffee”.</a:t>
            </a:r>
            <a:endParaRPr lang="en-US" sz="12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6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· TRANSFORM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 (2) — xử lý giá trị NULL / thiếu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4 · ETL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6766560" cy="4297680"/>
          </a:xfrm>
          <a:prstGeom prst="roundRect">
            <a:avLst>
              <a:gd name="adj" fmla="val 1277"/>
            </a:avLst>
          </a:prstGeom>
          <a:solidFill>
            <a:srgbClr val="1C140E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96112" y="1682496"/>
            <a:ext cx="6437376" cy="4041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8FB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1) Bỏ dòng thiếu khóa quan trọng (không thể dùng)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df.dropna(subset=['transaction_id','product_id',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'store_id','transaction_date'])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8FB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2) Điền giá trị mặc định cho số đo bị thiếu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df['quantity']   = df['quantity'].fillna(1)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df['unit_price'] = df['unit_price'].fillna(0)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8FB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3) Loại dòng vô lý (số lượng/giá &lt;= 0)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df[(df['quantity'] &gt; 0) &amp; (df['unit_price'] &gt; 0)]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logging.info(f'Sau làm sạch còn {len(df)} dòng')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635240" y="1554480"/>
            <a:ext cx="4023360" cy="429768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863840" y="1737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64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Nguyên tắc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863840" y="2148840"/>
            <a:ext cx="3657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Thiếu KHÓA → bỏ dòng (không thể map).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Thiếu SỐ ĐO → điền mặc định hợp lý.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 trị vô lý (âm, 0) → loại bỏ.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i="1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Luôn log số dòng trước/sau để minh bạch.</a:t>
            </a:r>
            <a:endParaRPr lang="en-US" sz="12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6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· TRANSFORM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 (3) — trùng lặp &amp; tính total_amount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4 · ETL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6766560" cy="4297680"/>
          </a:xfrm>
          <a:prstGeom prst="roundRect">
            <a:avLst>
              <a:gd name="adj" fmla="val 1277"/>
            </a:avLst>
          </a:prstGeom>
          <a:solidFill>
            <a:srgbClr val="1C140E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96112" y="1682496"/>
            <a:ext cx="6437376" cy="4041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8FB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Loại các dòng trùng lặp hoàn toàn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 = len(df)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df.drop_duplicates()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logging.info(f'Bỏ {before-len(df)} dòng trùng')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8FB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Tính sẵn số đo thành tiền cho Fact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df['total_amount'] = df['quantity'] * df['unit_price']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8FB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Tách các cột phục vụ DimDate / DimTime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df['date_key'] = (df['transaction_date']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.dt.strftime('%Y%m%d').astype(int))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df['hour'] = df['transaction_time'].apply(lambda t: t.hour)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635240" y="1554480"/>
            <a:ext cx="4023360" cy="4297680"/>
          </a:xfrm>
          <a:prstGeom prst="roundRect">
            <a:avLst>
              <a:gd name="adj" fmla="val 1818"/>
            </a:avLst>
          </a:prstGeom>
          <a:solidFill>
            <a:srgbClr val="FBF6E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863840" y="1737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56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quả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863840" y="2148840"/>
            <a:ext cx="3657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dòng giờ đã có date_key &amp; hour để nối Dimension.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total_amount tính sẵn = doanh thu của dòng đó.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i="1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 đã “sạch”, sẵn sàng tách thành Dim &amp; Fact.</a:t>
            </a:r>
            <a:endParaRPr lang="en-US" sz="125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6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· TRANSFORM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 (4) — dựng DimDate trong Python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4 · ETL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10927080" cy="4297680"/>
          </a:xfrm>
          <a:prstGeom prst="roundRect">
            <a:avLst>
              <a:gd name="adj" fmla="val 1277"/>
            </a:avLst>
          </a:prstGeom>
          <a:solidFill>
            <a:srgbClr val="1C140E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96112" y="1682496"/>
            <a:ext cx="10597896" cy="4041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8FB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Lấy các ngày duy nhất rồi tạo bảng DimDate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dates = pd.DataFrame({'full_date': df['transaction_date'].dt.normalize().unique()})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dates['date_key']    = dates['full_date'].dt.strftime('%Y%m%d').astype(int)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dates['day']         = dates['full_date'].dt.day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dates['month']       = dates['full_date'].dt.month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dates['month_name']  = dates['full_date'].dt.month_name()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dates['quarter']     = dates['full_date'].dt.quarter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dates['year']        = dates['full_date'].dt.year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dates['weekday_name']= dates['full_date'].dt.day_name()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dates['is_weekend']  = dates['full_date'].dt.weekday.isin([5,6]).astype(int)</a:t>
            </a:r>
            <a:endParaRPr lang="en-US" sz="11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6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· TRANSFORM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 (5) — dựng DimTime + day_part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4 · ETL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6949440" cy="4297680"/>
          </a:xfrm>
          <a:prstGeom prst="roundRect">
            <a:avLst>
              <a:gd name="adj" fmla="val 1277"/>
            </a:avLst>
          </a:prstGeom>
          <a:solidFill>
            <a:srgbClr val="1C140E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96112" y="1682496"/>
            <a:ext cx="6620256" cy="4041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0A8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day_part(h):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0A8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  6 &lt;= h &lt; 11: return 'Sáng'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11&lt;= h &lt; 14: return 'Trưa'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14&lt;= h &lt; 17: return 'Chiều'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0A8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             return 'Tối'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 = pd.DataFrame({'time_key': range(0,24)})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times['hour']     = times['time_key']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times['day_part'] = times['hour'].apply(day_part)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818120" y="1554480"/>
            <a:ext cx="3840480" cy="4297680"/>
          </a:xfrm>
          <a:prstGeom prst="roundRect">
            <a:avLst>
              <a:gd name="adj" fmla="val 1905"/>
            </a:avLst>
          </a:prstGeom>
          <a:solidFill>
            <a:srgbClr val="FBF6E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046720" y="17373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56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Giải thích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046720" y="2148840"/>
            <a:ext cx="34747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DimTime cố định 24 dòng (giờ 0–23).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Hàm day_part gán nhãn buổi cho mỗi giờ.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 này nối Fact qua time_key = hour.</a:t>
            </a:r>
            <a:endParaRPr lang="en-US" sz="12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6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· TRANSFORM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 (6) — dựng DimProduct &amp; DimStore (dedupe)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4 · ETL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10927080" cy="4297680"/>
          </a:xfrm>
          <a:prstGeom prst="roundRect">
            <a:avLst>
              <a:gd name="adj" fmla="val 1277"/>
            </a:avLst>
          </a:prstGeom>
          <a:solidFill>
            <a:srgbClr val="1C140E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96112" y="1682496"/>
            <a:ext cx="10597896" cy="4041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8FB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DimProduct: lấy mỗi sản phẩm 1 lần (loại trùng theo product_id)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dim_product = (df[['product_id','product_category','product_type',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'product_detail','unit_price']]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.drop_duplicates(subset=['product_id'])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.reset_index(drop=True))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8FB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DimStore: lấy mỗi chi nhánh 1 lần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dim_store = (df[['store_id','store_name','location']]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.drop_duplicates(subset=['store_id'])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.reset_index(drop=True))</a:t>
            </a:r>
            <a:endParaRPr lang="en-US" sz="11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6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· TRANSFORM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 (7) — map natural key → surrogate key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4 · ETL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7040880" cy="4297680"/>
          </a:xfrm>
          <a:prstGeom prst="roundRect">
            <a:avLst>
              <a:gd name="adj" fmla="val 1277"/>
            </a:avLst>
          </a:prstGeom>
          <a:solidFill>
            <a:srgbClr val="1C140E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96112" y="1682496"/>
            <a:ext cx="6711696" cy="4041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8FB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Sau khi LOAD Dim vào DW, đọc lại để lấy *_key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dimp = pd.read_sql('SELECT product_key, product_id FROM DimProduct', dw_engine)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dims = pd.read_sql('SELECT store_key, store_id FROM DimStore',  dw_engine)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8FB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Gắn surrogate key vào bảng dữ kiện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df.merge(dimp, on='product_id', how='left')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df.merge(dims, on='store_id',  how='left')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df['time_key'] = df['hour']   # DimTime key = giờ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909560" y="1554480"/>
            <a:ext cx="3749040" cy="4297680"/>
          </a:xfrm>
          <a:prstGeom prst="roundRect">
            <a:avLst>
              <a:gd name="adj" fmla="val 1951"/>
            </a:avLst>
          </a:prstGeom>
          <a:solidFill>
            <a:srgbClr val="FBF6E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138160" y="17373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56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Ý tưởng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138160" y="2148840"/>
            <a:ext cx="3383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= phép “VLOOKUP”: tra product_id → product_key.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Giờ mỗi dòng dữ kiện đã có đủ 4 *_key.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i="1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Đây là cầu nối giữa Fact và các Dimension.</a:t>
            </a:r>
            <a:endParaRPr lang="en-US" sz="125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6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· LOAD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— ghi Dimension &amp; Fact vào kho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4 · ETL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10927080" cy="4297680"/>
          </a:xfrm>
          <a:prstGeom prst="roundRect">
            <a:avLst>
              <a:gd name="adj" fmla="val 1277"/>
            </a:avLst>
          </a:prstGeom>
          <a:solidFill>
            <a:srgbClr val="1C140E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96112" y="1682496"/>
            <a:ext cx="10597896" cy="4041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8FB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1) Nạp các Dimension TRƯỚC (append vào bảng đã tạo)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dim_product.to_sql('DimProduct', dw_engine, if_exists='append', index=False)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dim_store.to_sql  ('DimStore',   dw_engine, if_exists='append', index=False)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times.to_sql      ('DimTime',    dw_engine, if_exists='append', index=False)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dates.to_sql      ('DimDate',    dw_engine, if_exists='append', index=False)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8FB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2) Sau khi đã có *_key (merge ở bước trước) → nạp FactSales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 = df[['date_key','time_key','product_key','store_key',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'transaction_id','quantity','unit_price','total_amount']]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fact.to_sql('FactSales', dw_engine, if_exists='append', index=False)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logging.info(f'Load: {len(fact)} dòng vào FactSales')</a:t>
            </a:r>
            <a:endParaRPr lang="en-US" sz="11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6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KHÁI NIỆM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Incremental Load — chỉ lấy dữ liệu MỚI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4 · ETL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544068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5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Vấn đề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224028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lần chạy ETL mà nạp LẠI toàn bộ → chậm &amp; trùng dữ liệu.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Quán cà phê mỗi ngày sinh thêm hàng nghìn giao dịch mới.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3657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E8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Giải pháp: Watermark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120" y="406908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nhớ “mốc” đã nạp tới đâu (vd transaction_id lớn nhất, hoặc ngày cuối).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Lần sau chỉ lấy dữ liệu LỚN HƠN mốc đó.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55080" y="1645920"/>
            <a:ext cx="5303520" cy="4114800"/>
          </a:xfrm>
          <a:prstGeom prst="roundRect">
            <a:avLst>
              <a:gd name="adj" fmla="val 1778"/>
            </a:avLst>
          </a:prstGeom>
          <a:solidFill>
            <a:srgbClr val="FBF6E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83680" y="1828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64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Cách hoạt động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720840" y="2286000"/>
            <a:ext cx="45720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240">
            <a:solidFill>
              <a:srgbClr val="2F7E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03720" y="2286000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watermark cũ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(vd id = 120000)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778240" y="283464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720840" y="3127248"/>
            <a:ext cx="45720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240">
            <a:solidFill>
              <a:srgbClr val="2F7E7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03720" y="3127248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WHERE id &gt; 120000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778240" y="367588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720840" y="3968496"/>
            <a:ext cx="45720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240">
            <a:solidFill>
              <a:srgbClr val="2F7E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03720" y="3968496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+ Load phần mới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778240" y="451713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720840" y="4809744"/>
            <a:ext cx="45720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240">
            <a:solidFill>
              <a:srgbClr val="2F7E7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03720" y="4809744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Cập nhật watermark = id mới nhất</a:t>
            </a:r>
            <a:endParaRPr lang="en-US" sz="115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6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· INCREMENTAL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Incremental Load bằng watermark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4 · ETL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10927080" cy="4297680"/>
          </a:xfrm>
          <a:prstGeom prst="roundRect">
            <a:avLst>
              <a:gd name="adj" fmla="val 1277"/>
            </a:avLst>
          </a:prstGeom>
          <a:solidFill>
            <a:srgbClr val="1C140E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96112" y="1682496"/>
            <a:ext cx="10597896" cy="4041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0A8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os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WM_FILE = 'watermark.txt'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8FB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1) Đọc mốc đã nạp lần trước (mặc định 0 nếu chạy lần đầu)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last_id = int(open(WM_FILE).read()) if os.path.exists(WM_FILE) else 0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8FB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2) Chỉ EXTRACT dữ liệu mới hơn watermark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 = f'... WHERE t.transaction_id &gt; {last_id} ...'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pd.read_sql(query, src_engine)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0A8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df.empty: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logging.info('Không có dữ liệu mới. Kết thúc.')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0A8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8FB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... Transform + Load như các slide trước ...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new_wm = int(df['transaction_id'].max())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open(WM_FILE,'w').write(str(new_wm))   # 3) cập nhật watermark</a:t>
            </a:r>
            <a:endParaRPr lang="en-US" sz="115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6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· LOGGING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Logging — ghi log rõ ràng (yêu cầu đề bài)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4 · ETL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6126480" cy="4297680"/>
          </a:xfrm>
          <a:prstGeom prst="roundRect">
            <a:avLst>
              <a:gd name="adj" fmla="val 1277"/>
            </a:avLst>
          </a:prstGeom>
          <a:solidFill>
            <a:srgbClr val="1C140E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96112" y="1682496"/>
            <a:ext cx="5797296" cy="4041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E0A8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logging</a:t>
            </a:r>
            <a:endParaRPr lang="en-US" sz="10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logging.basicConfig(</a:t>
            </a:r>
            <a:endParaRPr lang="en-US" sz="10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level=logging.INFO,</a:t>
            </a:r>
            <a:endParaRPr lang="en-US" sz="10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format='%(asctime)s | %(levelname)s | %(message)s',</a:t>
            </a:r>
            <a:endParaRPr lang="en-US" sz="10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handlers=[</a:t>
            </a:r>
            <a:endParaRPr lang="en-US" sz="10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logging.FileHandler('etl.log', encoding='utf-8'),</a:t>
            </a:r>
            <a:endParaRPr lang="en-US" sz="10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logging.StreamHandler()])</a:t>
            </a:r>
            <a:endParaRPr lang="en-US" sz="10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logging.info('Bắt đầu ETL')</a:t>
            </a:r>
            <a:endParaRPr lang="en-US" sz="10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logging.info(f'Extract: {len(df)} dòng')</a:t>
            </a:r>
            <a:endParaRPr lang="en-US" sz="10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logging.info(f'Load: {len(fact)} dòng vào FactSales')</a:t>
            </a:r>
            <a:endParaRPr lang="en-US" sz="10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logging.info('ETL hoàn tất ✓')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995160" y="1554480"/>
            <a:ext cx="4663440" cy="4297680"/>
          </a:xfrm>
          <a:prstGeom prst="roundRect">
            <a:avLst>
              <a:gd name="adj" fmla="val 1702"/>
            </a:avLst>
          </a:prstGeom>
          <a:solidFill>
            <a:srgbClr val="1C140E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178040" y="16916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8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Ví dụ output log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178040" y="2103120"/>
            <a:ext cx="42976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B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2026-06-21 08:00:01 | INFO | Bắt đầu ETL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FB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 | INFO | Extract: 5,000 dòng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FB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 | INFO | Sau làm sạch còn 4,981 dòng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FB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 | INFO | Bỏ 12 dòng trùng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FB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 | INFO | Load: 4,981 dòng vào FactSales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FB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 | INFO | ETL hoàn tất ✓</a:t>
            </a:r>
            <a:endParaRPr lang="en-US" sz="10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6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KẾT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Cấu trúc file etl.py &amp; ✓ Checklist Bước 2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4 · ETL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548640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181051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64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Bố cục etl.py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60120" y="2212848"/>
            <a:ext cx="50292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Cấu hình logging + chuỗi kết nối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read_watermark()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extract(last_id) → DataFrame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transform(df) → df sạch + Dim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load_dimensions() / load_fact()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update_watermark()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if __name__=='__main__': main()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0" y="1645920"/>
            <a:ext cx="5257800" cy="4114800"/>
          </a:xfrm>
          <a:prstGeom prst="roundRect">
            <a:avLst>
              <a:gd name="adj" fmla="val 1778"/>
            </a:avLst>
          </a:prstGeom>
          <a:solidFill>
            <a:srgbClr val="FBF6E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29400" y="181051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56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Checklist sản phẩm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675120" y="2286000"/>
            <a:ext cx="384048" cy="384048"/>
          </a:xfrm>
          <a:prstGeom prst="ellipse">
            <a:avLst/>
          </a:prstGeom>
          <a:solidFill>
            <a:srgbClr val="4E8E5A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223760" y="22402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chạy được end-to-end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675120" y="2944368"/>
            <a:ext cx="384048" cy="384048"/>
          </a:xfrm>
          <a:prstGeom prst="ellipse">
            <a:avLst/>
          </a:prstGeom>
          <a:solidFill>
            <a:srgbClr val="4E8E5A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223760" y="289864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Làm sạch: kiểu dữ liệu, NULL, trùng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675120" y="3602736"/>
            <a:ext cx="384048" cy="384048"/>
          </a:xfrm>
          <a:prstGeom prst="ellipse">
            <a:avLst/>
          </a:prstGeom>
          <a:solidFill>
            <a:srgbClr val="4E8E5A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0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223760" y="355701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Dựng đủ 4 Dim + Fact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675120" y="4261104"/>
            <a:ext cx="384048" cy="384048"/>
          </a:xfrm>
          <a:prstGeom prst="ellipse">
            <a:avLst/>
          </a:prstGeom>
          <a:solidFill>
            <a:srgbClr val="4E8E5A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4242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223760" y="421538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load (watermark)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675120" y="4919472"/>
            <a:ext cx="384048" cy="384048"/>
          </a:xfrm>
          <a:prstGeom prst="ellipse">
            <a:avLst/>
          </a:prstGeom>
          <a:solidFill>
            <a:srgbClr val="4E8E5A"/>
          </a:solidFill>
          <a:ln/>
        </p:spPr>
      </p:sp>
      <p:sp>
        <p:nvSpPr>
          <p:cNvPr id="25" name="Text 23"/>
          <p:cNvSpPr/>
          <p:nvPr/>
        </p:nvSpPr>
        <p:spPr>
          <a:xfrm>
            <a:off x="667512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223760" y="487375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log rõ ràng (file + màn hình)</a:t>
            </a:r>
            <a:endParaRPr lang="en-US" sz="13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2A1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4754880" cy="4754880"/>
          </a:xfrm>
          <a:prstGeom prst="ellipse">
            <a:avLst/>
          </a:prstGeom>
          <a:solidFill>
            <a:srgbClr val="3A2618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3291840" cy="3291840"/>
          </a:xfrm>
          <a:prstGeom prst="ellipse">
            <a:avLst/>
          </a:prstGeom>
          <a:solidFill>
            <a:srgbClr val="3A261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8686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Power BI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3832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8C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3: biến dữ liệu thành hình ảnh trực quan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114800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8D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nối Power BI vào Data Warehouse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8D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Viết ≥5 DAX Measures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8D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 + Charts + Year Slicer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3246120"/>
            <a:ext cx="2011680" cy="0"/>
          </a:xfrm>
          <a:prstGeom prst="line">
            <a:avLst/>
          </a:prstGeom>
          <a:noFill/>
          <a:ln w="31750">
            <a:solidFill>
              <a:srgbClr val="C087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5 · Power BI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</a:t>
            </a:r>
            <a:endParaRPr lang="en-US" sz="10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6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KHÁI NIỆM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là gì?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5 · Power BI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là công cụ Business Intelligence của Microsoft: kết nối dữ liệu → tạo biểu đồ &amp; dashboard tương tác.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31520" y="214884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60120" y="2377440"/>
            <a:ext cx="3017520" cy="548640"/>
          </a:xfrm>
          <a:prstGeom prst="roundRect">
            <a:avLst>
              <a:gd name="adj" fmla="val 10000"/>
            </a:avLst>
          </a:prstGeom>
          <a:solidFill>
            <a:srgbClr val="C0875A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3774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Desktop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306324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mềm MIỄN PHÍ cài trên Windows để thiết kế báo cáo. Đây là thứ nhóm dùng.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05840" y="4983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C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trong đồ án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434840" y="214884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2377440"/>
            <a:ext cx="3017520" cy="548640"/>
          </a:xfrm>
          <a:prstGeom prst="roundRect">
            <a:avLst>
              <a:gd name="adj" fmla="val 10000"/>
            </a:avLst>
          </a:prstGeom>
          <a:solidFill>
            <a:srgbClr val="2F7E7C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23774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Service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09160" y="306324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Nền tảng web (app.powerbi.com) để chia sẻ báo cáo online. (tùy chọn)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709160" y="4983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2F7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bắt buộc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138160" y="214884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66760" y="2377440"/>
            <a:ext cx="3017520" cy="548640"/>
          </a:xfrm>
          <a:prstGeom prst="roundRect">
            <a:avLst>
              <a:gd name="adj" fmla="val 10000"/>
            </a:avLst>
          </a:prstGeom>
          <a:solidFill>
            <a:srgbClr val="5A3A22"/>
          </a:solidFill>
          <a:ln/>
        </p:spPr>
      </p:sp>
      <p:sp>
        <p:nvSpPr>
          <p:cNvPr id="20" name="Text 18"/>
          <p:cNvSpPr/>
          <p:nvPr/>
        </p:nvSpPr>
        <p:spPr>
          <a:xfrm>
            <a:off x="8366760" y="23774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.pbix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0" y="306324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chứa toàn bộ dữ liệu + mô hình + báo cáo. Đây là sản phẩm nộp.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412480" y="4983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5A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Sản phẩm nộp</a:t>
            </a:r>
            <a:endParaRPr lang="en-US" sz="115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6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DẪN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Cài đặt Power BI Desktop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5 · Power BI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109270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60120" y="1929384"/>
            <a:ext cx="457200" cy="457200"/>
          </a:xfrm>
          <a:prstGeom prst="ellipse">
            <a:avLst/>
          </a:prstGeom>
          <a:solidFill>
            <a:srgbClr val="C0875A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1929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600200" y="182880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Tải về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703320" y="1828800"/>
            <a:ext cx="7818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Vào Microsoft Store (Windows) → tìm “Power BI Desktop” → Get/Install. (Hoặc tải từ trang Microsoft.)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1520" y="2697480"/>
            <a:ext cx="10927080" cy="841248"/>
          </a:xfrm>
          <a:prstGeom prst="roundRect">
            <a:avLst>
              <a:gd name="adj" fmla="val 8696"/>
            </a:avLst>
          </a:prstGeom>
          <a:solidFill>
            <a:srgbClr val="FBF6E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60120" y="2889504"/>
            <a:ext cx="457200" cy="457200"/>
          </a:xfrm>
          <a:prstGeom prst="ellipse">
            <a:avLst/>
          </a:prstGeom>
          <a:solidFill>
            <a:srgbClr val="2F7E7C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60120" y="2889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600200" y="278892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Mở app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703320" y="2788920"/>
            <a:ext cx="7818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Power BI Desktop. Lần đầu có thể bỏ qua đăng nhập (Sign in later).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31520" y="3657600"/>
            <a:ext cx="109270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60120" y="3849624"/>
            <a:ext cx="457200" cy="457200"/>
          </a:xfrm>
          <a:prstGeom prst="ellipse">
            <a:avLst/>
          </a:prstGeom>
          <a:solidFill>
            <a:srgbClr val="C0875A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60120" y="3849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600200" y="374904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Làm quen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703320" y="3749040"/>
            <a:ext cx="7818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chế độ xem bên trái: Report (báo cáo), Data (bảng), Model (quan hệ).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31520" y="4617720"/>
            <a:ext cx="10927080" cy="841248"/>
          </a:xfrm>
          <a:prstGeom prst="roundRect">
            <a:avLst>
              <a:gd name="adj" fmla="val 8696"/>
            </a:avLst>
          </a:prstGeom>
          <a:solidFill>
            <a:srgbClr val="FBF6E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60120" y="4809744"/>
            <a:ext cx="457200" cy="457200"/>
          </a:xfrm>
          <a:prstGeom prst="ellipse">
            <a:avLst/>
          </a:prstGeom>
          <a:solidFill>
            <a:srgbClr val="2F7E7C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60120" y="4809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600200" y="470916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Lưu ý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703320" y="4709160"/>
            <a:ext cx="7818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 chỉ chạy trên Windows → nhóm dùng máy Windows 11 cho phần này.</a:t>
            </a:r>
            <a:endParaRPr lang="en-US" sz="125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6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NỐI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nối Power BI vào Data Warehouse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5 · Power BI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691640"/>
            <a:ext cx="69494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1828800"/>
            <a:ext cx="438912" cy="438912"/>
          </a:xfrm>
          <a:prstGeom prst="ellipse">
            <a:avLst/>
          </a:prstGeom>
          <a:solidFill>
            <a:srgbClr val="C0875A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18288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508760" y="177393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Data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0" y="1773936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Trang chủ → Get Data → SQL Server database.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31520" y="2514600"/>
            <a:ext cx="6949440" cy="713232"/>
          </a:xfrm>
          <a:prstGeom prst="roundRect">
            <a:avLst>
              <a:gd name="adj" fmla="val 10256"/>
            </a:avLst>
          </a:prstGeom>
          <a:solidFill>
            <a:srgbClr val="FBF6E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14400" y="2651760"/>
            <a:ext cx="438912" cy="438912"/>
          </a:xfrm>
          <a:prstGeom prst="ellipse">
            <a:avLst/>
          </a:prstGeom>
          <a:solidFill>
            <a:srgbClr val="2F7E7C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26517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08760" y="259689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Nhập server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91840" y="2596896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Server: localhost\SQLEXPRESS · Database: coffeeshop_dw.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31520" y="3337560"/>
            <a:ext cx="69494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14400" y="3474720"/>
            <a:ext cx="438912" cy="438912"/>
          </a:xfrm>
          <a:prstGeom prst="ellipse">
            <a:avLst/>
          </a:prstGeom>
          <a:solidFill>
            <a:srgbClr val="C0875A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14400" y="34747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508760" y="341985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Chọn chế độ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291840" y="3419856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Import (xem slide sau để hiểu Import vs DirectQuery).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31520" y="4160520"/>
            <a:ext cx="6949440" cy="713232"/>
          </a:xfrm>
          <a:prstGeom prst="roundRect">
            <a:avLst>
              <a:gd name="adj" fmla="val 10256"/>
            </a:avLst>
          </a:prstGeom>
          <a:solidFill>
            <a:srgbClr val="FBF6E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14400" y="4297680"/>
            <a:ext cx="438912" cy="438912"/>
          </a:xfrm>
          <a:prstGeom prst="ellipse">
            <a:avLst/>
          </a:prstGeom>
          <a:solidFill>
            <a:srgbClr val="2F7E7C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14400" y="4297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508760" y="424281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Chọn bảng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291840" y="4242816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đủ 5 bảng: DimDate, DimTime, DimProduct, DimStore, FactSales.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31520" y="4983480"/>
            <a:ext cx="69494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14400" y="5120640"/>
            <a:ext cx="438912" cy="438912"/>
          </a:xfrm>
          <a:prstGeom prst="ellipse">
            <a:avLst/>
          </a:prstGeom>
          <a:solidFill>
            <a:srgbClr val="C0875A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14400" y="51206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508760" y="506577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291840" y="5065776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Bấm Load → Power BI nạp dữ liệu, sẵn sàng dựng mô hình.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863840" y="1691640"/>
            <a:ext cx="3794760" cy="4023360"/>
          </a:xfrm>
          <a:prstGeom prst="roundRect">
            <a:avLst>
              <a:gd name="adj" fmla="val 1928"/>
            </a:avLst>
          </a:prstGeom>
          <a:solidFill>
            <a:srgbClr val="2A1A0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092440" y="18745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8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Mẹo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092440" y="2240280"/>
            <a:ext cx="3383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DB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 lỗi kết nối: kiểm tra SQL Server đang chạy &amp; tên server đúng.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DB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Bật TCP/IP trong SQL Server Configuration Manager nếu cần.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DB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đúng database đích coffeeshop_dw, KHÔNG phải OLTP.</a:t>
            </a:r>
            <a:endParaRPr lang="en-US" sz="125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6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LỰA CHỌN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 vs DirectQuery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5 · Power BI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691640"/>
            <a:ext cx="5440680" cy="3931920"/>
          </a:xfrm>
          <a:prstGeom prst="roundRect">
            <a:avLst>
              <a:gd name="adj" fmla="val 1860"/>
            </a:avLst>
          </a:prstGeom>
          <a:solidFill>
            <a:srgbClr val="F2E7D6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1874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56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  (khuyến nghị)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331720"/>
            <a:ext cx="5029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Sao chép dữ liệu vào file .pbix.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Rất nhanh khi tương tác, dùng được offline.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Phù hợp dữ liệu vừa phải (149K dòng là quá ổn).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Cập nhật bằng nút Refresh khi có dữ liệu mới.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246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Nhóm CHỌN Import.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0" y="1691640"/>
            <a:ext cx="525780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29400" y="1874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64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DirectQuery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29400" y="233172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sao chép — truy vấn thẳng vào SQL Server mỗi lần xem.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Luôn “tươi” theo thời gian thực, file nhẹ.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Chậm hơn khi tương tác, cần kết nối liên tục.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Phù hợp dữ liệu cực lớn / cần real-time.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i="1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Không cần cho đồ án này.</a:t>
            </a:r>
            <a:endParaRPr lang="en-US" sz="13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6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View — kiểm tra mô hình hình sao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5 · Power BI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463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Trong Model view, Power BI vẽ các bảng &amp; đường nối quan hệ. Mục tiêu: nhìn thấy đúng hình ngôi sao.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846320" y="2057400"/>
            <a:ext cx="2377440" cy="850392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 w="19050">
            <a:solidFill>
              <a:srgbClr val="A567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2075688"/>
            <a:ext cx="2377440" cy="329184"/>
          </a:xfrm>
          <a:prstGeom prst="rect">
            <a:avLst/>
          </a:prstGeom>
          <a:solidFill>
            <a:srgbClr val="A5673A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207568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DimDate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956048" y="2423160"/>
            <a:ext cx="219456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A567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</a:t>
            </a:r>
            <a:pPr algn="l" indent="0" marL="0">
              <a:buNone/>
            </a:pPr>
            <a:r>
              <a:rPr lang="en-US" sz="9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date_key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956048" y="2647188"/>
            <a:ext cx="219456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month/year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14400" y="3383280"/>
            <a:ext cx="2286000" cy="850392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 w="19050">
            <a:solidFill>
              <a:srgbClr val="A567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14400" y="3401568"/>
            <a:ext cx="2286000" cy="329184"/>
          </a:xfrm>
          <a:prstGeom prst="rect">
            <a:avLst/>
          </a:prstGeom>
          <a:solidFill>
            <a:srgbClr val="A5673A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40156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DimTime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024128" y="3749040"/>
            <a:ext cx="21031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A567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</a:t>
            </a:r>
            <a:pPr algn="l" indent="0" marL="0">
              <a:buNone/>
            </a:pPr>
            <a:r>
              <a:rPr lang="en-US" sz="9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time_key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024128" y="3973068"/>
            <a:ext cx="21031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day_part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869680" y="3291840"/>
            <a:ext cx="2560320" cy="850392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 w="19050">
            <a:solidFill>
              <a:srgbClr val="A567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869680" y="3310128"/>
            <a:ext cx="2560320" cy="329184"/>
          </a:xfrm>
          <a:prstGeom prst="rect">
            <a:avLst/>
          </a:prstGeom>
          <a:solidFill>
            <a:srgbClr val="A5673A"/>
          </a:solidFill>
          <a:ln/>
        </p:spPr>
      </p:sp>
      <p:sp>
        <p:nvSpPr>
          <p:cNvPr id="20" name="Text 18"/>
          <p:cNvSpPr/>
          <p:nvPr/>
        </p:nvSpPr>
        <p:spPr>
          <a:xfrm>
            <a:off x="8869680" y="331012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DimProduct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979408" y="3657600"/>
            <a:ext cx="23774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A567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</a:t>
            </a:r>
            <a:pPr algn="l" indent="0" marL="0">
              <a:buNone/>
            </a:pPr>
            <a:r>
              <a:rPr lang="en-US" sz="9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product_key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979408" y="3881628"/>
            <a:ext cx="23774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46320" y="5212080"/>
            <a:ext cx="2377440" cy="850392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 w="19050">
            <a:solidFill>
              <a:srgbClr val="A567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5230368"/>
            <a:ext cx="2377440" cy="329184"/>
          </a:xfrm>
          <a:prstGeom prst="rect">
            <a:avLst/>
          </a:prstGeom>
          <a:solidFill>
            <a:srgbClr val="A5673A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523036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DimStore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956048" y="5577840"/>
            <a:ext cx="219456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A567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</a:t>
            </a:r>
            <a:pPr algn="l" indent="0" marL="0">
              <a:buNone/>
            </a:pPr>
            <a:r>
              <a:rPr lang="en-US" sz="9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store_key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956048" y="5801868"/>
            <a:ext cx="219456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 flipV="1">
            <a:off x="5989320" y="2907792"/>
            <a:ext cx="45720" cy="1115568"/>
          </a:xfrm>
          <a:prstGeom prst="line">
            <a:avLst/>
          </a:prstGeom>
          <a:noFill/>
          <a:ln w="19050">
            <a:solidFill>
              <a:srgbClr val="C0875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H="1" flipV="1">
            <a:off x="3200400" y="3808476"/>
            <a:ext cx="2788920" cy="214884"/>
          </a:xfrm>
          <a:prstGeom prst="line">
            <a:avLst/>
          </a:prstGeom>
          <a:noFill/>
          <a:ln w="19050">
            <a:solidFill>
              <a:srgbClr val="C0875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5989320" y="3717036"/>
            <a:ext cx="2880360" cy="306324"/>
          </a:xfrm>
          <a:prstGeom prst="line">
            <a:avLst/>
          </a:prstGeom>
          <a:noFill/>
          <a:ln w="19050">
            <a:solidFill>
              <a:srgbClr val="C0875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89320" y="4023360"/>
            <a:ext cx="45720" cy="1188720"/>
          </a:xfrm>
          <a:prstGeom prst="line">
            <a:avLst/>
          </a:prstGeom>
          <a:noFill/>
          <a:ln w="19050">
            <a:solidFill>
              <a:srgbClr val="C0875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92040" y="3520440"/>
            <a:ext cx="2194560" cy="1005840"/>
          </a:xfrm>
          <a:prstGeom prst="roundRect">
            <a:avLst>
              <a:gd name="adj" fmla="val 7273"/>
            </a:avLst>
          </a:prstGeom>
          <a:solidFill>
            <a:srgbClr val="246462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892040" y="35204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FactSales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892040" y="404164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FE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→ *  (mỗi quan hệ)</a:t>
            </a:r>
            <a:endParaRPr lang="en-US" sz="10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6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 HỆ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Thiết lập Relationships (quan hệ 1 → nhiều)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5 · Power BI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10927080" cy="1280160"/>
          </a:xfrm>
          <a:prstGeom prst="roundRect">
            <a:avLst>
              <a:gd name="adj" fmla="val 5714"/>
            </a:avLst>
          </a:prstGeom>
          <a:solidFill>
            <a:srgbClr val="2A1A0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" y="164592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2E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Dimension (phía “1”) nối tới FactSales (phía “nhiều” *) qua cặp khóa cùng tên.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3154680"/>
            <a:ext cx="109270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60120" y="31546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56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17320" y="31546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0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DimDate[date_key]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0" y="31546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———→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0" y="31089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64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*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269480" y="31546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0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FactSales[date_key]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3813048"/>
            <a:ext cx="10927080" cy="548640"/>
          </a:xfrm>
          <a:prstGeom prst="roundRect">
            <a:avLst>
              <a:gd name="adj" fmla="val 13333"/>
            </a:avLst>
          </a:prstGeom>
          <a:solidFill>
            <a:srgbClr val="FBF6E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60120" y="3813048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56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17320" y="381304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0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DimTime[time_key]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0" y="381304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———→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0" y="3767328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64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*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269480" y="381304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0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FactSales[time_key]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1520" y="4471416"/>
            <a:ext cx="109270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60120" y="4471416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56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17320" y="4471416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0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DimProduct[product_key]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0" y="4471416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———→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58000" y="4425696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64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*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269480" y="4471416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0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FactSales[product_key]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31520" y="5129784"/>
            <a:ext cx="10927080" cy="548640"/>
          </a:xfrm>
          <a:prstGeom prst="roundRect">
            <a:avLst>
              <a:gd name="adj" fmla="val 13333"/>
            </a:avLst>
          </a:prstGeom>
          <a:solidFill>
            <a:srgbClr val="FBF6E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60120" y="5129784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56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417320" y="512978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0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DimStore[store_key]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86400" y="5129784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———→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858000" y="5084064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64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*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269480" y="512978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0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FactSales[store_key]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31520" y="5852160"/>
            <a:ext cx="10927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thường tự nhận quan hệ nếu tên cột trùng — nếu chưa, kéo-thả thủ công trong Model view.</a:t>
            </a:r>
            <a:endParaRPr lang="en-US" sz="115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6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LẬP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Đánh dấu DimDate là “Date Table”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5 · Power BI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594360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56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Vì sao cần bước này?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224028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hàm Time Intelligence (YTD, cùng kỳ, MoM) cần một bảng ngày “chuẩn”.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Đánh dấu DimDate là Date Table giúp DAX hiểu cột nào là ngày liên tục.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 thiếu, các measure như Revenue YTD có thể tính sai.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4572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Lưu ý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60120" y="493776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DimDate phải có ĐỦ mọi ngày liên tục, không “nhảy cóc” — đó là lý do ta sinh đủ ngày 01–06/2023 ở bước ETL.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949440" y="1645920"/>
            <a:ext cx="4709160" cy="4114800"/>
          </a:xfrm>
          <a:prstGeom prst="roundRect">
            <a:avLst>
              <a:gd name="adj" fmla="val 1778"/>
            </a:avLst>
          </a:prstGeom>
          <a:solidFill>
            <a:srgbClr val="FBF6E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178040" y="18288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64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Cách làm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178040" y="2240280"/>
            <a:ext cx="4297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bảng DimDate.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tools → Mark as Date Table.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cột full_date làm cột ngày.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Bấm OK.</a:t>
            </a:r>
            <a:endParaRPr lang="en-US" sz="125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6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DAX là gì? Measure vs Calculated Column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5 · Power BI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463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(Data Analysis Expressions): ngôn ngữ công thức của Power BI — giống công thức Excel nhưng cho cả bảng dữ liệu.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103120"/>
            <a:ext cx="5440680" cy="3566160"/>
          </a:xfrm>
          <a:prstGeom prst="roundRect">
            <a:avLst>
              <a:gd name="adj" fmla="val 2051"/>
            </a:avLst>
          </a:prstGeom>
          <a:solidFill>
            <a:srgbClr val="F2E7D6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2286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56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 (số đo)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2743200"/>
            <a:ext cx="50292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ĐỘNG theo ngữ cảnh (bộ lọc, slicer đang chọn).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lưu sẵn — tính lại mỗi khi xem.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cho KPI: Revenue, Orders, Growth%.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246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Đề bài yêu cầu ≥5 measure.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2103120"/>
            <a:ext cx="525780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629400" y="22860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64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Calculated Column (cột tính)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29400" y="2743200"/>
            <a:ext cx="4846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một lần, lưu thành cột mới trong bảng.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Tốn bộ nhớ hơn, dùng để phân loại/dán nhãn.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VD: cột “Loại giá” = IF(price&gt;5,'Cao','Thấp').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i="1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lớn KPI nên dùng Measure, không phải column.</a:t>
            </a:r>
            <a:endParaRPr lang="en-US" sz="13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6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· MEASURE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Measure: Total Revenue (Tổng doanh thu)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5 · Power BI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6766560" cy="2103120"/>
          </a:xfrm>
          <a:prstGeom prst="roundRect">
            <a:avLst>
              <a:gd name="adj" fmla="val 2609"/>
            </a:avLst>
          </a:prstGeom>
          <a:solidFill>
            <a:srgbClr val="1C140E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96112" y="1773936"/>
            <a:ext cx="6437376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Revenue =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0A8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SUMX(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FactSales,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FactSales[quantity] * FactSales[unit_price]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8FB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Hoặc gọn hơn nếu đã có cột total_amount: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Revenue = SUM( FactSales[total_amount] 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35240" y="1645920"/>
            <a:ext cx="4023360" cy="4069080"/>
          </a:xfrm>
          <a:prstGeom prst="roundRect">
            <a:avLst>
              <a:gd name="adj" fmla="val 1818"/>
            </a:avLst>
          </a:prstGeom>
          <a:solidFill>
            <a:srgbClr val="FBF6E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863840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56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Giải thích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863840" y="224028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SUMX duyệt TỪNG dòng Fact, nhân qty×price rồi cộng lại.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lọc theo slicer (tháng, chi nhánh) đang chọn.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Vì ta đã tính sẵn total_amount nên SUM nhanh hơn.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1520" y="3977640"/>
            <a:ext cx="67665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60120" y="41148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64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quả ví dụ (toàn dataset)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44805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$698,812 — tổng doanh thu 6 tháng của 3 chi nhánh.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60120" y="49834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 bỏ vào KPI Card, con số này tự đổi theo bộ lọc người dùng chọn.</a:t>
            </a:r>
            <a:endParaRPr lang="en-US" sz="12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6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· MEASURE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Measure: Total Orders (Số đơn hàng)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5 · Power BI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6766560" cy="1828800"/>
          </a:xfrm>
          <a:prstGeom prst="roundRect">
            <a:avLst>
              <a:gd name="adj" fmla="val 3000"/>
            </a:avLst>
          </a:prstGeom>
          <a:solidFill>
            <a:srgbClr val="1C140E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96112" y="1773936"/>
            <a:ext cx="6437376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Orders =</a:t>
            </a:r>
            <a:endParaRPr lang="en-US" sz="12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0A8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DISTINCTCOUNT( FactSales[transaction_id] 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635240" y="1645920"/>
            <a:ext cx="4023360" cy="4069080"/>
          </a:xfrm>
          <a:prstGeom prst="roundRect">
            <a:avLst>
              <a:gd name="adj" fmla="val 1818"/>
            </a:avLst>
          </a:prstGeom>
          <a:solidFill>
            <a:srgbClr val="FBF6E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863840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56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Vì sao DISTINCTCOUNT?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863840" y="224028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hóa đơn (transaction_id) có thể có nhiều dòng sản phẩm.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thường sẽ đếm trùng → sai số đơn.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5A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DISTINCTCOUNT đếm số hóa đơn DUY NHẤT → đúng số đơn.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1520" y="3703320"/>
            <a:ext cx="67665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60120" y="38404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64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Minh họa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420624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Hóa đơn #2 gồm Latte + Croissant = 2 dòng Fact, nhưng chỉ 1 ĐƠN.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 đếm đúng 1 cho hóa đơn đó.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5A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ví dụ toàn dataset: ≈ 149,116 đơn.</a:t>
            </a:r>
            <a:endParaRPr lang="en-US" sz="125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6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· MEASURE 3 &amp;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Measure: Total Quantity &amp; Avg Order Value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5 · Power BI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691640"/>
            <a:ext cx="5486400" cy="1463040"/>
          </a:xfrm>
          <a:prstGeom prst="roundRect">
            <a:avLst>
              <a:gd name="adj" fmla="val 3750"/>
            </a:avLst>
          </a:prstGeom>
          <a:solidFill>
            <a:srgbClr val="1C140E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96112" y="1819656"/>
            <a:ext cx="515721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Quantity =</a:t>
            </a:r>
            <a:endParaRPr lang="en-US" sz="12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0A8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SUM( FactSales[quantity] 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31520" y="3337560"/>
            <a:ext cx="5486400" cy="1737360"/>
          </a:xfrm>
          <a:prstGeom prst="roundRect">
            <a:avLst>
              <a:gd name="adj" fmla="val 3158"/>
            </a:avLst>
          </a:prstGeom>
          <a:solidFill>
            <a:srgbClr val="1C140E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96112" y="3465576"/>
            <a:ext cx="515721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 Order Value =</a:t>
            </a:r>
            <a:endParaRPr lang="en-US" sz="12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0A8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DIVIDE(</a:t>
            </a:r>
            <a:endParaRPr lang="en-US" sz="12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[Total Revenue],</a:t>
            </a:r>
            <a:endParaRPr lang="en-US" sz="12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[Total Orders] 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0" y="1691640"/>
            <a:ext cx="5257800" cy="3383280"/>
          </a:xfrm>
          <a:prstGeom prst="roundRect">
            <a:avLst>
              <a:gd name="adj" fmla="val 2162"/>
            </a:avLst>
          </a:prstGeom>
          <a:solidFill>
            <a:srgbClr val="FBF6E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629400" y="1874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56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Điểm hay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629400" y="228600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Quantity = tổng số ly/món bán ra (≈ 214,470).</a:t>
            </a:r>
            <a:endParaRPr lang="en-US" sz="128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AOV (Average Order Value) = doanh thu trung bình mỗi đơn (≈ $4.69).</a:t>
            </a:r>
            <a:endParaRPr lang="en-US" sz="128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80" b="1" dirty="0">
                <a:solidFill>
                  <a:srgbClr val="5A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tái sử dụng measure khác: AOV gọi lại [Total Revenue] và [Total Orders] — gọn &amp; nhất quán.</a:t>
            </a:r>
            <a:endParaRPr lang="en-US" sz="128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an toàn hơn dấu “/”: tự xử lý chia cho 0 → trả về trống thay vì lỗi.</a:t>
            </a:r>
            <a:endParaRPr lang="en-US" sz="1280" dirty="0"/>
          </a:p>
        </p:txBody>
      </p:sp>
      <p:sp>
        <p:nvSpPr>
          <p:cNvPr id="14" name="Shape 12"/>
          <p:cNvSpPr/>
          <p:nvPr/>
        </p:nvSpPr>
        <p:spPr>
          <a:xfrm>
            <a:off x="6400800" y="5212080"/>
            <a:ext cx="5257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29400" y="52120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246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 có 4/5 measure bắt buộc → còn Growth% và YTD.</a:t>
            </a:r>
            <a:endParaRPr lang="en-US" sz="125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6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· MEASURE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Measure: Revenue Growth % (so với tháng trước)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5 · Power BI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6858000" cy="3291840"/>
          </a:xfrm>
          <a:prstGeom prst="roundRect">
            <a:avLst>
              <a:gd name="adj" fmla="val 1667"/>
            </a:avLst>
          </a:prstGeom>
          <a:solidFill>
            <a:srgbClr val="1C140E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96112" y="1773936"/>
            <a:ext cx="6528816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8FB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Bước 1: doanh thu tháng trước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 PM =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0A8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CALCULATE( [Total Revenue],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0A8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PREVIOUSMONTH( DimDate[full_date] ) )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8FB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Bước 2: % tăng trưởng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 Growth % =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0A8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DIVIDE( [Total Revenue] - [Revenue PM],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[Revenue PM] 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26680" y="1645920"/>
            <a:ext cx="3931920" cy="4069080"/>
          </a:xfrm>
          <a:prstGeom prst="roundRect">
            <a:avLst>
              <a:gd name="adj" fmla="val 1860"/>
            </a:avLst>
          </a:prstGeom>
          <a:solidFill>
            <a:srgbClr val="FBF6E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955280" y="1828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56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Đọc công thức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955280" y="2240280"/>
            <a:ext cx="3566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PREVIOUSMONTH “lùi” ngữ cảnh về tháng liền trước.</a:t>
            </a:r>
            <a:endParaRPr lang="en-US" sz="12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tính lại doanh thu trong tháng đó.</a:t>
            </a:r>
            <a:endParaRPr lang="en-US" sz="12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5A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(Tháng này − tháng trước) / tháng trước = % thay đổi.</a:t>
            </a:r>
            <a:endParaRPr lang="en-US" sz="12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00" i="1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 dạng cột về Percentage trong Power BI.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5074920"/>
            <a:ext cx="68580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5074920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VD: tháng 5 = $156,728, tháng 4 = $118,941 → tăng trưởng ≈ +31.8%.</a:t>
            </a:r>
            <a:endParaRPr lang="en-US" sz="125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6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· MEASURE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Measure: Revenue YTD (lũy kế từ đầu năm)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5 · Power BI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691640"/>
            <a:ext cx="6858000" cy="1737360"/>
          </a:xfrm>
          <a:prstGeom prst="roundRect">
            <a:avLst>
              <a:gd name="adj" fmla="val 3158"/>
            </a:avLst>
          </a:prstGeom>
          <a:solidFill>
            <a:srgbClr val="1C140E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96112" y="1819656"/>
            <a:ext cx="652881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 YTD =</a:t>
            </a:r>
            <a:endParaRPr lang="en-US" sz="12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0A8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TOTALYTD(</a:t>
            </a:r>
            <a:endParaRPr lang="en-US" sz="12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[Total Revenue],</a:t>
            </a:r>
            <a:endParaRPr lang="en-US" sz="12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D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DimDate[full_date] 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26680" y="1691640"/>
            <a:ext cx="3931920" cy="4023360"/>
          </a:xfrm>
          <a:prstGeom prst="roundRect">
            <a:avLst>
              <a:gd name="adj" fmla="val 1860"/>
            </a:avLst>
          </a:prstGeom>
          <a:solidFill>
            <a:srgbClr val="FBF6E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955280" y="1874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56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YTD = Year To Date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955280" y="228600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Cộng dồn doanh thu từ 01/01 tới ngày đang xét.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Cần DimDate đã đánh dấu là Date Table.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Hữu ích để theo dõi tiến độ doanh thu cả năm.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1520" y="3657600"/>
            <a:ext cx="68580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60120" y="37947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64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Doanh thu lũy kế (ví dụ)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416052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Hết T1: $81.7K → Hết T2: $157.8K → Hết T3: $256.7K…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Đường YTD luôn đi lên (cộng dồn), khác với doanh thu từng tháng.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5A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Đủ 6 measure → vượt yêu cầu “≥5 DAX measures”.</a:t>
            </a:r>
            <a:endParaRPr lang="en-US" sz="125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6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· MỞ RỘNG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Một vài measure mở rộng (điểm cộng)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5 · Power BI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691640"/>
            <a:ext cx="10927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1801368"/>
            <a:ext cx="2286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PY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46120" y="178308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A8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CALCULATE([Total Revenue], SAMEPERIODLASTYEAR(DimDate[full_date]))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458200" y="17830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với cùng kỳ năm trước (khi có dữ liệu nhiều năm).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31520" y="2715768"/>
            <a:ext cx="10927080" cy="914400"/>
          </a:xfrm>
          <a:prstGeom prst="roundRect">
            <a:avLst>
              <a:gd name="adj" fmla="val 8000"/>
            </a:avLst>
          </a:prstGeom>
          <a:solidFill>
            <a:srgbClr val="FBF6E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60120" y="2825496"/>
            <a:ext cx="2286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 of Total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46120" y="2807208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A8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DIVIDE([Total Revenue], CALCULATE([Total Revenue], ALL(DimProduct)))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458200" y="2807208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Tỷ trọng doanh thu của một nhóm trên tổng.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31520" y="3739896"/>
            <a:ext cx="10927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60120" y="3849624"/>
            <a:ext cx="2286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Hour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46120" y="3831336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A8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Tính giờ có doanh thu cao nhất (dùng MAXX/TOPN)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458200" y="3831336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định giờ cao điểm tự động.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1520" y="4764024"/>
            <a:ext cx="10927080" cy="914400"/>
          </a:xfrm>
          <a:prstGeom prst="roundRect">
            <a:avLst>
              <a:gd name="adj" fmla="val 8000"/>
            </a:avLst>
          </a:prstGeom>
          <a:solidFill>
            <a:srgbClr val="FBF6E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60120" y="4873752"/>
            <a:ext cx="2286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Avg Daily Revenue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246120" y="4855464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A8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DIVIDE([Total Revenue], DISTINCTCOUNT(DimDate[date_key]))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458200" y="4855464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Doanh thu trung bình mỗi ngày.</a:t>
            </a:r>
            <a:endParaRPr lang="en-US" sz="115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6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Thiết kế bố cục Dashboard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5 · Power BI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463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Nguyên tắc: KPI quan trọng ở TRÊN, biểu đồ ở GIỮA, bộ lọc bên PHẢI/TRÊN. Đọc từ trái sang phải, trên xuống dưới.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31520" y="2011680"/>
            <a:ext cx="10927080" cy="3749040"/>
          </a:xfrm>
          <a:prstGeom prst="roundRect">
            <a:avLst>
              <a:gd name="adj" fmla="val 1951"/>
            </a:avLst>
          </a:prstGeom>
          <a:solidFill>
            <a:srgbClr val="FBF6E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05840" y="2286000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240">
            <a:solidFill>
              <a:srgbClr val="C087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28600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56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 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46120" y="2286000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240">
            <a:solidFill>
              <a:srgbClr val="C087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228600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56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 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0" y="2286000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240">
            <a:solidFill>
              <a:srgbClr val="C087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0" y="228600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56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 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26680" y="2286000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240">
            <a:solidFill>
              <a:srgbClr val="C087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26680" y="228600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56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 4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012680" y="2286000"/>
            <a:ext cx="1508760" cy="32461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5240">
            <a:solidFill>
              <a:srgbClr val="2F7E7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12680" y="2286000"/>
            <a:ext cx="15087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64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464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Slicer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464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filters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05840" y="3337560"/>
            <a:ext cx="434340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5240">
            <a:solidFill>
              <a:srgbClr val="5A3A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3337560"/>
            <a:ext cx="4343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 chart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Doanh thu theo tháng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532120" y="3337560"/>
            <a:ext cx="42976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5240">
            <a:solidFill>
              <a:srgbClr val="5A3A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32120" y="3337560"/>
            <a:ext cx="4297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 chart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Doanh thu theo nhóm SP</a:t>
            </a:r>
            <a:endParaRPr lang="en-US" sz="125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6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 Cards — 4 thẻ số liệu chính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5 · Power BI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60120" y="1920240"/>
            <a:ext cx="411480" cy="411480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33172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08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$698.8K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822960" y="30632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520440" y="173736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749040" y="1920240"/>
            <a:ext cx="411480" cy="411480"/>
          </a:xfrm>
          <a:prstGeom prst="ellipse">
            <a:avLst/>
          </a:prstGeom>
          <a:solidFill>
            <a:srgbClr val="2F7E7C"/>
          </a:solidFill>
          <a:ln/>
        </p:spPr>
      </p:sp>
      <p:sp>
        <p:nvSpPr>
          <p:cNvPr id="13" name="Text 11"/>
          <p:cNvSpPr/>
          <p:nvPr/>
        </p:nvSpPr>
        <p:spPr>
          <a:xfrm>
            <a:off x="3611880" y="233172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F7E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149,116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3611880" y="30632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09360" y="173736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37960" y="1920240"/>
            <a:ext cx="411480" cy="411480"/>
          </a:xfrm>
          <a:prstGeom prst="ellipse">
            <a:avLst/>
          </a:prstGeom>
          <a:solidFill>
            <a:srgbClr val="5A3A22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233172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214,470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6400800" y="30632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Quantity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98280" y="173736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326880" y="1920240"/>
            <a:ext cx="411480" cy="411480"/>
          </a:xfrm>
          <a:prstGeom prst="ellipse">
            <a:avLst/>
          </a:prstGeom>
          <a:solidFill>
            <a:srgbClr val="A5673A"/>
          </a:solidFill>
          <a:ln/>
        </p:spPr>
      </p:sp>
      <p:sp>
        <p:nvSpPr>
          <p:cNvPr id="21" name="Text 19"/>
          <p:cNvSpPr/>
          <p:nvPr/>
        </p:nvSpPr>
        <p:spPr>
          <a:xfrm>
            <a:off x="9189720" y="233172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A56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$4.69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9189720" y="30632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" y="3749040"/>
            <a:ext cx="10927080" cy="2011680"/>
          </a:xfrm>
          <a:prstGeom prst="roundRect">
            <a:avLst>
              <a:gd name="adj" fmla="val 3636"/>
            </a:avLst>
          </a:prstGeom>
          <a:solidFill>
            <a:srgbClr val="FBF6E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60120" y="3886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56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Cách tạo KPI Card trong Power BI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960120" y="4251960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Trên Visualizations chọn visual “Card” (hoặc “New card”).</a:t>
            </a:r>
            <a:endParaRPr lang="en-US" sz="128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Kéo measure (vd Total Revenue) vào ô Fields.</a:t>
            </a:r>
            <a:endParaRPr lang="en-US" sz="128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 dạng: cỡ chữ lớn, thêm tiêu đề, đơn vị tiền $; lặp lại cho 4 KPI.</a:t>
            </a:r>
            <a:endParaRPr lang="en-US" sz="128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con số tự cập nhật khi người dùng chọn năm/chi nhánh trên slicer.</a:t>
            </a:r>
            <a:endParaRPr lang="en-US" sz="128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6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 1 &amp; 2 — Doanh thu theo tháng &amp; theo nhóm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5 · Power BI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</a:t>
            </a:r>
            <a:endParaRPr lang="en-US" sz="1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731520" y="1691640"/>
          <a:ext cx="54864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Chart 1" descr=""/>
          <p:cNvGraphicFramePr/>
          <p:nvPr/>
        </p:nvGraphicFramePr>
        <p:xfrm>
          <a:off x="6355080" y="1691640"/>
          <a:ext cx="53035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731520" y="4617720"/>
            <a:ext cx="10927080" cy="1143000"/>
          </a:xfrm>
          <a:prstGeom prst="roundRect">
            <a:avLst>
              <a:gd name="adj" fmla="val 6400"/>
            </a:avLst>
          </a:prstGeom>
          <a:solidFill>
            <a:srgbClr val="FBF6E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960120" y="473659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56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Đọc biểu đồ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960120" y="502920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Doanh thu TĂNG dần qua các tháng — cao điểm tháng 5–6 (mùa hè).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&amp; Tea chiếm phần lớn doanh thu; Bakery đứng thứ ba.</a:t>
            </a:r>
            <a:endParaRPr lang="en-US" sz="125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6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 3 &amp; 4 — Theo chi nhánh &amp; theo giờ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5 · Power BI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</a:t>
            </a:r>
            <a:endParaRPr lang="en-US" sz="1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731520" y="1691640"/>
          <a:ext cx="54864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Chart 1" descr=""/>
          <p:cNvGraphicFramePr/>
          <p:nvPr/>
        </p:nvGraphicFramePr>
        <p:xfrm>
          <a:off x="6355080" y="1691640"/>
          <a:ext cx="53035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731520" y="4617720"/>
            <a:ext cx="10927080" cy="1143000"/>
          </a:xfrm>
          <a:prstGeom prst="roundRect">
            <a:avLst>
              <a:gd name="adj" fmla="val 6400"/>
            </a:avLst>
          </a:prstGeom>
          <a:solidFill>
            <a:srgbClr val="FBF6E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960120" y="473659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56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Đọc biểu đồ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960120" y="502920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chi nhánh doanh thu KHÁ ĐỀU nhau (~$230–237K mỗi nơi).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Giờ cao điểm rõ rệt: 8–10h sáng — gợi ý xếp ca &amp; khuyến mãi khung giờ.</a:t>
            </a:r>
            <a:endParaRPr lang="en-US" sz="125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6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TƯƠNG TÁC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 Slicer &amp; lọc chéo (cross-filter)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5 · Power BI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594360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56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Slicer (bộ lọc)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2240280"/>
            <a:ext cx="5486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Thêm visual “Slicer”, kéo DimDate[year] (hoặc month) vào.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xem bấm chọn năm/tháng → cả dashboard lọc theo.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bài yêu cầu có Year Slicer — đây chính là phần đó.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thể thêm slicer cho chi nhánh, nhóm sản phẩm.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949440" y="1645920"/>
            <a:ext cx="4709160" cy="4114800"/>
          </a:xfrm>
          <a:prstGeom prst="roundRect">
            <a:avLst>
              <a:gd name="adj" fmla="val 1778"/>
            </a:avLst>
          </a:prstGeom>
          <a:solidFill>
            <a:srgbClr val="FBF6E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178040" y="18288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64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Cross-filter (lọc chéo)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178040" y="2240280"/>
            <a:ext cx="42976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Bấm vào 1 cột “Coffee” trên biểu đồ → các visual khác tự lọc theo Coffee.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Đây là sức mạnh của Power BI: mọi visual “nói chuyện” với nhau.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i="1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trải nghiệm khám phá dữ liệu sinh động khi demo.</a:t>
            </a:r>
            <a:endParaRPr lang="en-US" sz="125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0EA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6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SẢN PHẨM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hoàn chỉnh (mô phỏng)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5 · Power BI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508760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4672" y="162763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A56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$698.8K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04672" y="20848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971800" y="1508760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044952" y="162763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464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149,116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044952" y="20848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212080" y="1508760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285232" y="162763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214,470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5285232" y="20848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452360" y="1508760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525512" y="162763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A56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$4.69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7525512" y="20848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692640" y="1508760"/>
            <a:ext cx="1965960" cy="416052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692640" y="16459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64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875520" y="2011680"/>
            <a:ext cx="1600200" cy="347472"/>
          </a:xfrm>
          <a:prstGeom prst="roundRect">
            <a:avLst>
              <a:gd name="adj" fmla="val 10526"/>
            </a:avLst>
          </a:prstGeom>
          <a:solidFill>
            <a:srgbClr val="2F7E7C"/>
          </a:solidFill>
          <a:ln w="12700">
            <a:solidFill>
              <a:srgbClr val="2F7E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75520" y="201168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875520" y="2468880"/>
            <a:ext cx="160020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2F7E7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75520" y="246888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(—)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692640" y="31089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56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921240" y="3429000"/>
            <a:ext cx="1554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</a:t>
            </a:r>
            <a:endParaRPr lang="en-US" sz="10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</a:t>
            </a:r>
            <a:endParaRPr lang="en-US" sz="10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Bakery</a:t>
            </a:r>
            <a:endParaRPr lang="en-US" sz="10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</a:t>
            </a:r>
            <a:endParaRPr lang="en-US" sz="1000" dirty="0"/>
          </a:p>
        </p:txBody>
      </p:sp>
      <p:graphicFrame>
        <p:nvGraphicFramePr>
          <p:cNvPr id="27" name="Chart 0" descr=""/>
          <p:cNvGraphicFramePr/>
          <p:nvPr/>
        </p:nvGraphicFramePr>
        <p:xfrm>
          <a:off x="731520" y="2606040"/>
          <a:ext cx="438912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8" name="Chart 1" descr=""/>
          <p:cNvGraphicFramePr/>
          <p:nvPr/>
        </p:nvGraphicFramePr>
        <p:xfrm>
          <a:off x="5212080" y="2606040"/>
          <a:ext cx="429768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2A1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4754880" cy="4754880"/>
          </a:xfrm>
          <a:prstGeom prst="ellipse">
            <a:avLst/>
          </a:prstGeom>
          <a:solidFill>
            <a:srgbClr val="3A2618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3291840" cy="3291840"/>
          </a:xfrm>
          <a:prstGeom prst="ellipse">
            <a:avLst/>
          </a:prstGeom>
          <a:solidFill>
            <a:srgbClr val="3A261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6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8686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&amp; Kết luận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3832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8C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kết hành trình và hướng đi tiếp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114800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8D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Luồng end-to-end &amp; kịch bản demo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8D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Đối chiếu kết quả với yêu cầu đề bài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8D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Khó khăn, hướng phát triển, timeline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3246120"/>
            <a:ext cx="2011680" cy="0"/>
          </a:xfrm>
          <a:prstGeom prst="line">
            <a:avLst/>
          </a:prstGeom>
          <a:noFill/>
          <a:ln w="31750">
            <a:solidFill>
              <a:srgbClr val="C087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6 · Kết luận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</a:t>
            </a:r>
            <a:endParaRPr lang="en-US" sz="10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6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KẾT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Toàn cảnh: từ giao dịch đến quyết định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6 · Kết luận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194560"/>
            <a:ext cx="2468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25400">
            <a:solidFill>
              <a:srgbClr val="5A3A2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194560"/>
            <a:ext cx="2468880" cy="502920"/>
          </a:xfrm>
          <a:prstGeom prst="rect">
            <a:avLst/>
          </a:prstGeom>
          <a:solidFill>
            <a:srgbClr val="5A3A2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1945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OLTP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77240" y="27889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cà phê ghi giao dịch (SQL Server)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90672" y="2194560"/>
            <a:ext cx="457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3520440" y="2194560"/>
            <a:ext cx="2468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25400">
            <a:solidFill>
              <a:srgbClr val="A567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20440" y="2194560"/>
            <a:ext cx="2468880" cy="502920"/>
          </a:xfrm>
          <a:prstGeom prst="rect">
            <a:avLst/>
          </a:prstGeom>
          <a:solidFill>
            <a:srgbClr val="A5673A"/>
          </a:solidFill>
          <a:ln/>
        </p:spPr>
      </p:sp>
      <p:sp>
        <p:nvSpPr>
          <p:cNvPr id="14" name="Text 12"/>
          <p:cNvSpPr/>
          <p:nvPr/>
        </p:nvSpPr>
        <p:spPr>
          <a:xfrm>
            <a:off x="3520440" y="21945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ETL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657600" y="27889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làm sạch &amp; biến đổi dữ liệu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71032" y="2194560"/>
            <a:ext cx="457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6400800" y="2194560"/>
            <a:ext cx="2468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25400">
            <a:solidFill>
              <a:srgbClr val="24646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0" y="2194560"/>
            <a:ext cx="2468880" cy="502920"/>
          </a:xfrm>
          <a:prstGeom prst="rect">
            <a:avLst/>
          </a:prstGeom>
          <a:solidFill>
            <a:srgbClr val="246462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21945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DW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537960" y="27889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Schema: 1 Fact + 4 Dimension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851392" y="2194560"/>
            <a:ext cx="457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9281160" y="2194560"/>
            <a:ext cx="2468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25400">
            <a:solidFill>
              <a:srgbClr val="2A1A0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281160" y="2194560"/>
            <a:ext cx="2468880" cy="502920"/>
          </a:xfrm>
          <a:prstGeom prst="rect">
            <a:avLst/>
          </a:prstGeom>
          <a:solidFill>
            <a:srgbClr val="2A1A0F"/>
          </a:solidFill>
          <a:ln/>
        </p:spPr>
      </p:sp>
      <p:sp>
        <p:nvSpPr>
          <p:cNvPr id="24" name="Text 22"/>
          <p:cNvSpPr/>
          <p:nvPr/>
        </p:nvSpPr>
        <p:spPr>
          <a:xfrm>
            <a:off x="9281160" y="21945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· Power BI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9418320" y="27889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KPI + charts + slicer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1520" y="4343400"/>
            <a:ext cx="10927080" cy="1417320"/>
          </a:xfrm>
          <a:prstGeom prst="roundRect">
            <a:avLst>
              <a:gd name="adj" fmla="val 5161"/>
            </a:avLst>
          </a:prstGeom>
          <a:solidFill>
            <a:srgbClr val="F2E7D6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60120" y="44805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56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Thành quả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60120" y="4828032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bán hàng thô đã được biến thành một dashboard giúp quản lý trả lời tức thì: doanh thu, sản phẩm bán chạy, chi nhánh hiệu quả và giờ cao điểm — đúng mục tiêu Data &amp; Analytics.</a:t>
            </a:r>
            <a:endParaRPr lang="en-US" sz="13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6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Kịch bản demo khi trình bày (5 phút)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6 · Kết luận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691640"/>
            <a:ext cx="109270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1828800"/>
            <a:ext cx="438912" cy="438912"/>
          </a:xfrm>
          <a:prstGeom prst="ellipse">
            <a:avLst/>
          </a:prstGeom>
          <a:solidFill>
            <a:srgbClr val="C0875A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18288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508760" y="1773936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Mở SSMS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657600" y="1773936"/>
            <a:ext cx="7818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 thấy database coffeeshop_dw với 5 bảng &amp; dữ liệu trong FactSales.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1520" y="2514600"/>
            <a:ext cx="10927080" cy="713232"/>
          </a:xfrm>
          <a:prstGeom prst="roundRect">
            <a:avLst>
              <a:gd name="adj" fmla="val 10256"/>
            </a:avLst>
          </a:prstGeom>
          <a:solidFill>
            <a:srgbClr val="FBF6E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14400" y="2651760"/>
            <a:ext cx="438912" cy="438912"/>
          </a:xfrm>
          <a:prstGeom prst="ellipse">
            <a:avLst/>
          </a:prstGeom>
          <a:solidFill>
            <a:srgbClr val="2F7E7C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26517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08760" y="2596896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Chạy etl.py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657600" y="2596896"/>
            <a:ext cx="7818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 script, cho cả lớp thấy log: Extract → Transform → Load → hoàn tất.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31520" y="3337560"/>
            <a:ext cx="109270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14400" y="3474720"/>
            <a:ext cx="438912" cy="438912"/>
          </a:xfrm>
          <a:prstGeom prst="ellipse">
            <a:avLst/>
          </a:prstGeom>
          <a:solidFill>
            <a:srgbClr val="C0875A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14400" y="34747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508760" y="3419856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Mở Power BI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657600" y="3419856"/>
            <a:ext cx="7818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Hiển thị Model view (hình sao) &amp; danh sách 6 measure.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31520" y="4160520"/>
            <a:ext cx="10927080" cy="713232"/>
          </a:xfrm>
          <a:prstGeom prst="roundRect">
            <a:avLst>
              <a:gd name="adj" fmla="val 10256"/>
            </a:avLst>
          </a:prstGeom>
          <a:solidFill>
            <a:srgbClr val="FBF6E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14400" y="4297680"/>
            <a:ext cx="438912" cy="438912"/>
          </a:xfrm>
          <a:prstGeom prst="ellipse">
            <a:avLst/>
          </a:prstGeom>
          <a:solidFill>
            <a:srgbClr val="2F7E7C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14400" y="4297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508760" y="4242816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Tương tác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3657600" y="4242816"/>
            <a:ext cx="7818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Bấm Year Slicer, bấm vào cột “Coffee” → cả dashboard lọc theo.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31520" y="4983480"/>
            <a:ext cx="109270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14400" y="5120640"/>
            <a:ext cx="438912" cy="438912"/>
          </a:xfrm>
          <a:prstGeom prst="ellipse">
            <a:avLst/>
          </a:prstGeom>
          <a:solidFill>
            <a:srgbClr val="C0875A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14400" y="51206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508760" y="5065776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Chốt insight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3657600" y="5065776"/>
            <a:ext cx="7818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Nêu 3 kết luận kinh doanh rút ra từ dashboard.</a:t>
            </a:r>
            <a:endParaRPr lang="en-US" sz="125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6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ĐÁNH GIÁ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Đối chiếu kết quả với yêu cầu đề bài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6 · Kết luận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</a:t>
            </a:r>
            <a:endParaRPr lang="en-US" sz="1000" dirty="0"/>
          </a:p>
        </p:txBody>
      </p:sp>
      <p:graphicFrame>
        <p:nvGraphicFramePr>
          <p:cNvPr id="9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91640"/>
          <a:ext cx="1092708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4709160"/>
                <a:gridCol w="201168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Yêu cầu đề bài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A0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Sản phẩm của nhóm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A0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Trạng thái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A0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 Schema 1 Fact + 3–4 Dim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FactSales + 4 Dimension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4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Đạt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DW database chạy được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coffeeshop_dw trên SQL Server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4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Đạt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etl.py chạy được, có log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ETL + watermark + etl.log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4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Đạt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Làm sạch: kiểu dữ liệu, NULL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 đầy đủ trong pandas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4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Đạt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 incremental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Watermark theo transaction_id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4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Đạt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.pbix ≥4 visual, tương tác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chart + 4 KPI + slicer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4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Đạt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≥5 DAX measures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measures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A56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Vượt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6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KINH NGHIỆM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Khó khăn gặp phải &amp; cách khắc phục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6 · Kết luận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691640"/>
            <a:ext cx="109270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1847088"/>
            <a:ext cx="420624" cy="420624"/>
          </a:xfrm>
          <a:prstGeom prst="ellipse">
            <a:avLst/>
          </a:prstGeom>
          <a:solidFill>
            <a:srgbClr val="C0504D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828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08760" y="1773936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nối SQL Server lỗi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120640" y="1773936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Cài đúng ODBC Driver 17/18; bật TCP/IP; kiểm tra tên server localhost\SQLEXPRESS.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31520" y="2514600"/>
            <a:ext cx="10927080" cy="713232"/>
          </a:xfrm>
          <a:prstGeom prst="roundRect">
            <a:avLst>
              <a:gd name="adj" fmla="val 10256"/>
            </a:avLst>
          </a:prstGeom>
          <a:solidFill>
            <a:srgbClr val="FBF6E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14400" y="2670048"/>
            <a:ext cx="420624" cy="420624"/>
          </a:xfrm>
          <a:prstGeom prst="ellipse">
            <a:avLst/>
          </a:prstGeom>
          <a:solidFill>
            <a:srgbClr val="C0504D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651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08760" y="2596896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báo lỗi ngày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120640" y="2596896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Đánh dấu DimDate là Date Table; đảm bảo DimDate đủ ngày liên tục.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31520" y="3337560"/>
            <a:ext cx="109270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14400" y="3493008"/>
            <a:ext cx="420624" cy="420624"/>
          </a:xfrm>
          <a:prstGeom prst="ellipse">
            <a:avLst/>
          </a:prstGeom>
          <a:solidFill>
            <a:srgbClr val="C0504D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34747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08760" y="3419856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Số đơn bị đếm sai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120640" y="3419856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DISTINCTCOUNT(transaction_id) thay vì COUNT.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31520" y="4160520"/>
            <a:ext cx="10927080" cy="713232"/>
          </a:xfrm>
          <a:prstGeom prst="roundRect">
            <a:avLst>
              <a:gd name="adj" fmla="val 10256"/>
            </a:avLst>
          </a:prstGeom>
          <a:solidFill>
            <a:srgbClr val="FBF6E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14400" y="4315968"/>
            <a:ext cx="420624" cy="420624"/>
          </a:xfrm>
          <a:prstGeom prst="ellipse">
            <a:avLst/>
          </a:prstGeom>
          <a:solidFill>
            <a:srgbClr val="C0504D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4297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508760" y="4242816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Tiếng Việt bị lỗi font trong log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120640" y="4242816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file log với encoding='utf-8'.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31520" y="4983480"/>
            <a:ext cx="109270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14400" y="5138928"/>
            <a:ext cx="420624" cy="420624"/>
          </a:xfrm>
          <a:prstGeom prst="ellipse">
            <a:avLst/>
          </a:prstGeom>
          <a:solidFill>
            <a:srgbClr val="C0504D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5120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508760" y="5065776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ETL chạy lại bị trùng dữ liệu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120640" y="5065776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Áp dụng watermark — chỉ nạp transaction_id mới hơn lần trước.</a:t>
            </a:r>
            <a:endParaRPr lang="en-US" sz="115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6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RỘNG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Hướng phát triển trong tương lai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6 · Kết luận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52120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60120" y="2057400"/>
            <a:ext cx="502920" cy="502920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039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600200" y="188366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Thêm DimCustomer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600200" y="224942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 app có dữ liệu khách hàng → phân tích theo khách, khách thân thiết.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63640" y="1737360"/>
            <a:ext cx="52120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92240" y="2057400"/>
            <a:ext cx="502920" cy="502920"/>
          </a:xfrm>
          <a:prstGeom prst="ellipse">
            <a:avLst/>
          </a:prstGeom>
          <a:solidFill>
            <a:srgbClr val="2F7E7C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2039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132320" y="188366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Tự động hóa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132320" y="224942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Lập lịch chạy ETL hằng đêm (Windows Task Scheduler / Airflow).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31520" y="3063240"/>
            <a:ext cx="52120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60120" y="3383280"/>
            <a:ext cx="502920" cy="502920"/>
          </a:xfrm>
          <a:prstGeom prst="ellipse">
            <a:avLst/>
          </a:prstGeom>
          <a:solidFill>
            <a:srgbClr val="5A3A22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3364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600200" y="320954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Đưa lên Cloud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600200" y="357530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Azure SQL + Power BI Service để chia sẻ online.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63640" y="3063240"/>
            <a:ext cx="52120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92240" y="3383280"/>
            <a:ext cx="502920" cy="502920"/>
          </a:xfrm>
          <a:prstGeom prst="ellipse">
            <a:avLst/>
          </a:prstGeom>
          <a:solidFill>
            <a:srgbClr val="A5673A"/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0" y="3364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132320" y="320954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SCD (lịch sử thay đổi)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132320" y="357530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dõi thay đổi giá/sản phẩm theo thời gian (Slowly Changing Dimension).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31520" y="4389120"/>
            <a:ext cx="52120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60120" y="4709160"/>
            <a:ext cx="502920" cy="502920"/>
          </a:xfrm>
          <a:prstGeom prst="ellipse">
            <a:avLst/>
          </a:prstGeom>
          <a:solidFill>
            <a:srgbClr val="246462"/>
          </a:solidFill>
          <a:ln/>
        </p:spPr>
      </p:sp>
      <p:sp>
        <p:nvSpPr>
          <p:cNvPr id="29" name="Text 27"/>
          <p:cNvSpPr/>
          <p:nvPr/>
        </p:nvSpPr>
        <p:spPr>
          <a:xfrm>
            <a:off x="960120" y="4690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1600200" y="453542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Dự báo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1600200" y="490118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Thêm mô hình dự báo doanh thu (forecast) trong Power BI.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263640" y="4389120"/>
            <a:ext cx="52120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492240" y="4709160"/>
            <a:ext cx="502920" cy="502920"/>
          </a:xfrm>
          <a:prstGeom prst="ellipse">
            <a:avLst/>
          </a:prstGeom>
          <a:solidFill>
            <a:srgbClr val="7A5A3A"/>
          </a:solidFill>
          <a:ln/>
        </p:spPr>
      </p:sp>
      <p:sp>
        <p:nvSpPr>
          <p:cNvPr id="34" name="Text 32"/>
          <p:cNvSpPr/>
          <p:nvPr/>
        </p:nvSpPr>
        <p:spPr>
          <a:xfrm>
            <a:off x="6492240" y="4690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7132320" y="453542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7132320" y="490118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hợp track Real-time để dashboard cập nhật tức thì.</a:t>
            </a:r>
            <a:endParaRPr lang="en-US" sz="115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6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 HOẠCH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Phân công &amp; timeline (Tuần 7–9)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6 · Kết luận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109270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60120" y="1984248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C0875A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98424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Tuần 7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0" y="182880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Star Schema · tạo DB OLTP &amp; DW · nạp dataset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2834640"/>
            <a:ext cx="10927080" cy="960120"/>
          </a:xfrm>
          <a:prstGeom prst="roundRect">
            <a:avLst>
              <a:gd name="adj" fmla="val 7619"/>
            </a:avLst>
          </a:prstGeom>
          <a:solidFill>
            <a:srgbClr val="FBF6E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60120" y="3081528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2F7E7C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308152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Tuần 8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43200" y="292608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Viết &amp; test etl.py · làm sạch · incremental · log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3931920"/>
            <a:ext cx="109270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60120" y="4178808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5A3A22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417880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Tuần 9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743200" y="402336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BI: model + 6 measure + dashboard · làm slides · tập demo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5166360"/>
            <a:ext cx="10927080" cy="594360"/>
          </a:xfrm>
          <a:prstGeom prst="roundRect">
            <a:avLst>
              <a:gd name="adj" fmla="val 12308"/>
            </a:avLst>
          </a:prstGeom>
          <a:solidFill>
            <a:srgbClr val="2A1A0F"/>
          </a:solidFill>
          <a:ln w="12700">
            <a:solidFill>
              <a:srgbClr val="E3D5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60120" y="51663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ADB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công: TV1 → Data Warehouse + ETL · TV2 → Power BI + Slides · Cả hai cùng tập trình bày &amp; bảo vệ.</a:t>
            </a:r>
            <a:endParaRPr lang="en-US" sz="125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6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THAM KHẢO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5A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Tài liệu tham khảo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6 · Kết luận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10881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Maven Analytics — Coffee Shop Sales (Data Playground); bản trên Kaggle “Coffee Shop Sales”.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Kimball, R. — The Data Warehouse Toolkit (Dimensional Modeling, Star Schema).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Learn — SQL Server, T-SQL CREATE TABLE, Indexes.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Learn — Power BI Desktop: Get Data, Model view, DAX (SUMX, DISTINCTCOUNT, TOTALYTD).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&amp; SQLAlchemy documentation — read_sql, to_sql, merge.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B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bài học phần Đồ án 3 (DC2TX50) — Trường ĐH Công nghệ GTVT, Khoa CNTT.</a:t>
            </a:r>
            <a:endParaRPr lang="en-US" sz="135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2A1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2926080"/>
            <a:ext cx="5120640" cy="5120640"/>
          </a:xfrm>
          <a:prstGeom prst="ellipse">
            <a:avLst/>
          </a:prstGeom>
          <a:solidFill>
            <a:srgbClr val="3A2618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645920"/>
            <a:ext cx="4206240" cy="4206240"/>
          </a:xfrm>
          <a:prstGeom prst="ellipse">
            <a:avLst/>
          </a:prstGeom>
          <a:solidFill>
            <a:srgbClr val="3A261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2860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CẢM ƠN THẦY &amp; CÁC BẠN ĐÃ LẮNG NGHE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27432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Cảm ơn &amp; Hỏi đáp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914400" y="3794760"/>
            <a:ext cx="2377440" cy="0"/>
          </a:xfrm>
          <a:prstGeom prst="line">
            <a:avLst/>
          </a:prstGeom>
          <a:noFill/>
          <a:ln w="38100">
            <a:solidFill>
              <a:srgbClr val="C087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0233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8C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 án 3 · Chủ đề 2 — Data &amp; Analytics  |  Chuỗi quán cà phê  |  Q&amp;A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C0875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6382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6 · Kết luận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30000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100</Slides>
  <Notes>100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100</vt:i4>
      </vt:variant>
    </vt:vector>
  </HeadingPairs>
  <TitlesOfParts>
    <vt:vector size="10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Chu de 2 - Data &amp; Analytics</dc:title>
  <dc:subject>PptxGenJS Presentation</dc:subject>
  <dc:creator>Nhom Do an 3</dc:creator>
  <cp:lastModifiedBy>Nhom Do an 3</cp:lastModifiedBy>
  <cp:revision>1</cp:revision>
  <dcterms:created xsi:type="dcterms:W3CDTF">2026-06-25T16:15:36Z</dcterms:created>
  <dcterms:modified xsi:type="dcterms:W3CDTF">2026-06-25T16:15:36Z</dcterms:modified>
</cp:coreProperties>
</file>